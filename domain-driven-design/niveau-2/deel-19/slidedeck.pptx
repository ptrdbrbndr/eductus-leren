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</p:sldIdLst>
  <p:notesMasterIdLst>
    <p:notesMasterId r:id="rId56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notesMaster" Target="notesMasters/notesMaster1.xml"/><Relationship Id="rId57" Type="http://schemas.openxmlformats.org/officeDocument/2006/relationships/presProps" Target="presProps.xml"/><Relationship Id="rId58" Type="http://schemas.openxmlformats.org/officeDocument/2006/relationships/viewProps" Target="viewProps.xml"/><Relationship Id="rId59" Type="http://schemas.openxmlformats.org/officeDocument/2006/relationships/theme" Target="theme/theme1.xml"/><Relationship Id="rId6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297680"/>
            <a:ext cx="9144000" cy="54864"/>
          </a:xfrm>
          <a:prstGeom prst="rect">
            <a:avLst/>
          </a:prstGeom>
          <a:solidFill>
            <a:srgbClr val="D99A3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9202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2 · Deel 19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37744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Domain-Driven Design — deel 19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448056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C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Applicatie-architectuurpatronen: hexagonaal, gelaagd, CQRS als patroon — Niveau 2: professional · Programma Mutatieplatform · twee dagdelen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Waar we vandaan komen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18: twee aggregates gesplitst.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grens op papier — niet per se een grens in code.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822960"/>
            <a:ext cx="91440" cy="502920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188720"/>
            <a:ext cx="73152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"De grens die we op papier hebben getekend,</a:t>
            </a:r>
            <a:endParaRPr lang="en-US" sz="2200" dirty="0"/>
          </a:p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bestaat in de database niet. Hij bestaat alleen</a:t>
            </a:r>
            <a:endParaRPr lang="en-US" sz="2200" dirty="0"/>
          </a:p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zolang iedereen zich eraan herinnert."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822960"/>
            <a:ext cx="91440" cy="502920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188720"/>
            <a:ext cx="73152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"Bij KERN hebben we dat probleem al veertien jaar.</a:t>
            </a:r>
            <a:endParaRPr lang="en-US" sz="2200" dirty="0"/>
          </a:p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Niet omdat niemand het goed bedoelde,</a:t>
            </a:r>
            <a:endParaRPr lang="en-US" sz="2200" dirty="0"/>
          </a:p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maar omdat de code zelf niets afdwingt."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822960"/>
            <a:ext cx="91440" cy="502920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188720"/>
            <a:ext cx="73152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"WGP 2.0 mislukte deels omdat de architectuur</a:t>
            </a:r>
            <a:endParaRPr lang="en-US" sz="2200" dirty="0"/>
          </a:p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onmogelijk maakte om één stuk aan te passen</a:t>
            </a:r>
            <a:endParaRPr lang="en-US" sz="2200" dirty="0"/>
          </a:p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zonder drie andere stukken kapot te maken."</a:t>
            </a:r>
            <a:endParaRPr lang="en-US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822960"/>
            <a:ext cx="91440" cy="502920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188720"/>
            <a:ext cx="73152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"We hebben in deel 18 geleerd dat een grens</a:t>
            </a:r>
            <a:endParaRPr lang="en-US" sz="2200" dirty="0"/>
          </a:p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een eigenaar nodig heeft. Nu leren we dat die eigenaar</a:t>
            </a:r>
            <a:endParaRPr lang="en-US" sz="2200" dirty="0"/>
          </a:p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een muur nodig heeft die hem ook echt beschermt."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Twee dagdelen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Dagdeel A — hexagonaal en gelaagd: grenzen technisch beschermen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Dagdeel B — CQRS als patroon: lezen en schrijven uit elkaar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Wat dit deel oplevert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Gelaagde architectuur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Hexagonale architectuur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CQRS: wat het oplost, wanneer het overkill is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↗ Uitvoering: het Locked Platform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architectuurkeuzeblad — twee systemen verdedigd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DAGDEEL A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DAGDEEL A: grenzen technisch beschermen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Hexagonaal en gelaagd, als reactie op deel 18.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Figuur 19-1</a:t>
            </a:r>
            <a:endParaRPr lang="en-US" sz="2400" dirty="0"/>
          </a:p>
        </p:txBody>
      </p:sp>
      <p:pic>
        <p:nvPicPr>
          <p:cNvPr id="4" name="Image 0" descr="C:\Projecten\eductus-trainingen\Domain-Driven Design\docx-build\.png-cache\figuur-19-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280160" y="1280160"/>
            <a:ext cx="6583680" cy="4480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594360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gesplitste aggregates — met een stippellijn "grens op papier" die de vraag stelt: bestaat dit ook in code?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Gelaagde architectuur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Vier lagen: presentatie, applicatie, domein, infrastructuur.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Elke laag weet alleen van de laag eronder.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regel die het een architectuur maakt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Niet de mapstructuur. De richting van de afhankelijkheden —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altijd naar beneden, nooit terug.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Figuur 19-2</a:t>
            </a:r>
            <a:endParaRPr lang="en-US" sz="2400" dirty="0"/>
          </a:p>
        </p:txBody>
      </p:sp>
      <p:pic>
        <p:nvPicPr>
          <p:cNvPr id="4" name="Image 0" descr="C:\Projecten\eductus-trainingen\Domain-Driven Design\docx-build\.png-cache\figuur-19-2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280160" y="1280160"/>
            <a:ext cx="6583680" cy="4480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594360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Vier lagen gestapeld, pijlen naar beneden — één rode, doorbroken pijl toont de uitzondering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Vera's erosie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 heeft lagen. En toch is de grens uitgehold.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Eén uitzondering die niemand meer terugdraait.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Hexagonale architectuur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Ports-and-adapters. Het domein in het midden.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Niets weet van de buitenwereld — behalve via poorten.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Poort en adapter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Poort: wát het domein nodig heeft.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Adapter: hóe dat technisch wordt geleverd.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adapter hangt af van de poort — niet andersom.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Figuur 19-3</a:t>
            </a:r>
            <a:endParaRPr lang="en-US" sz="2400" dirty="0"/>
          </a:p>
        </p:txBody>
      </p:sp>
      <p:pic>
        <p:nvPicPr>
          <p:cNvPr id="4" name="Image 0" descr="C:\Projecten\eductus-trainingen\Domain-Driven Design\docx-build\.png-cache\figuur-19-3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280160" y="1280160"/>
            <a:ext cx="6583680" cy="4480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594360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domein als kern, poorten eromheen, adapters die van buiten aansluiten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Het verschil met gelaagd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Gelaagd: de richting blijft één kant op, impliciet.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Hexagonaal: de richting wordt voor "naar buiten"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expliciet omgedraaid.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prijs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Meer indirectie. Alleen de moeite waard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 er iets is dat het werkelijk moet beschermen.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Het criterium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Niet: welk patroon is beter.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Wel: welk risico moet deze context afdekken.</a:t>
            </a:r>
            <a:endParaRPr lang="en-US" sz="1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822960"/>
            <a:ext cx="91440" cy="502920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188720"/>
            <a:ext cx="73152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"Meerdere bronnen, meerdere afnemers,</a:t>
            </a:r>
            <a:endParaRPr lang="en-US" sz="2200" dirty="0"/>
          </a:p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straks misschien een bron die we nu niet kennen.</a:t>
            </a:r>
            <a:endParaRPr lang="en-US" sz="2200" dirty="0"/>
          </a:p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 is precies het scenario voor hexagonaal."</a:t>
            </a:r>
            <a:endParaRPr lang="en-US" sz="2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822960"/>
            <a:ext cx="91440" cy="502920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188720"/>
            <a:ext cx="73152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"Wij hebben één database, al veertien jaar dezelfde.</a:t>
            </a:r>
            <a:endParaRPr lang="en-US" sz="2200" dirty="0"/>
          </a:p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Wat wij nodig hebben is geen bescherming tegen</a:t>
            </a:r>
            <a:endParaRPr lang="en-US" sz="2200" dirty="0"/>
          </a:p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wisselende adapters — dat risico bestaat bij ons niet."</a:t>
            </a:r>
            <a:endParaRPr lang="en-US" sz="2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Figuur 19-4</a:t>
            </a:r>
            <a:endParaRPr lang="en-US" sz="2400" dirty="0"/>
          </a:p>
        </p:txBody>
      </p:sp>
      <p:pic>
        <p:nvPicPr>
          <p:cNvPr id="4" name="Image 0" descr="C:\Projecten\eductus-trainingen\Domain-Driven Design\docx-build\.png-cache\figuur-19-4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280160" y="1280160"/>
            <a:ext cx="6583680" cy="4480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594360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Drie systemen, drie risico's, drie patronen: KERN (gelaagd), Mutatieplatform (hexagonaal), Wegwijzer (?)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822960"/>
            <a:ext cx="91440" cy="502920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188720"/>
            <a:ext cx="73152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"Wij lezen alleen. We schrijven niets.</a:t>
            </a:r>
            <a:endParaRPr lang="en-US" sz="2200" dirty="0"/>
          </a:p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Past hexagonaal daar überhaupt op,</a:t>
            </a:r>
            <a:endParaRPr lang="en-US" sz="2200" dirty="0"/>
          </a:p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of is dat een oplossing voor een probleem dat wij niet hebben?"</a:t>
            </a:r>
            <a:endParaRPr lang="en-US" sz="2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Opdracht: het architectuurkeuzeblad, stap 1-2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Mutatieplatform en Werkgeversportaal —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context, aggregaatgrens, gelaagd of hexagonaal, welk risico?</a:t>
            </a:r>
            <a:endParaRPr lang="en-US" sz="16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Einde dagdeel 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Lezen en schrijven zijn nog niet uit elkaar getrokken.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 is waar dagdeel B mee begint.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DAGDEEL B</a:t>
            </a:r>
            <a:endParaRPr lang="en-US" sz="16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DAGDEEL B: CQRS als patroon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query responsibility segregation.</a:t>
            </a:r>
            <a:endParaRPr lang="en-US" sz="16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822960"/>
            <a:ext cx="91440" cy="502920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188720"/>
            <a:ext cx="73152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"Wegwijzer moet snel zijn en begrijpelijk.</a:t>
            </a:r>
            <a:endParaRPr lang="en-US" sz="2200" dirty="0"/>
          </a:p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Maar Wegwijzer beslist nooit iets.</a:t>
            </a:r>
            <a:endParaRPr lang="en-US" sz="2200" dirty="0"/>
          </a:p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Geen enkele aggregate van zichzelf."</a:t>
            </a:r>
            <a:endParaRPr lang="en-US" sz="2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822960"/>
            <a:ext cx="91440" cy="502920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188720"/>
            <a:ext cx="73152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"Bij ons is het andersom. Elke mutatie</a:t>
            </a:r>
            <a:endParaRPr lang="en-US" sz="2200" dirty="0"/>
          </a:p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moet strikt gevalideerd. Snelheid van lezen</a:t>
            </a:r>
            <a:endParaRPr lang="en-US" sz="2200" dirty="0"/>
          </a:p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 bij ons niet het probleem."</a:t>
            </a:r>
            <a:endParaRPr lang="en-US" sz="2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822960"/>
            <a:ext cx="91440" cy="502920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188720"/>
            <a:ext cx="73152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"Moet je die twee soorten werk door dezelfde</a:t>
            </a:r>
            <a:endParaRPr lang="en-US" sz="2200" dirty="0"/>
          </a:p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technische weg laten lopen, alleen omdat ze</a:t>
            </a:r>
            <a:endParaRPr lang="en-US" sz="2200" dirty="0"/>
          </a:p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uiteindelijk over hetzelfde gegeven gaan?"</a:t>
            </a:r>
            <a:endParaRPr lang="en-US" sz="2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Figuur 19-5</a:t>
            </a:r>
            <a:endParaRPr lang="en-US" sz="2400" dirty="0"/>
          </a:p>
        </p:txBody>
      </p:sp>
      <p:pic>
        <p:nvPicPr>
          <p:cNvPr id="4" name="Image 0" descr="C:\Projecten\eductus-trainingen\Domain-Driven Design\docx-build\.png-cache\figuur-19-5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280160" y="1280160"/>
            <a:ext cx="6583680" cy="4480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594360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Twee pijlen vanuit "dienstverband" — lezen: snel, leesbaar / schrijven: strikt, invariant-bewakend</a:t>
            </a:r>
            <a:endParaRPr lang="en-US" sz="12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CQRS, de kern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Command: wijzigt, respecteert de invariant.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Query: leest, bewaakt niets.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Twee paden, niet noodzakelijk één model.</a:t>
            </a:r>
            <a:endParaRPr lang="en-US" sz="16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Wat het oplost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Eén gedeeld model wordt een compromis: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velden voor het scherm die de validatie in de weg zitten,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velden voor validatie die geen rapportage ooit raadpleegt.</a:t>
            </a:r>
            <a:endParaRPr lang="en-US" sz="16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822960"/>
            <a:ext cx="91440" cy="502920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188720"/>
            <a:ext cx="73152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"Het is één tabel geworden die twee meesters dient,</a:t>
            </a:r>
            <a:endParaRPr lang="en-US" sz="2200" dirty="0"/>
          </a:p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 geen van beide goed."</a:t>
            </a:r>
            <a:endParaRPr lang="en-US" sz="22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Figuur 19-6</a:t>
            </a:r>
            <a:endParaRPr lang="en-US" sz="2400" dirty="0"/>
          </a:p>
        </p:txBody>
      </p:sp>
      <p:pic>
        <p:nvPicPr>
          <p:cNvPr id="4" name="Image 0" descr="C:\Projecten\eductus-trainingen\Domain-Driven Design\docx-build\.png-cache\figuur-19-6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280160" y="1280160"/>
            <a:ext cx="6583680" cy="4480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594360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Eén gedeeld model met vervuilende velden — tegenover een gescheiden command- en querypad</a:t>
            </a:r>
            <a:endParaRPr lang="en-US" sz="12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822960"/>
            <a:ext cx="91440" cy="502920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188720"/>
            <a:ext cx="73152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"CQRS is geen upgrade die elk systeem beter maakt.</a:t>
            </a:r>
            <a:endParaRPr lang="en-US" sz="2200" dirty="0"/>
          </a:p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Het is een antwoord op een asymmetrie</a:t>
            </a:r>
            <a:endParaRPr lang="en-US" sz="2200" dirty="0"/>
          </a:p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die je eerst moet aantonen, niet aannemen."</a:t>
            </a:r>
            <a:endParaRPr lang="en-US" sz="22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Drie signalen voor overkill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Geen aantoonbare asymmetrie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Geen merkbaar compromis in het bestaande model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Team te klein om het extra onderdeel te dragen</a:t>
            </a:r>
            <a:endParaRPr lang="en-US" sz="16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Het Nabestaandenloket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Klein. Eén team. Eén overzichtelijke aggregate.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CQRS zou hier vrijwel zeker overkill zijn.</a:t>
            </a:r>
            <a:endParaRPr lang="en-US" sz="16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Geen synoniem voor "twee databases"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CQRS gaat over verantwoordelijkheid, niet over infrastructuur.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 binnen één database. Kan ook fysiek gescheiden.</a:t>
            </a:r>
            <a:endParaRPr lang="en-US" sz="16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Wanneer wél fysiek gescheiden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Zodra de asymmetrie groot genoeg wordt —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zoals bij Wegwijzer: veel lezen, weinig schrijven.</a:t>
            </a:r>
            <a:endParaRPr lang="en-US" sz="16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↗ UITVOERING: HET LOCKED PLATFORM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Eén modelleerkeuze. Meer dan één manier om te bouwen.</a:t>
            </a:r>
            <a:endParaRPr lang="en-US" sz="16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Het Locked Platform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CQRS en event sourcing als architecturale grondslag.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Schrijfpad: een gebeurtenissenreeks.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Leespad: apart, asynchroon opgebouwd.</a:t>
            </a:r>
            <a:endParaRPr lang="en-US" sz="16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grens van dit kader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Eén consequent doorgevoerde uitvoering naast andere.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Geen platformdiepgang hier. ↗ Toolbijlage.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Toestandsmachines en event store: database-/architectuurcursus.</a:t>
            </a:r>
            <a:endParaRPr lang="en-US" sz="16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werkvorm van dit deel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architectuurkeuzeblad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Vier stappen. Eén vraag die het verschil maakt.</a:t>
            </a:r>
            <a:endParaRPr lang="en-US" sz="16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vier stappen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Context en aggregaatgrens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Gelaagd of hexagonaal — welk risico?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Lees/schrijf-asymmetrie — CQRS wel of niet?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De architectuur in één alinea</a:t>
            </a:r>
            <a:endParaRPr lang="en-US" sz="16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Het veld dat het verschil maakt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 een developer deze keuze niet kent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over een jaar de snelste weg neemt —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gaat er dan mis, en hoe snel wordt dat zichtbaar?</a:t>
            </a:r>
            <a:endParaRPr lang="en-US" sz="16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Toepassing: vijf systemen, verschillende keuzes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Geen architectuurstandaard voor het hele landschap.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context: welk risico speelt hier werkelijk?</a:t>
            </a:r>
            <a:endParaRPr lang="en-US" sz="16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Wegwijzer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CQRS, nauwelijks omstreden.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Geen eigen aggregate, alleen een leesvraag.</a:t>
            </a:r>
            <a:endParaRPr lang="en-US" sz="16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KERN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Gelaagd, plus CQRS om de erosie tegen te gaan.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Rapportagevelden eindelijk uit de kernstructuur.</a:t>
            </a:r>
            <a:endParaRPr lang="en-US" sz="16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822960"/>
            <a:ext cx="91440" cy="502920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188720"/>
            <a:ext cx="73152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"Is dat een architectuurkeuze, of een saneringsproject</a:t>
            </a:r>
            <a:endParaRPr lang="en-US" sz="2200" dirty="0"/>
          </a:p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 een architectuurpatroon als excuus?"</a:t>
            </a:r>
            <a:endParaRPr lang="en-US" sz="22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822960"/>
            <a:ext cx="91440" cy="502920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188720"/>
            <a:ext cx="73152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"Allebei. Het patroon lost het structurele probleem op.</a:t>
            </a:r>
            <a:endParaRPr lang="en-US" sz="2200" dirty="0"/>
          </a:p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Het saneringswerk zelf is werk dat ooit gedaan moet worden,</a:t>
            </a:r>
            <a:endParaRPr lang="en-US" sz="2200" dirty="0"/>
          </a:p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 of zonder CQRS."</a:t>
            </a:r>
            <a:endParaRPr lang="en-US" sz="22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Figuur 19-8</a:t>
            </a:r>
            <a:endParaRPr lang="en-US" sz="2400" dirty="0"/>
          </a:p>
        </p:txBody>
      </p:sp>
      <p:pic>
        <p:nvPicPr>
          <p:cNvPr id="4" name="Image 0" descr="C:\Projecten\eductus-trainingen\Domain-Driven Design\docx-build\.png-cache\figuur-19-8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280160" y="1280160"/>
            <a:ext cx="6583680" cy="4480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594360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Vijf systemen, vijf patronen, vijf risico's — het landschapsbeeld waar dit deel naartoe werkt</a:t>
            </a:r>
            <a:endParaRPr lang="en-US" sz="12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822960"/>
            <a:ext cx="91440" cy="502920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188720"/>
            <a:ext cx="73152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"We weten nu welke architectuur elk systeem beschermt.</a:t>
            </a:r>
            <a:endParaRPr lang="en-US" sz="2200" dirty="0"/>
          </a:p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weten nog niet hoe die systemen elkaar bereiken</a:t>
            </a:r>
            <a:endParaRPr lang="en-US" sz="2200" dirty="0"/>
          </a:p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zonder dat de een de ander weer binnendringt."</a:t>
            </a:r>
            <a:endParaRPr lang="en-US" sz="22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822960"/>
            <a:ext cx="91440" cy="502920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188720"/>
            <a:ext cx="73152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"Kiezen jullie deze architecturen om het domein,</a:t>
            </a:r>
            <a:endParaRPr lang="en-US" sz="2200" dirty="0"/>
          </a:p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of om hoe mijn teams nu toevallig zijn ingericht?"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54</Slides>
  <Notes>54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54</vt:i4>
      </vt:variant>
    </vt:vector>
  </HeadingPairs>
  <TitlesOfParts>
    <vt:vector size="5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2026-08-16T19:18:50Z</dcterms:created>
  <dcterms:modified xsi:type="dcterms:W3CDTF">2026-08-16T19:18:50Z</dcterms:modified>
</cp:coreProperties>
</file>