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niet "oneerlijk" — het doel is veranderd, niet de rekenkunde.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dit is de kiem van deel 6 en 7. Niet nu uitwerken.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eerst de overeenkomst, dan pas de verschillen.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situatie d is de test — daar is de regelingsvorm niet de eerste vraag.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scharnierpunt naar deel 5 en 16.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 — Titel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3: Soorten pensioenovereenkomsten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is er toegezegd, en wie draagt het risico?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 — Terugblik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1: de kaart · Deel 2: de driehoek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Vandaag: de inhoud van de toezegging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3 — Drie klassieke karakters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pic>
        <p:nvPicPr>
          <p:cNvPr id="5" name="Image 0" descr="C:\Projecten\eductus.nl\pensioenverzekeringen\figuren\deel-03\figuur-3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3876" y="1143000"/>
            <a:ext cx="9601200" cy="3356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45910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Uitkering · Kapitaal · Premie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3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4 — De uitkeringsovereenkomst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10972800" cy="1536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Toegezegd: een bedrag per jaar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Eindloon of middelloon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Herkenbaar aan een opbouwpercentage (1,738%)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Risico: collectief (fonds) of verzekeraar (garantie)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5 — De kapitaalovereenkomst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10972800" cy="1536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Toegezegd: een kapitaal op einddatum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Beleggingsrisico bij de verzekeraar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Renterisico bij omzetting: bij de deelnemer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Nagenoeg verdwenen, nog in oude polissen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6 — De premieovereenkomst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10972800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Toegezegd: een inleg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Uitkomst hangt af van rendement, kosten, rente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Risico bij de deelnemer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7 — Terug naar het drieluik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Uitkering = belofte over de uitkomst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 = belofte over de inspanning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8 — Opdracht 3.1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Vijf regelingsteksten, typeer ze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Individueel, 8 minuten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9 — De staffel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21–24 jaar: 8,4%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25–29 jaar: 9,7%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26517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65+: 26,1%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3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10 — Waarom liep die op?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pic>
        <p:nvPicPr>
          <p:cNvPr id="5" name="Image 0" descr="C:\Projecten\eductus.nl\pensioenverzekeringen\figuren\deel-03\figuur-3-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1632" y="1143000"/>
            <a:ext cx="9345687" cy="5166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3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11 — De staffel was consistent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Doel: gelijke jaarlijkse opbouw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staffel maakte de premie daaraan gelijkwaardig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12 — Het nieuwe doel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Doel onder de Wtp: gelijke jaarlijkse inleg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Daarmee vervalt de grond voor de staffel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13 — En wie betaalt dat?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halverwege overstapt, mist het hoge staffeldeel dat hij "tegoed" had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14 — Opdracht 3.3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Doorn: gemiddelde leeftijd 38 → 46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deed dat met de last? En met een vlakke premie?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15 — De vraag van de directeur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"Wordt pensioen nu goedkoper?"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Antwoord zonder compensatie = onvolledig antwoord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16 — Wat blijft er over onder de Wtp?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pic>
        <p:nvPicPr>
          <p:cNvPr id="5" name="Image 0" descr="C:\Projecten\eductus.nl\pensioenverzekeringen\figuren\deel-03\figuur-3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3876" y="1143000"/>
            <a:ext cx="9601200" cy="319804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432487"/>
            <a:ext cx="10972800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Solidaire premieregeling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Flexibele premieregeling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Premie-uitkeringsovereenkomst (alleen verzekeraars)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3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17 — Wat ze gemeen hebben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1097280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Vlakke premie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Persoonlijk pensioenvermogen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18 — Solidaire premieregeling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10972800" cy="1536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Collectief belegd, persoonlijk gereserveerd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Toedelingsregels per leeftijdsgroep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Verplichte solidariteitsreserve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individuele beleggingskeuze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19 — Flexibele premieregeling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10972800" cy="1536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Lifecycle, meestal keuze uit risicoprofielen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Optionele risicodelingsreserve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 pensioendatum: vast of variabel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Gebruikelijk bij verzekeraars en PPI's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20 — Premie-uitkeringsovereenkomst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10972800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 wordt direct omgezet in aanspraken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kapitaal op pensioendatum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Alleen verzekeraars — want langleven- en renterisico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21 — Waarom alleen verzekeraars?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Garanderen = risico overnemen = kapitaal aanhouden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PPI mag dat niet · fonds kent de vorm niet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22 — Solidair versus flexibel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| Solidair | Flexibel |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|---|---|---|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Beleggingskeuze | nee | meestal wel |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26517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Reserve | verplicht | optioneel |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31546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Uitkering | variabel | vast of variabel |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3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23 — Twee hardnekkige misvattingen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1097280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"Solidair = geen eigen potje" — onjuist, beide kennen een persoonlijk vermogen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"Solidair = zeker" — stabieler, niet gegarandeerd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24 — Opdracht 3.4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situaties: solidair, flexibel of iets anders?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25 — Typeren in vier signalen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10972800" cy="1536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Opbouwpercentage → uitkering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Percentage per leeftijdsklasse → staffel, niet conform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Eén percentage voor iedereen → vlak, verder controleren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Gegarandeerd eindkapitaal → kapitaalovereenkomst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26 — De kernzin van vandaag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143000"/>
            <a:ext cx="11064240" cy="640080"/>
          </a:xfrm>
          <a:prstGeom prst="rect">
            <a:avLst/>
          </a:prstGeom>
          <a:solidFill>
            <a:srgbClr val="FBF3E7"/>
          </a:solidFill>
          <a:ln w="19050">
            <a:solidFill>
              <a:srgbClr val="E9A1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430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Een vlakke premie is nodig voor Wtp-conformiteit, maar niet genoeg.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27 — De gevaarlijkste zin in de markt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143000"/>
            <a:ext cx="11064240" cy="640080"/>
          </a:xfrm>
          <a:prstGeom prst="rect">
            <a:avLst/>
          </a:prstGeom>
          <a:solidFill>
            <a:srgbClr val="FBF3E7"/>
          </a:solidFill>
          <a:ln w="19050">
            <a:solidFill>
              <a:srgbClr val="E9A1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430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"Wij hebben al een beschikbarepremieregeling, dus wij zijn al Wtp-proof."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Formuleer je correctie hardop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28 — Opbouw ≠ bestaande aanspraken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Wtp-eisen zien op nieuwe opbouw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al is opgebouwd, volgt een eigen route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29 — Huiswerk en doorkijk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1097280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3.7 en 3.8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4: mág je eigenlijk wel bij een verzekeraar terecht? Verplichtstelling, werkingssfeer, vrijstelling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Ductus B.V.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Nederlandse pensioenverzekering — Deel 3 — Slidedeck</dc:title>
  <dc:subject>PptxGenJS Presentation</dc:subject>
  <dc:creator>Ductus B.V.</dc:creator>
  <cp:lastModifiedBy>Ductus B.V.</cp:lastModifiedBy>
  <cp:revision>1</cp:revision>
  <dcterms:created xsi:type="dcterms:W3CDTF">2026-08-17T11:24:38Z</dcterms:created>
  <dcterms:modified xsi:type="dcterms:W3CDTF">2026-08-17T11:24:38Z</dcterms:modified>
</cp:coreProperties>
</file>