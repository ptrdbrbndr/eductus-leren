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nog geen inhoud, alleen kennismaking. Vraag naar "de laatste pensioenvraag die je niet kon beantwoorden".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nulmeting opdracht 1.1. Niet plenair nabespreken.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niet doorrekenen, dat is deel 11. Alleen het principe.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 de flap, blijft de hele cursus hangen.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invullen vóór de uitleg, niet 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opent deel 5, sluit in deel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4 wordt in de praktijk het vaakst overgeslagen.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1: Het Nederlandse pensioenstelsel in vogelvlucht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Nederlandse pensioenverzekering · Niveau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Waar we naartoe werken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Dertig delen, drie niveaus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Fondsen én verzekeraars, met gelijk gewicht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draad: Wtp of niet-Wtp, en het overgangsrecht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Drie pijlers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Wie doet wat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Vier uitvoerders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Waarom het stelsel veranderde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 kernvraag: Wtp of niet-Wtp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Eerst even schrijven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vragen, vijf regels, niet opzoeken, niet overleggen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Drie pijlers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1\figuur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3423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576813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AOW — overheid, omslag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Werknemerspensioen — arbeidsvoorwaarde, kapitaaldekking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— lijfrente, banksparen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Pijler 1: AOW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Volksverzekering, 2% per verzekerd jaar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AOW-leeftijd 2026: 67 jaar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Vanaf 2028 gekoppeld aan levensverwachting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Wtp verandert hier niets aan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Pijler 2: de tweede pijler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Ontstaat aan de cao-tafel of in het arbeidscontract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 moet onderbrengen bij een uitvoerder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Onderwerp van deze hele cursus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Pijler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Vrijwillig, binnen de jaarruimte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Zzp'ers, pensioentekort, inkomen boven de aftoppingsgrens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terug in deel 26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De franchise verbindt pijler 1 en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Salaris − franchise = pensioengrondslag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Wie doet wat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Sociale partners: afspreken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Werkgever: toezeggen en onderbrengen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instemmen (buiten verplichtgesteld bpf)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Uitvoerder: uitvoeren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 en AFM: toezien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Het drieluik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belooft wat? Wie voert het uit? Wie draagt het risico?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Opdracht 1.4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het drieluik toe op drie regelingen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10 minuten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Vier uitvoerders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1\figuur-1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1606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39512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· Verzekeraar · PPI · APF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Het pensioenfonds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Stichting, geen winstoogmerk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Bpf, opf, beroepspensioenfonds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Vermogen is van de deelnemers samen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Doorlopende relatie, geen einddatum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De pensioenverzekeraar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Vergunning DNB, Solvency II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voor bepaalde tijd — meestal vijf jaar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Draagt contractueel risico, tegen premie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De PPI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opbouwfase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géén verzekeringstechnisch risico dragen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Risicodekkingen herverzekerd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Uitkeringsfase: shoppen of naar een verzekeraar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Het APF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2016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organisatie, gescheiden kringen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Fondsuitvoering zonder eigen bestuur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Vergelijk zelf eerst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1.3 — tabel invullen uit het hoofd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De rij die er echt toe doet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| Fonds | Verzekeraar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Invaren bij Wtp | uitgangspunt | in beginsel niet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Waarom veranderde het stelsel?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weeffouten: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Schijnzekerheid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Doorsneesystematiek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Aansluiting arbeidsmarkt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Schijnzekerheid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Toezegging in euro's, afhankelijk van de dekkingsgraad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Jaren niet indexeren, soms korten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belofte bleek een verwachting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Doorsneesystematiek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1\figuur-1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5111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Arbeidsmarkt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baanwisselingen, meer zelfstandigen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stelsel voor veertig jaar bij één werkgever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Tijdlijn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pic>
        <p:nvPicPr>
          <p:cNvPr id="5" name="Image 0" descr="C:\Projecten\eductus.nl\pensioenverzekeringen\figuren\deel-01\figuur-1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1143000"/>
            <a:ext cx="9601200" cy="3754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89365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akkoord · 1 juli 2023 Wtp in werking · 2023-2027 transitie · 1 januari 2028 uiterste datum · 2037 einde fiscale compensatieruimte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Let op de nuance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verlenging naar 2028 was bedoeld om de uitvoeringspiek te spreiden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om iedereen een jaar rust te geven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De kernvraag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Wtp-conform: premieovereenkomst, vlakke premie, binnen de fiscale grenzen, nieuw nabestaandenpensioen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Niet-Wtp-conform: uitkeringsovereenkomst, of premie met leeftijdsstaffel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Onthoud deze zin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Niet-Wtp is geen fout; niet-Wtp zonder geldige overgangsgrond ná de uiterste datum wel.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28 — De vier analysevragen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Welk type overeenkomst?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Wie voert uit?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Wtp-conform, ja of nee?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Zo nee: welke overgangsgrond, tot wanneer?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29 — De casus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Pensioen N.V. — verzekeraar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Techniek &amp; Installatie — verplichtgesteld fonds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Pensioenfonds Delta Chemie — opf, krimpend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Techniek B.V. — 85 medewerkers, progressieve staffel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(58) en Yasmin (26)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30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1.7 en 1.8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2: de driehoek — pensioenovereenkomst, uitvoeringsovereenkomst, reglement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1 — Fundament · Deel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 — Slidedeck</dc:title>
  <dc:subject>PptxGenJS Presentation</dc:subject>
  <dc:creator>Ductus B.V.</dc:creator>
  <cp:lastModifiedBy>Ductus B.V.</cp:lastModifiedBy>
  <cp:revision>1</cp:revision>
  <dcterms:created xsi:type="dcterms:W3CDTF">2026-08-17T11:24:38Z</dcterms:created>
  <dcterms:modified xsi:type="dcterms:W3CDTF">2026-08-17T11:24:38Z</dcterms:modified>
</cp:coreProperties>
</file>