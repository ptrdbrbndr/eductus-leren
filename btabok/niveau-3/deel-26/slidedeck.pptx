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</p:sldIdLst>
  <p:notesMasterIdLst>
    <p:notesMasterId r:id="rId24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notesMaster" Target="notesMasters/notesMaster1.xml"/><Relationship Id="rId25" Type="http://schemas.openxmlformats.org/officeDocument/2006/relationships/presProps" Target="presProps.xml"/><Relationship Id="rId26" Type="http://schemas.openxmlformats.org/officeDocument/2006/relationships/viewProps" Target="viewProps.xml"/><Relationship Id="rId27" Type="http://schemas.openxmlformats.org/officeDocument/2006/relationships/theme" Target="theme/theme1.xml"/><Relationship Id="rId2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421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3017520"/>
            <a:ext cx="137160" cy="1463040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2286000"/>
            <a:ext cx="1088136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200" b="1" dirty="0">
                <a:solidFill>
                  <a:srgbClr val="FFFFFF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Board-communicatie</a:t>
            </a:r>
            <a:endParaRPr lang="en-US" sz="4200" dirty="0"/>
          </a:p>
        </p:txBody>
      </p:sp>
      <p:sp>
        <p:nvSpPr>
          <p:cNvPr id="4" name="Text 2"/>
          <p:cNvSpPr/>
          <p:nvPr/>
        </p:nvSpPr>
        <p:spPr>
          <a:xfrm>
            <a:off x="640080" y="3383280"/>
            <a:ext cx="108813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CADCFC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Deel 26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640080" y="4297680"/>
            <a:ext cx="1088136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55606F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Ductus</a:t>
            </a:r>
            <a:endParaRPr lang="en-US" sz="15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BFA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642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4213D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Vandaag</a:t>
            </a:r>
            <a:endParaRPr lang="en-US" sz="2700" dirty="0"/>
          </a:p>
        </p:txBody>
      </p:sp>
      <p:sp>
        <p:nvSpPr>
          <p:cNvPr id="3" name="Shape 1"/>
          <p:cNvSpPr/>
          <p:nvPr/>
        </p:nvSpPr>
        <p:spPr>
          <a:xfrm>
            <a:off x="548640" y="1143000"/>
            <a:ext cx="1005840" cy="45720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1417320"/>
            <a:ext cx="10698480" cy="4617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De eerste kwartaalrapportage aan de raad van bestuur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Eén boodschap, drie onderbouwingen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Risico communiceren zonder techniek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De onderliggende zorg beantwoorden</a:t>
            </a:r>
            <a:endParaRPr lang="en-US" sz="16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1421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3246120"/>
            <a:ext cx="1188720" cy="54864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2651760"/>
            <a:ext cx="10881360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1. De eerste kwartaalrapportage</a:t>
            </a:r>
            <a:endParaRPr lang="en-US" sz="36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BFA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10642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4213D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40 slides, 10 minuten</a:t>
            </a:r>
            <a:endParaRPr lang="en-US" sz="2400" dirty="0"/>
          </a:p>
        </p:txBody>
      </p:sp>
      <p:pic>
        <p:nvPicPr>
          <p:cNvPr id="3" name="Image 0" descr="C:\Projecten\eductus-trainingen\BTABOK\figuren\figuur-26-1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961345" y="1234440"/>
            <a:ext cx="6238830" cy="416052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22960" y="5486400"/>
            <a:ext cx="10515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i="1" dirty="0">
                <a:solidFill>
                  <a:srgbClr val="55606F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Figuur 26-1</a:t>
            </a:r>
            <a:endParaRPr lang="en-US" sz="13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BFA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097280" y="1463040"/>
            <a:ext cx="73152" cy="3474720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3" name="Text 1"/>
          <p:cNvSpPr/>
          <p:nvPr/>
        </p:nvSpPr>
        <p:spPr>
          <a:xfrm>
            <a:off x="1463040" y="1463040"/>
            <a:ext cx="9418320" cy="3474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i="1" dirty="0">
                <a:solidFill>
                  <a:srgbClr val="14213D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"Als je bij slide vijf nog niet klaar bent met de kernboodschap, ben je de raad al kwijt."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1463040" y="5120640"/>
            <a:ext cx="94183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55606F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— Bart Hoekstra</a:t>
            </a:r>
            <a:endParaRPr lang="en-US" sz="16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1421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3246120"/>
            <a:ext cx="1188720" cy="54864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2651760"/>
            <a:ext cx="10881360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2. Eén boodschap, drie onderbouwingen</a:t>
            </a:r>
            <a:endParaRPr lang="en-US" sz="36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BFA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10642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4213D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De structuur</a:t>
            </a:r>
            <a:endParaRPr lang="en-US" sz="2400" dirty="0"/>
          </a:p>
        </p:txBody>
      </p:sp>
      <p:pic>
        <p:nvPicPr>
          <p:cNvPr id="3" name="Image 0" descr="C:\Projecten\eductus-trainingen\BTABOK\figuren\figuur-26-2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961345" y="1234440"/>
            <a:ext cx="6238830" cy="416052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22960" y="5486400"/>
            <a:ext cx="10515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i="1" dirty="0">
                <a:solidFill>
                  <a:srgbClr val="55606F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Figuur 26-2</a:t>
            </a:r>
            <a:endParaRPr lang="en-US" sz="13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BFA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6424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4213D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Tien minuten</a:t>
            </a:r>
            <a:endParaRPr lang="en-US" sz="2600" dirty="0"/>
          </a:p>
        </p:txBody>
      </p:sp>
      <p:graphicFrame>
        <p:nvGraphicFramePr>
          <p:cNvPr id="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234440"/>
          <a:ext cx="11064240" cy="914400"/>
        </p:xfrm>
        <a:graphic>
          <a:graphicData uri="http://schemas.openxmlformats.org/drawingml/2006/table">
            <a:tbl>
              <a:tblPr/>
              <a:tblGrid>
                <a:gridCol w="5532120"/>
                <a:gridCol w="5532120"/>
              </a:tblGrid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Onderdeel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Tijd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4213D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Boodschap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A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4213D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1 min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AF7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4213D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Voortgang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2E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4213D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2-3 min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2EC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4213D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Risico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A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4213D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2-3 min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AF7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4213D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Wat de raad moet weten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2E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4213D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2-3 min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2EC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1421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1828800"/>
            <a:ext cx="73152" cy="3017520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3" name="Text 1"/>
          <p:cNvSpPr/>
          <p:nvPr/>
        </p:nvSpPr>
        <p:spPr>
          <a:xfrm>
            <a:off x="1005840" y="1828800"/>
            <a:ext cx="10149840" cy="1920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De omgekeerde piramide van deel 5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1005840" y="3749040"/>
            <a:ext cx="1014984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900" dirty="0">
                <a:solidFill>
                  <a:srgbClr val="CADCFC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Nu onder nog hogere druk</a:t>
            </a:r>
            <a:endParaRPr lang="en-US" sz="1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BFA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642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4213D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Opdracht 1 — De boardpresentatie in vijf slides</a:t>
            </a:r>
            <a:endParaRPr lang="en-US" sz="2700" dirty="0"/>
          </a:p>
        </p:txBody>
      </p:sp>
      <p:sp>
        <p:nvSpPr>
          <p:cNvPr id="3" name="Shape 1"/>
          <p:cNvSpPr/>
          <p:nvPr/>
        </p:nvSpPr>
        <p:spPr>
          <a:xfrm>
            <a:off x="548640" y="1143000"/>
            <a:ext cx="1005840" cy="45720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1417320"/>
            <a:ext cx="10698480" cy="4617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25 minuten, individueel</a:t>
            </a:r>
            <a:endParaRPr lang="en-US" sz="1600" dirty="0"/>
          </a:p>
          <a:p>
            <a:pPr indent="0" marL="0">
              <a:buNone/>
            </a:pP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Eén boodschap · drie onderbouwingen · elk één cijfer</a:t>
            </a:r>
            <a:endParaRPr lang="en-US" sz="16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1421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3246120"/>
            <a:ext cx="1188720" cy="54864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2651760"/>
            <a:ext cx="10881360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3. Risico zonder techniek</a:t>
            </a:r>
            <a:endParaRPr lang="en-US" sz="36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BFA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10642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4213D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De dekkingsgraad, één getal</a:t>
            </a:r>
            <a:endParaRPr lang="en-US" sz="2400" dirty="0"/>
          </a:p>
        </p:txBody>
      </p:sp>
      <p:pic>
        <p:nvPicPr>
          <p:cNvPr id="3" name="Image 0" descr="C:\Projecten\eductus-trainingen\BTABOK\figuren\figuur-26-3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961345" y="1234440"/>
            <a:ext cx="6238830" cy="416052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22960" y="5486400"/>
            <a:ext cx="10515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i="1" dirty="0">
                <a:solidFill>
                  <a:srgbClr val="55606F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Figuur 26-3</a:t>
            </a:r>
            <a:endParaRPr lang="en-US" sz="13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BFA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097280" y="1463040"/>
            <a:ext cx="73152" cy="3474720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3" name="Text 1"/>
          <p:cNvSpPr/>
          <p:nvPr/>
        </p:nvSpPr>
        <p:spPr>
          <a:xfrm>
            <a:off x="1463040" y="1463040"/>
            <a:ext cx="9418320" cy="3474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i="1" dirty="0">
                <a:solidFill>
                  <a:srgbClr val="14213D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"32% nog niet expliciet afgedekt. Vergelijkbaar met een dekkingsgraad onder de streefwaarde — een signaal om nu bij te sturen, geen reden tot paniek."</a:t>
            </a:r>
            <a:endParaRPr lang="en-US" sz="26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1421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1828800"/>
            <a:ext cx="73152" cy="3017520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3" name="Text 1"/>
          <p:cNvSpPr/>
          <p:nvPr/>
        </p:nvSpPr>
        <p:spPr>
          <a:xfrm>
            <a:off x="1005840" y="1828800"/>
            <a:ext cx="10149840" cy="1920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Het getal eerst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1005840" y="3749040"/>
            <a:ext cx="1014984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900" dirty="0">
                <a:solidFill>
                  <a:srgbClr val="CADCFC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De betekenis in gewone taal. De techniek pas op verzoek.</a:t>
            </a:r>
            <a:endParaRPr lang="en-US" sz="19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BFA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642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4213D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Opdracht 2 — Risico zonder techniek</a:t>
            </a:r>
            <a:endParaRPr lang="en-US" sz="2700" dirty="0"/>
          </a:p>
        </p:txBody>
      </p:sp>
      <p:sp>
        <p:nvSpPr>
          <p:cNvPr id="3" name="Shape 1"/>
          <p:cNvSpPr/>
          <p:nvPr/>
        </p:nvSpPr>
        <p:spPr>
          <a:xfrm>
            <a:off x="548640" y="1143000"/>
            <a:ext cx="1005840" cy="45720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1417320"/>
            <a:ext cx="10698480" cy="4617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15 minuten, tweetallen</a:t>
            </a:r>
            <a:endParaRPr lang="en-US" sz="1600" dirty="0"/>
          </a:p>
          <a:p>
            <a:pPr indent="0" marL="0">
              <a:buNone/>
            </a:pP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Herschrijf een technische risicobeschrijving</a:t>
            </a:r>
            <a:endParaRPr lang="en-US" sz="16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1421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3246120"/>
            <a:ext cx="1188720" cy="54864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2651760"/>
            <a:ext cx="10881360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4. De onderliggende zorg</a:t>
            </a:r>
            <a:endParaRPr lang="en-US" sz="36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BFA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097280" y="1463040"/>
            <a:ext cx="73152" cy="3474720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3" name="Text 1"/>
          <p:cNvSpPr/>
          <p:nvPr/>
        </p:nvSpPr>
        <p:spPr>
          <a:xfrm>
            <a:off x="1463040" y="1463040"/>
            <a:ext cx="9418320" cy="3474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i="1" dirty="0">
                <a:solidFill>
                  <a:srgbClr val="14213D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"Kan het niet gewoon fout gaan met de berekening, zoals bij Mutatieplatform destijds?"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1463040" y="5120640"/>
            <a:ext cx="94183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55606F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— een bestuurslid</a:t>
            </a:r>
            <a:endParaRPr lang="en-US" sz="16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BFA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642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4213D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Twee reacties</a:t>
            </a:r>
            <a:endParaRPr lang="en-US" sz="2700" dirty="0"/>
          </a:p>
        </p:txBody>
      </p:sp>
      <p:sp>
        <p:nvSpPr>
          <p:cNvPr id="3" name="Shape 1"/>
          <p:cNvSpPr/>
          <p:nvPr/>
        </p:nvSpPr>
        <p:spPr>
          <a:xfrm>
            <a:off x="548640" y="1143000"/>
            <a:ext cx="1005840" cy="45720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1417320"/>
            <a:ext cx="10698480" cy="4617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Fout: de technische onnauwkeurigheid corrigeren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Goed: de terechte zorg erkennen, uitleggen wat er is geleerd</a:t>
            </a:r>
            <a:endParaRPr lang="en-US" sz="16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BFA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642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4213D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Opdracht 3 — De onderliggende zorg beantwoorden</a:t>
            </a:r>
            <a:endParaRPr lang="en-US" sz="2700" dirty="0"/>
          </a:p>
        </p:txBody>
      </p:sp>
      <p:sp>
        <p:nvSpPr>
          <p:cNvPr id="3" name="Shape 1"/>
          <p:cNvSpPr/>
          <p:nvPr/>
        </p:nvSpPr>
        <p:spPr>
          <a:xfrm>
            <a:off x="548640" y="1143000"/>
            <a:ext cx="1005840" cy="45720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1417320"/>
            <a:ext cx="10698480" cy="4617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20 minuten, individueel</a:t>
            </a:r>
            <a:endParaRPr lang="en-US" sz="1600" dirty="0"/>
          </a:p>
          <a:p>
            <a:pPr indent="0" marL="0">
              <a:buNone/>
            </a:pP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Vier vragen</a:t>
            </a:r>
            <a:endParaRPr lang="en-US" sz="16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BFA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642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4213D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Opdracht 4 — Rollenspel: de vragenronde</a:t>
            </a:r>
            <a:endParaRPr lang="en-US" sz="2700" dirty="0"/>
          </a:p>
        </p:txBody>
      </p:sp>
      <p:sp>
        <p:nvSpPr>
          <p:cNvPr id="3" name="Shape 1"/>
          <p:cNvSpPr/>
          <p:nvPr/>
        </p:nvSpPr>
        <p:spPr>
          <a:xfrm>
            <a:off x="548640" y="1143000"/>
            <a:ext cx="1005840" cy="45720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1417320"/>
            <a:ext cx="10698480" cy="4617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20 minuten, groepen van 3</a:t>
            </a:r>
            <a:endParaRPr lang="en-US" sz="1600" dirty="0"/>
          </a:p>
          <a:p>
            <a:pPr indent="0" marL="0">
              <a:buNone/>
            </a:pP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Presenteren · twee onnauwkeurige, oprechte vragen</a:t>
            </a:r>
            <a:endParaRPr lang="en-US" sz="16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BFA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642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4213D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De uitkomst</a:t>
            </a:r>
            <a:endParaRPr lang="en-US" sz="2700" dirty="0"/>
          </a:p>
        </p:txBody>
      </p:sp>
      <p:sp>
        <p:nvSpPr>
          <p:cNvPr id="3" name="Shape 1"/>
          <p:cNvSpPr/>
          <p:nvPr/>
        </p:nvSpPr>
        <p:spPr>
          <a:xfrm>
            <a:off x="548640" y="1143000"/>
            <a:ext cx="1005840" cy="45720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1417320"/>
            <a:ext cx="10698480" cy="4617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Presentatie: 8 minuten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Eén vraag beantwoord met de onderliggende zorg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De raad maakt budget vrij om de dekkingsgraad te verhogen</a:t>
            </a:r>
            <a:endParaRPr lang="en-US" sz="16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1421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3017520"/>
            <a:ext cx="137160" cy="1463040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2651760"/>
            <a:ext cx="1088136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Volgende keer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640080" y="3657600"/>
            <a:ext cx="108813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CADCFC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Deel 27 — Strategische breedte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640080" y="4297680"/>
            <a:ext cx="1088136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55606F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Wtp als meerdere parallelle werkstromen — samenhang op portefeuilleniveau.</a:t>
            </a:r>
            <a:endParaRPr lang="en-US" sz="15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22</Slides>
  <Notes>22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22</vt:i4>
      </vt:variant>
    </vt:vector>
  </HeadingPairs>
  <TitlesOfParts>
    <vt:vector size="2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2026-08-17T16:47:14Z</dcterms:created>
  <dcterms:modified xsi:type="dcterms:W3CDTF">2026-08-17T16:47:14Z</dcterms:modified>
</cp:coreProperties>
</file>