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</p:sldIdLst>
  <p:notesMasterIdLst>
    <p:notesMasterId r:id="rId26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notesMaster" Target="notesMasters/notesMaster1.xml"/><Relationship Id="rId27" Type="http://schemas.openxmlformats.org/officeDocument/2006/relationships/presProps" Target="presProps.xml"/><Relationship Id="rId28" Type="http://schemas.openxmlformats.org/officeDocument/2006/relationships/viewProps" Target="viewProps.xml"/><Relationship Id="rId29" Type="http://schemas.openxmlformats.org/officeDocument/2006/relationships/theme" Target="theme/theme1.xml"/><Relationship Id="rId3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28600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2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Operating model I</a:t>
            </a:r>
            <a:endParaRPr lang="en-US" sz="4200" dirty="0"/>
          </a:p>
        </p:txBody>
      </p:sp>
      <p:sp>
        <p:nvSpPr>
          <p:cNvPr id="4" name="Text 2"/>
          <p:cNvSpPr/>
          <p:nvPr/>
        </p:nvSpPr>
        <p:spPr>
          <a:xfrm>
            <a:off x="640080" y="338328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17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Ductus</a:t>
            </a:r>
            <a:endParaRPr lang="en-US" sz="15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Vandaag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Drie architecten, drie logboeken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Besluiten: één gedeeld logboek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Patronen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Requirements in uitvoering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Stakeholders in uitvoering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1. Drie architecten, drie logboeken</a:t>
            </a:r>
            <a:endParaRPr lang="en-US" sz="36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Twee bijna identieke patronen</a:t>
            </a:r>
            <a:endParaRPr lang="en-US" sz="2400" dirty="0"/>
          </a:p>
        </p:txBody>
      </p:sp>
      <p:pic>
        <p:nvPicPr>
          <p:cNvPr id="3" name="Image 0" descr="C:\Projecten\eductus-trainingen\BTABOK\figuren\figuur-17-1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17-1 — onafhankelijk ontstaan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Geen falen van het idee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Wat gebeurt er als één-persoons-gereedschap meerdere gebruikers krijgt</a:t>
            </a:r>
            <a:endParaRPr lang="en-US" sz="1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2. Eén gedeeld logboek</a:t>
            </a:r>
            <a:endParaRPr lang="en-US" sz="36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Van drie bestanden naar één register</a:t>
            </a:r>
            <a:endParaRPr lang="en-US" sz="2400" dirty="0"/>
          </a:p>
        </p:txBody>
      </p:sp>
      <p:pic>
        <p:nvPicPr>
          <p:cNvPr id="3" name="Image 0" descr="C:\Projecten\eductus-trainingen\BTABOK\figuren\figuur-17-2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17-2 — dezelfde 5 velden, plus auteur, doorzoekbaar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Zoek eerst. Beslis dan.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Geen goedkeuringsproces — twee minuten zoeken</a:t>
            </a:r>
            <a:endParaRPr lang="en-US" sz="1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3. Patronen</a:t>
            </a:r>
            <a:endParaRPr lang="en-US" sz="36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patroonkaart</a:t>
            </a:r>
            <a:endParaRPr lang="en-US" sz="2400" dirty="0"/>
          </a:p>
        </p:txBody>
      </p:sp>
      <p:pic>
        <p:nvPicPr>
          <p:cNvPr id="3" name="Image 0" descr="C:\Projecten\eductus-trainingen\BTABOK\figuren\figuur-17-3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17-3 — naam, probleem, wanneer wel, wanneer niet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"Wanneer het niet past"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Zonder dat veld wordt een patroon een dogma</a:t>
            </a:r>
            <a:endParaRPr lang="en-US" sz="1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1 — Een patroonkaart schrijven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20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oplossing die je meer dan één keer hebt toegepast</a:t>
            </a:r>
            <a:endParaRPr lang="en-US" sz="16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2 — Zoek eerst, beslis dan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tweetallen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Een eigen voorbeeld van onafhankelijk hetzelfde opgelost</a:t>
            </a:r>
            <a:endParaRPr lang="en-US" sz="16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4. Requirements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requirement die drie keer wijzigt</a:t>
            </a:r>
            <a:endParaRPr lang="en-US" sz="2400" dirty="0"/>
          </a:p>
        </p:txBody>
      </p:sp>
      <p:pic>
        <p:nvPicPr>
          <p:cNvPr id="3" name="Image 0" descr="C:\Projecten\eductus-trainingen\BTABOK\figuren\figuur-17-4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17-4 — reden en effect op eerder werk per wijziging</a:t>
            </a:r>
            <a:endParaRPr lang="en-US" sz="13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Drie vragen bij elke wijziging</a:t>
            </a:r>
            <a:endParaRPr lang="en-US" sz="26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5532120"/>
                <a:gridCol w="553212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#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Vraag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4213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1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Wat is er veranderd, en waarom?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2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Welk eerder werk is geraakt?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2EC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3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dirty="0">
                          <a:solidFill>
                            <a:srgbClr val="14213D"/>
                          </a:solidFill>
                          <a:latin typeface="DM Sans" pitchFamily="34" charset="0"/>
                          <a:ea typeface="DM Sans" pitchFamily="34" charset="-122"/>
                          <a:cs typeface="DM Sans" pitchFamily="34" charset="-120"/>
                        </a:rPr>
                        <a:t>Wijziging, of een nieuwe requirement naast de oude?</a:t>
                      </a:r>
                      <a:endParaRPr lang="en-US" sz="1300" dirty="0">
                        <a:latin typeface="DM Sans" charset="0"/>
                        <a:ea typeface="DM Sans" charset="0"/>
                        <a:cs typeface="DM Sans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FDCD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BFAF7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1828800"/>
            <a:ext cx="73152" cy="30175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005840" y="1828800"/>
            <a:ext cx="10149840" cy="1920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Vraag 3 is de subtielste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1005840" y="3749040"/>
            <a:ext cx="101498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Bepaalt of je aanpast, of opnieuw begint</a:t>
            </a:r>
            <a:endParaRPr lang="en-US" sz="1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3 — Wijziging of nieuwe requirement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Vier situaties</a:t>
            </a:r>
            <a:endParaRPr lang="en-US" sz="16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40080" y="3246120"/>
            <a:ext cx="1188720" cy="54864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5. Stakeholders in uitvoering</a:t>
            </a:r>
            <a:endParaRPr lang="en-US" sz="36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20040"/>
            <a:ext cx="1106424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De kaart veroudert</a:t>
            </a:r>
            <a:endParaRPr lang="en-US" sz="2400" dirty="0"/>
          </a:p>
        </p:txBody>
      </p:sp>
      <p:pic>
        <p:nvPicPr>
          <p:cNvPr id="3" name="Image 0" descr="C:\Projecten\eductus-trainingen\BTABOK\figuren\figuur-17-5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961345" y="1234440"/>
            <a:ext cx="6238830" cy="41605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822960" y="5486400"/>
            <a:ext cx="10515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Figuur 17-5 — twee versies, zes maanden ertussen</a:t>
            </a:r>
            <a:endParaRPr lang="en-US" sz="13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Een levend document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alleen bij de start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Vast hercontrolemoment — gekoppeld aan de kwartaalcyclus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Zelfde moment als de klantreiskaart uit deel 12</a:t>
            </a:r>
            <a:endParaRPr lang="en-US" sz="16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Opdracht 4 — De stakeholderkaart hercontroleren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15 minuten, individueel</a:t>
            </a:r>
            <a:endParaRPr lang="en-US" sz="1600" dirty="0"/>
          </a:p>
          <a:p>
            <a:pPr indent="0" marL="0">
              <a:buNone/>
            </a:pP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Eigen kaart · wie is van kwadrant veranderd?</a:t>
            </a:r>
            <a:endParaRPr lang="en-US" sz="16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BFAF7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65760"/>
            <a:ext cx="11064240" cy="7772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700" b="1" dirty="0">
                <a:solidFill>
                  <a:srgbClr val="14213D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Terug naar het dubbele patroon</a:t>
            </a:r>
            <a:endParaRPr lang="en-US" sz="2700" dirty="0"/>
          </a:p>
        </p:txBody>
      </p:sp>
      <p:sp>
        <p:nvSpPr>
          <p:cNvPr id="3" name="Shape 1"/>
          <p:cNvSpPr/>
          <p:nvPr/>
        </p:nvSpPr>
        <p:spPr>
          <a:xfrm>
            <a:off x="548640" y="1143000"/>
            <a:ext cx="1005840" cy="4572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4" name="Text 2"/>
          <p:cNvSpPr/>
          <p:nvPr/>
        </p:nvSpPr>
        <p:spPr>
          <a:xfrm>
            <a:off x="640080" y="1417320"/>
            <a:ext cx="10698480" cy="4617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Samengevoegd tot één patroonkaart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Niet overbodig werk — bevestiging dat het patroon robuust is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rgbClr val="14213D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 verschillen leveren input voor een betere, gecombineerde kaart</a:t>
            </a:r>
            <a:endParaRPr lang="en-US" sz="16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017520"/>
            <a:ext cx="137160" cy="146304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640080" y="2651760"/>
            <a:ext cx="108813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ormorant Garamond" pitchFamily="34" charset="0"/>
                <a:ea typeface="Cormorant Garamond" pitchFamily="34" charset="-122"/>
                <a:cs typeface="Cormorant Garamond" pitchFamily="34" charset="-120"/>
              </a:rPr>
              <a:t>Volgende keer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40080" y="3657600"/>
            <a:ext cx="108813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ADCFC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Deel 18 — Operating model II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4297680"/>
            <a:ext cx="108813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55606F"/>
                </a:solidFill>
                <a:latin typeface="DM Sans" pitchFamily="34" charset="0"/>
                <a:ea typeface="DM Sans" pitchFamily="34" charset="-122"/>
                <a:cs typeface="DM Sans" pitchFamily="34" charset="-120"/>
              </a:rPr>
              <a:t>Views, kwaliteitsborging, deliverables en repository.</a:t>
            </a:r>
            <a:endParaRPr lang="en-US" sz="15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24</Slides>
  <Notes>24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24</vt:i4>
      </vt:variant>
    </vt:vector>
  </HeadingPairs>
  <TitlesOfParts>
    <vt:vector size="2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2026-08-17T16:47:13Z</dcterms:created>
  <dcterms:modified xsi:type="dcterms:W3CDTF">2026-08-17T16:47:13Z</dcterms:modified>
</cp:coreProperties>
</file>