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notesMasterIdLst>
    <p:notesMasterId r:id="rId3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notesMaster" Target="notesMasters/notesMaster1.xml"/><Relationship Id="rId37" Type="http://schemas.openxmlformats.org/officeDocument/2006/relationships/presProps" Target="presProps.xml"/><Relationship Id="rId38" Type="http://schemas.openxmlformats.org/officeDocument/2006/relationships/viewProps" Target="viewProps.xml"/><Relationship Id="rId39" Type="http://schemas.openxmlformats.org/officeDocument/2006/relationships/theme" Target="theme/theme1.xml"/><Relationship Id="rId4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Business Technology Strategy II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640080" y="338328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Deel 3 — waarderen zonder complete cijfers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Ductus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Vanmorgen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vraag die bleef hangen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Waarderen is geen rekenen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Het waarderingsblad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Vier soorten investeringen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Eis, wens of beperking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Compliance als ontwerpinput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Risico: kans én impact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Terug naar het MT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1. De vraag die bleef hangen</a:t>
            </a:r>
            <a:endParaRPr lang="en-US" sz="3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" y="1463040"/>
            <a:ext cx="73152" cy="3474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1463040"/>
            <a:ext cx="941832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"Hoeveel van dat herstelwerk zit in dat ene koppelvlak?"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463040" y="5120640"/>
            <a:ext cx="9418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— de financieel directeur, deel 2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Het logboek</a:t>
            </a:r>
            <a:endParaRPr lang="en-US" sz="2400" dirty="0"/>
          </a:p>
        </p:txBody>
      </p:sp>
      <p:pic>
        <p:nvPicPr>
          <p:cNvPr id="3" name="Image 0" descr="C:\Projecten\eductus-trainingen\BTABOK\figuren\figuur-3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3-1 — negen incidenten, vier hard, vijf een vraagteken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Wachten tot de cijfers compleet zijn?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Of nu al iets zeggen op basis van wat er is?</a:t>
            </a:r>
            <a:endParaRPr lang="en-US" sz="1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Observatie O3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Elk voorstel strandt op kosten en baten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Haar antwoord: steevast kwalitatief ("minder risico")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Dit is de normale toestand van architectuurwerk — niet de uitzondering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2. Waarderen is geen rekenen</a:t>
            </a:r>
            <a:endParaRPr lang="en-US" sz="3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Drie regels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Scheid wat je weet van wat je aanneemt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Geef een bandbreedte, geen punt — "30.000" is verzonnen precisie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Vermeld wat de schatting zou verscherpen — en wat dat kost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3. Het waarderingsblad</a:t>
            </a:r>
            <a:endParaRPr lang="en-US" sz="3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Vijf stappen</a:t>
            </a:r>
            <a:endParaRPr lang="en-US" sz="2400" dirty="0"/>
          </a:p>
        </p:txBody>
      </p:sp>
      <p:pic>
        <p:nvPicPr>
          <p:cNvPr id="3" name="Image 0" descr="C:\Projecten\eductus-trainingen\BTABOK\figuren\figuur-3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3-2 — stroomschema basislijn → bandbreedte → investering → terugverdientijd ongunstig → wat de onzekerheid wegneemt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Reken altijd het ongunstigste scenario door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Nooit alleen het optimistische</a:t>
            </a:r>
            <a:endParaRPr lang="en-US" sz="1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1 — Basislijn en bandbreedte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15 minuten, individueel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Eigen voorbeeld · wat weet je zeker, wat is bandbreedte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Benoem de aanname tussen laag en hoog expliciet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4. Vier soorten investeringen</a:t>
            </a:r>
            <a:endParaRPr lang="en-US" sz="3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Niet alles is terugverdientijd</a:t>
            </a:r>
            <a:endParaRPr lang="en-US" sz="26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Type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Waardeer op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Renderend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terugverdientijd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Beschermend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kans × impact vs. kosten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Verplicht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deadline + goedkoopste compliant route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Optiescheppend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kosten optie open houden vs. verlies als ze ontbreekt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Twee van de vier typen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worden systematisch afgekeurd door de verkeerde vraag</a:t>
            </a:r>
            <a:endParaRPr lang="en-US" sz="1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2 — Acht voorstellen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20 minuten, tweetallen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Wijs elk toe aan een type · welke waarderingslogica hoort erbij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Welke twee typen krijgen bij jullie ten onrechte de terugverdienvraag?</a:t>
            </a:r>
            <a:endParaRPr lang="en-US" sz="16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5. Eis, wens of beperking</a:t>
            </a:r>
            <a:endParaRPr lang="en-US" sz="36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schaptoets</a:t>
            </a:r>
            <a:endParaRPr lang="en-US" sz="26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3688080"/>
                <a:gridCol w="3688080"/>
                <a:gridCol w="36880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Schrap je het →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Bron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Eis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resultaat ongeldig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wie stelde dit vast, waar staat het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Wens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resultaat minder goed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voorkeur, geen doorzettingsmacht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Beperking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resultaat verboden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welke externe partij legt dit op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Voelt hetzelfde, is het niet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"Uitkering op tijd" → eis, wettelijk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"Moderne gebruikerservaring" → wens, geen meetbare drempel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Het onderscheid zit in de herkomstvraag — niet in hoe dwingend het klinkt</a:t>
            </a:r>
            <a:endParaRPr lang="en-US" sz="16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3 — Eis, wens of beperking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15 minuten, individueel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Acht zinnen uit een projectdocument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Pas de schaptoets toe op elke zin</a:t>
            </a:r>
            <a:endParaRPr lang="en-US" sz="16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6. Compliance als ontwerpinput</a:t>
            </a:r>
            <a:endParaRPr lang="en-US" sz="36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Twee tijdlijnen</a:t>
            </a:r>
            <a:endParaRPr lang="en-US" sz="2400" dirty="0"/>
          </a:p>
        </p:txBody>
      </p:sp>
      <p:pic>
        <p:nvPicPr>
          <p:cNvPr id="3" name="Image 0" descr="C:\Projecten\eductus-trainingen\BTABOK\figuren\figuur-3-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3-4 — compliance achteraf getoetst vs. compliance vooraf als ontwerpinput</a:t>
            </a:r>
            <a:endParaRPr lang="en-US" sz="13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Drie vragen die het omdraaien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Welke eis volgt hieruit, letterlijk?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Wat is de goedkoopste manier om te voldoen?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Wat is de ondergrens die niet mag zakken — ook niet onder tijdsdruk?</a:t>
            </a:r>
            <a:endParaRPr lang="en-US" sz="16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4 — Compliance vooraf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20 minuten, groepen van 3-4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Eigen compliance-eis · drie vragen beantwoorden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Wat sneuvelt het eerst als de planning knelt?</a:t>
            </a:r>
            <a:endParaRPr lang="en-US" sz="16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7. Risico: kans én impact</a:t>
            </a:r>
            <a:endParaRPr lang="en-US" sz="36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matrix</a:t>
            </a:r>
            <a:endParaRPr lang="en-US" sz="2400" dirty="0"/>
          </a:p>
        </p:txBody>
      </p:sp>
      <p:pic>
        <p:nvPicPr>
          <p:cNvPr id="3" name="Image 0" descr="C:\Projecten\eductus-trainingen\BTABOK\figuren\figuur-3-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3-5 — kans × impact, vier kwadranten</a:t>
            </a:r>
            <a:endParaRPr lang="en-US" sz="13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"Groot risico" zegt niets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Is de kans groot, of de impact?</a:t>
            </a:r>
            <a:endParaRPr lang="en-US" sz="1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Claudette's koppelvlak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Kans: aannemelijk hoog — eens per zes weken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Impact: potentieel hoog — deelnemer merkt de fout niet zelf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Dat kwadrant duldt geen "volgend kwartaal wel"</a:t>
            </a:r>
            <a:endParaRPr lang="en-US" sz="16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5 — Zes situaties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15 minuten, individueel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Plaats elk in de matrix · benoem de reactie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Let op: lage kans + hoge impact wordt structureel onderschat</a:t>
            </a:r>
            <a:endParaRPr lang="en-US" sz="16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8. Terug naar het MT</a:t>
            </a:r>
            <a:endParaRPr lang="en-US" sz="36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" y="1463040"/>
            <a:ext cx="73152" cy="3474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1463040"/>
            <a:ext cx="941832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"Vier verstoringen zijn zeker aan dit koppelvlak toe te schrijven — 18.000 euro per jaar. Als de vijf onbekende gevallen erbij horen, loopt dat op tot 45.000. Ik kan dat verschil in twee dagen wegnemen."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463040" y="5120640"/>
            <a:ext cx="9418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— Claudette, tweede poging</a:t>
            </a:r>
            <a:endParaRPr lang="en-US" sz="16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O3 gesloten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Niet méér cijfers — onzekerheid zichtbaar gemaakt in plaats van verborgen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Weet van aanname gescheiden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Bandbreedte met een reden om hem te versmallen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Kans en impact apart benoemd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FD keurt de twee dagen analyse goed — niet de reparatie. Precies het juiste besluit op het juiste moment</a:t>
            </a:r>
            <a:endParaRPr lang="en-US" sz="16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Volgende keer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Deel 4 — Human Dynamics I: stakeholders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Claudette had gelijk over het koppelvlak. Haar bezwaar haalde de notulen niet. Dat wordt O4.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34</Slides>
  <Notes>34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2026-08-17T16:41:10Z</dcterms:created>
  <dcterms:modified xsi:type="dcterms:W3CDTF">2026-08-17T16:41:10Z</dcterms:modified>
</cp:coreProperties>
</file>