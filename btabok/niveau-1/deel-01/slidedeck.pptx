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beroep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1 — BTABoK niveau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Ductus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Vanmorgen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Meridiaan en Claudette — zeven observaties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is architectuur volgens Iasa?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Beroep of rol?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Vijf pijlers, vijf specialisaties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opbouw van de BoK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Ethiek en principes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 de BTABoK staat tussen wat je al kent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certificeringspad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1. De casus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Claudette Vermeer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33, zeven jaar softwareleverancier, laatste drie als lead developer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Vier maanden Solution Architect bij Meridiaan Pensioen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Functieprofiel: drie A4, waarvan anderhalf technologie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Rest: "verbindt business en IT", "bewaakt de architectuurkaders"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maanden</a:t>
            </a:r>
            <a:endParaRPr lang="en-US" sz="2400" dirty="0"/>
          </a:p>
        </p:txBody>
      </p:sp>
      <p:pic>
        <p:nvPicPr>
          <p:cNvPr id="3" name="Image 0" descr="C:\Projecten\eductus-trainingen\BTABOK\figuren\figuur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1-1 — tijdlijn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Onderschrift: van indiensttreding tot assessmentgesprek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er gebeurde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Portefeuilleraad — zit erbij, wordt niets gevraagd; bezwaar niet in de notulen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pagina's over de integratielaag — drie reacties, alle drie van ontwikkelaars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"De rem" — aldus de manager Klantbediening. Niet kwaad bedoeld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"Wat levert dat op?" — geen antwoord voorbij "minder risico"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zeven observaties van de CIO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O1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Niemand kan uitleggen waarvoor Claudette aan tafel zit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O2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Kent het verdienmodel van Meridiaan niet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O3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Elk voorstel strandt op kosten en baten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O4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Wordt ervaren als obstakel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O5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Documenten worden niet gelezen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O6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spoor van waarom besluiten genomen zijn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Kwaliteitseisen komen pas in productie boven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Zes van de zeven gaan niet over techniek</a:t>
            </a:r>
            <a:endParaRPr lang="en-US" sz="3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2. Wat is architectuur?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"De kunst en de wetenschap van het ontwerpen en leveren van waardevolle technologiestrategie"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Iasa Global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woorden dragen die zin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Waardevolle — architectuur gaat over waardelevering, niet systeemlevering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systeem dat werkt maar niets oplevert: werk niet gedaan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Strategie — je werkt waar keuzes nog open zijn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Kom je pas als de keuze vastligt, dan ben je toetser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Wat een architect níet is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verzameling technologieën — tools, stijlen en platformen zijn geen competenties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functietitel — je wordt herkend aan wat je weet en doet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manager — boven een bepaald schaalniveau houd je het proactieve werk niet vast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3. Beroep, geen rol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verschil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Functie: je werkgever bepaalt of je bekwaam bent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Professie: de beroepsgroep bepaalt dat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arts wordt geen arts doordat het ziekenhuis dat vindt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maatstaf is extern, gedeeld en draagbaar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overtuigingen uit het manifest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Architectuur is een professie met een eigen body of knowledge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Kennis verwerf je door meesterschap: opleiding én praktijk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Meesterschap toon je aan met examen én peer review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professional is ethisch én juridisch verantwoordelijk voor de uitkomst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1 — Jouw ene zin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minuten, individueel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Eén zin, max. 40 woorden: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waarde in plaats van activiteiten · geen technologie · navertelbaar door je directie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Daarna: drie dingen die je deed die er niet onder vallen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4. Vijf pijlers, vijf specialisaties</a:t>
            </a:r>
            <a:endParaRPr lang="en-US" sz="3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competentiemodel</a:t>
            </a:r>
            <a:endParaRPr lang="en-US" sz="2400" dirty="0"/>
          </a:p>
        </p:txBody>
      </p:sp>
      <p:pic>
        <p:nvPicPr>
          <p:cNvPr id="3" name="Image 0" descr="C:\Projecten\eductus-trainingen\BTABOK\figuren\figuur-1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1-2 — vijf pijlers als fundament, vijf specialisaties erop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vijf kernpijlers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5532120"/>
                <a:gridCol w="5532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Pijler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#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Business Technology Strategy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Human Dynamics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Design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9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IT Environment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Quality Attributes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specialisaties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· Information · Infrastructure · Software · Solution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Gedefinieerd door extra competenties — niet door rol, titel of afdeling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 bent geen informatiearchitect omdat je bij het datateam zit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2 van deze cursus: Solution volledig, de andere vier als delta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Human Dynamics staat op gelijke voet met Design</a:t>
            </a:r>
            <a:endParaRPr lang="en-US" sz="3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3 — Observaties naar pijlers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minuten, tweetallen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Wijs O1 t/m O7 toe aan een primaire en een secundaire pijler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 daarna de primaire toewijzingen. Welke pijler wint?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5. De opbouw van de BoK</a:t>
            </a:r>
            <a:endParaRPr lang="en-US" sz="3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bouwstukken</a:t>
            </a:r>
            <a:endParaRPr lang="en-US" sz="2400" dirty="0"/>
          </a:p>
        </p:txBody>
      </p:sp>
      <p:pic>
        <p:nvPicPr>
          <p:cNvPr id="3" name="Image 0" descr="C:\Projecten\eductus-trainingen\BTABOK\figuren\figuur-1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1345" y="1234440"/>
            <a:ext cx="6238830" cy="4160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Figuur 1-3 — bouwstukken met de cursusdelen erin gemerkt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Waar we ze tegenkomen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Competentiemodel — deel 2-9, 21, 23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Engagement model — deel 11-14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Value model — deel 15-16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Operating model — deel 17-19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People model &amp; practice — deel 20, 23-24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Plus: topic areas (deel 25) en 75+ canvases (doorlopend)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Minimum viable architecture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05840" y="3749040"/>
            <a:ext cx="10149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kleinste documentatieset die het besluit draagt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6. Ethiek en principes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Twee verschillende dingen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Ethiek — leidende waarden voor klant en markt → naar buiten gericht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Principes — interne regels voor hoe je tot oplossingen komt → naar binnen gericht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Aanleiding: producten haastig naar de markt, waarborgen later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architect ziet het vooraf aankomen. Dat schept een verplichting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Code of Standards — vier canons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Canon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Jegens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Kern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het vak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bekwaam blijven, onafhankelijk oordelen, gevolgen wegen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II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opdrachtgever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niet misleiden, geen verborgen belangen, vertrouwelijkheid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III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beroepsgroep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geen valse claims, niet tekenen zonder zeggenschap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IV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collega's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begeleiden en krediet geven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463040"/>
            <a:ext cx="73152" cy="3474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463040" y="1463040"/>
            <a:ext cx="9418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"Eerst wat goed is voor de klant. Dan wat goed is voor het bedrijf als geheel. Ten slotte wat goed is voor onze eigen werkgroep."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463040" y="5120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architecten bij een vliegtuigbouwer, uit de BTABoK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Vier professionele tenets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Just-in-time architecture — beslis op het laatst verantwoorde moment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Bouw dingen, bestuur geen dingen — architectuur is scheppend, geen toezicht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Versterk partnerrollen — geen concurrentie met andere professionals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klant is nooit intern — anders blijf je orderopnemer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Opdracht 6 — De vertraagde melding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minuten, groepen van vier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Welke canons raken dit? · Wat moet, mag en mag niet? · Maakt anciënniteit verschil?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Schrijf de melding — max. 150 woorden</a:t>
            </a:r>
            <a:endParaRPr lang="en-US" sz="1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7. Waar de BTABoK staat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Vijf instrumenten, vijf vragen</a:t>
            </a:r>
            <a:endParaRPr lang="en-US" sz="2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Beantwoordt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Eenheid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TOGAF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richt ik het proces in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organisatie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ArchiMate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leg ik het vast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BIZBOK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beschrijf ik de business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onderneming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iSAQB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hoe ontwerp ik een systeem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systeem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BTABoK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wat moet de architect kunnen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 persoon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concurrent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BoK vervangt frameworks niet — hij maakt ze werkbaar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Toolneutraal per principe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 het wél botst: "bestuur geen dingen" versus het architectuurgremium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meningsverschil lossen we niet op. We werken het uit in deel 19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3246120"/>
            <a:ext cx="118872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8. Het certificeringspad</a:t>
            </a:r>
            <a:endParaRPr lang="en-US" sz="3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CITA-trap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Toetsvorm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Ervaring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kennisexamen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instroom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scenario-examen, één specialisatie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3-5 jaar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board van een uur + dossier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5+ jaar, diepte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CITA-P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boardinterview + uitgebreid dossier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8-10 jaar, breedte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CITA-D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hoogste board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loopbaan + bijdrage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828800"/>
            <a:ext cx="73152" cy="30175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828800"/>
            <a:ext cx="101498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Vanaf CITA-S win je met bewijs, niet met kennis</a:t>
            </a:r>
            <a:endParaRPr lang="en-US" sz="3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Drie draden door dertig delen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Titel is geen competentie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Waarde is een bewering die je moet kunnen dragen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Minimum viable architecture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O1 gesloten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fout in het profiel: technologie is geen competentie → het beschrijft een ontwikkelaar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fout in de verwachting: geen niveau per pijler, geen specialisatie benoemd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ontbrekende zin: technologiestrategie omzetten in aantoonbare waarde, en de besluiten daarover navolgbaar maken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Volgende keer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 — Business Technology Strategy 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Claudette moet uitleggen hoe Meridiaan geld verdient. Dat wordt O2.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2026-08-17T16:44:34Z</dcterms:created>
  <dcterms:modified xsi:type="dcterms:W3CDTF">2026-08-17T16:44:34Z</dcterms:modified>
</cp:coreProperties>
</file>