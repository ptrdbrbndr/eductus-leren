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</p:sldIdLst>
  <p:notesMasterIdLst>
    <p:notesMasterId r:id="rId38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notesMaster" Target="notesMasters/notesMaster1.xml"/><Relationship Id="rId39" Type="http://schemas.openxmlformats.org/officeDocument/2006/relationships/presProps" Target="presProps.xml"/><Relationship Id="rId40" Type="http://schemas.openxmlformats.org/officeDocument/2006/relationships/viewProps" Target="viewProps.xml"/><Relationship Id="rId41" Type="http://schemas.openxmlformats.org/officeDocument/2006/relationships/theme" Target="theme/theme1.xml"/><Relationship Id="rId4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21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3017520"/>
            <a:ext cx="137160" cy="1463040"/>
          </a:xfrm>
          <a:prstGeom prst="rect">
            <a:avLst/>
          </a:prstGeom>
          <a:solidFill>
            <a:srgbClr val="E9A13B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2286000"/>
            <a:ext cx="108813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Business Technology Strategy I</a:t>
            </a:r>
            <a:endParaRPr lang="en-US" sz="4200" dirty="0"/>
          </a:p>
        </p:txBody>
      </p:sp>
      <p:sp>
        <p:nvSpPr>
          <p:cNvPr id="4" name="Text 2"/>
          <p:cNvSpPr/>
          <p:nvPr/>
        </p:nvSpPr>
        <p:spPr>
          <a:xfrm>
            <a:off x="640080" y="3383280"/>
            <a:ext cx="10881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CADCFC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Deel 2 — hoe verdient dit bedrijf geld?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640080" y="4297680"/>
            <a:ext cx="1088136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55606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Ductus</a:t>
            </a:r>
            <a:endParaRPr lang="en-US" sz="15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B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4213D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Vanmorgen</a:t>
            </a:r>
            <a:endParaRPr lang="en-US" sz="2700" dirty="0"/>
          </a:p>
        </p:txBody>
      </p:sp>
      <p:sp>
        <p:nvSpPr>
          <p:cNvPr id="3" name="Shape 1"/>
          <p:cNvSpPr/>
          <p:nvPr/>
        </p:nvSpPr>
        <p:spPr>
          <a:xfrm>
            <a:off x="548640" y="1143000"/>
            <a:ext cx="1005840" cy="45720"/>
          </a:xfrm>
          <a:prstGeom prst="rect">
            <a:avLst/>
          </a:prstGeom>
          <a:solidFill>
            <a:srgbClr val="E9A13B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417320"/>
            <a:ext cx="10698480" cy="4617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De opdracht die Claudette krijgt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De vier vragen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Het verdienmodelblad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Meridiaan uitgewerkt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Industrieanalyse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Van verdienmodel naar architectuurgevolg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Waar de grens ligt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421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3246120"/>
            <a:ext cx="1188720" cy="54864"/>
          </a:xfrm>
          <a:prstGeom prst="rect">
            <a:avLst/>
          </a:prstGeom>
          <a:solidFill>
            <a:srgbClr val="E9A13B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2651760"/>
            <a:ext cx="1088136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1. De opdracht</a:t>
            </a:r>
            <a:endParaRPr lang="en-US" sz="3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B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97280" y="1463040"/>
            <a:ext cx="73152" cy="3474720"/>
          </a:xfrm>
          <a:prstGeom prst="rect">
            <a:avLst/>
          </a:prstGeom>
          <a:solidFill>
            <a:srgbClr val="E9A13B"/>
          </a:solidFill>
          <a:ln/>
        </p:spPr>
      </p:sp>
      <p:sp>
        <p:nvSpPr>
          <p:cNvPr id="3" name="Text 1"/>
          <p:cNvSpPr/>
          <p:nvPr/>
        </p:nvSpPr>
        <p:spPr>
          <a:xfrm>
            <a:off x="1463040" y="1463040"/>
            <a:ext cx="9418320" cy="3474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i="1" dirty="0">
                <a:solidFill>
                  <a:srgbClr val="14213D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"Over drie weken heb je twintig minuten in het MT. Je legt uit hoe Meridiaan geld verdient. Geen slide over systemen."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1463040" y="5120640"/>
            <a:ext cx="94183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5606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— Bart Hoekstra, CIO</a:t>
            </a:r>
            <a:endParaRPr lang="en-US" sz="16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B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4213D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Twee onverenigbare beelden</a:t>
            </a:r>
            <a:endParaRPr lang="en-US" sz="2400" dirty="0"/>
          </a:p>
        </p:txBody>
      </p:sp>
      <p:pic>
        <p:nvPicPr>
          <p:cNvPr id="3" name="Image 0" descr="C:\Projecten\eductus-trainingen\BTABOK\figuren\figuur-2-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961345" y="1234440"/>
            <a:ext cx="6238830" cy="416052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822960" y="548640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55606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Figuur 2-1 — systeemlandschap naast geldstroom</a:t>
            </a:r>
            <a:endParaRPr lang="en-US" sz="1300" dirty="0"/>
          </a:p>
        </p:txBody>
      </p:sp>
      <p:sp>
        <p:nvSpPr>
          <p:cNvPr id="5" name="Text 2"/>
          <p:cNvSpPr/>
          <p:nvPr/>
        </p:nvSpPr>
        <p:spPr>
          <a:xfrm>
            <a:off x="822960" y="594360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5606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Zelfde organisatie, twee verhalen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421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1828800"/>
            <a:ext cx="73152" cy="3017520"/>
          </a:xfrm>
          <a:prstGeom prst="rect">
            <a:avLst/>
          </a:prstGeom>
          <a:solidFill>
            <a:srgbClr val="E9A13B"/>
          </a:solidFill>
          <a:ln/>
        </p:spPr>
      </p:sp>
      <p:sp>
        <p:nvSpPr>
          <p:cNvPr id="3" name="Text 1"/>
          <p:cNvSpPr/>
          <p:nvPr/>
        </p:nvSpPr>
        <p:spPr>
          <a:xfrm>
            <a:off x="1005840" y="1828800"/>
            <a:ext cx="10149840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"Je hebt me verteld hoe het werkt.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1005840" y="3749040"/>
            <a:ext cx="1014984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900" dirty="0">
                <a:solidFill>
                  <a:srgbClr val="CADCFC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Ik vroeg hoe het betaalt."</a:t>
            </a:r>
            <a:endParaRPr lang="en-US" sz="1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B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4213D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Observatie O2</a:t>
            </a:r>
            <a:endParaRPr lang="en-US" sz="2700" dirty="0"/>
          </a:p>
        </p:txBody>
      </p:sp>
      <p:sp>
        <p:nvSpPr>
          <p:cNvPr id="3" name="Shape 1"/>
          <p:cNvSpPr/>
          <p:nvPr/>
        </p:nvSpPr>
        <p:spPr>
          <a:xfrm>
            <a:off x="548640" y="1143000"/>
            <a:ext cx="1005840" cy="45720"/>
          </a:xfrm>
          <a:prstGeom prst="rect">
            <a:avLst/>
          </a:prstGeom>
          <a:solidFill>
            <a:srgbClr val="E9A13B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417320"/>
            <a:ext cx="10698480" cy="4617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Claudette kan niet uitleggen hoe Meridiaan geld verdient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Ze kent de markt niet waarin het opereert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Ze weet niet waar de vergunning knelt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Gevolg: elk voorstel dat ze doet, kan niemand wegen</a:t>
            </a:r>
            <a:endParaRPr lang="en-US" sz="16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421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3246120"/>
            <a:ext cx="1188720" cy="54864"/>
          </a:xfrm>
          <a:prstGeom prst="rect">
            <a:avLst/>
          </a:prstGeom>
          <a:solidFill>
            <a:srgbClr val="E9A13B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2651760"/>
            <a:ext cx="1088136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2. De vier vragen</a:t>
            </a:r>
            <a:endParaRPr lang="en-US" sz="36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B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4213D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Zonder opzoeken te beantwoorden</a:t>
            </a:r>
            <a:endParaRPr lang="en-US" sz="26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234440"/>
          <a:ext cx="11064240" cy="914400"/>
        </p:xfrm>
        <a:graphic>
          <a:graphicData uri="http://schemas.openxmlformats.org/drawingml/2006/table">
            <a:tbl>
              <a:tblPr/>
              <a:tblGrid>
                <a:gridCol w="5532120"/>
                <a:gridCol w="5532120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3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Vraag</a:t>
                      </a:r>
                      <a:endParaRPr lang="en-US" sz="13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1</a:t>
                      </a:r>
                      <a:endParaRPr lang="en-US" sz="13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A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Wie betaalt ons, en waarvoor precies?</a:t>
                      </a:r>
                      <a:endParaRPr lang="en-US" sz="13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AF7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2</a:t>
                      </a:r>
                      <a:endParaRPr lang="en-US" sz="13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2E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In welke eenheid meten we dat?</a:t>
                      </a:r>
                      <a:endParaRPr lang="en-US" sz="13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2EC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3</a:t>
                      </a:r>
                      <a:endParaRPr lang="en-US" sz="13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A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Waar zit onze kostenstructuur?</a:t>
                      </a:r>
                      <a:endParaRPr lang="en-US" sz="13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AF7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4</a:t>
                      </a:r>
                      <a:endParaRPr lang="en-US" sz="13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2E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Wat mogen we niet, en van wie niet?</a:t>
                      </a:r>
                      <a:endParaRPr lang="en-US" sz="13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2EC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421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1828800"/>
            <a:ext cx="73152" cy="3017520"/>
          </a:xfrm>
          <a:prstGeom prst="rect">
            <a:avLst/>
          </a:prstGeom>
          <a:solidFill>
            <a:srgbClr val="E9A13B"/>
          </a:solidFill>
          <a:ln/>
        </p:spPr>
      </p:sp>
      <p:sp>
        <p:nvSpPr>
          <p:cNvPr id="3" name="Text 1"/>
          <p:cNvSpPr/>
          <p:nvPr/>
        </p:nvSpPr>
        <p:spPr>
          <a:xfrm>
            <a:off x="1005840" y="1828800"/>
            <a:ext cx="10149840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Vraag 2 is de belangrijkste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1005840" y="3749040"/>
            <a:ext cx="1014984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900" dirty="0">
                <a:solidFill>
                  <a:srgbClr val="CADCFC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en wordt het vaakst overgeslagen</a:t>
            </a:r>
            <a:endParaRPr lang="en-US" sz="1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B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4213D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De eenheid van waarde</a:t>
            </a:r>
            <a:endParaRPr lang="en-US" sz="2700" dirty="0"/>
          </a:p>
        </p:txBody>
      </p:sp>
      <p:sp>
        <p:nvSpPr>
          <p:cNvPr id="3" name="Shape 1"/>
          <p:cNvSpPr/>
          <p:nvPr/>
        </p:nvSpPr>
        <p:spPr>
          <a:xfrm>
            <a:off x="548640" y="1143000"/>
            <a:ext cx="1005840" cy="45720"/>
          </a:xfrm>
          <a:prstGeom prst="rect">
            <a:avLst/>
          </a:prstGeom>
          <a:solidFill>
            <a:srgbClr val="E9A13B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417320"/>
            <a:ext cx="10698480" cy="4617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Per transactie · per klant per maand · per behandeling · per geleverd uur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Bij Meridiaan: uitvoeringskosten per deelnemer per jaar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Wie de eenheid niet kent, kan geen weegbaar voorstel doen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"Minder risico" is geen eenheid</a:t>
            </a:r>
            <a:endParaRPr lang="en-US" sz="16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421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3246120"/>
            <a:ext cx="1188720" cy="54864"/>
          </a:xfrm>
          <a:prstGeom prst="rect">
            <a:avLst/>
          </a:prstGeom>
          <a:solidFill>
            <a:srgbClr val="E9A13B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2651760"/>
            <a:ext cx="1088136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3. Het verdienmodelblad</a:t>
            </a:r>
            <a:endParaRPr lang="en-US" sz="36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B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4213D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Negen vakken</a:t>
            </a:r>
            <a:endParaRPr lang="en-US" sz="2600" dirty="0"/>
          </a:p>
        </p:txBody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234440"/>
          <a:ext cx="11064240" cy="914400"/>
        </p:xfrm>
        <a:graphic>
          <a:graphicData uri="http://schemas.openxmlformats.org/drawingml/2006/table">
            <a:tbl>
              <a:tblPr/>
              <a:tblGrid>
                <a:gridCol w="5532120"/>
                <a:gridCol w="5532120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Waardebelofte</a:t>
                      </a:r>
                      <a:endParaRPr lang="en-US" sz="13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wat lost dit op, voor wie</a:t>
                      </a:r>
                      <a:endParaRPr lang="en-US" sz="13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Klant</a:t>
                      </a:r>
                      <a:endParaRPr lang="en-US" sz="13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A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wie betaalt</a:t>
                      </a:r>
                      <a:endParaRPr lang="en-US" sz="13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AF7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Gebruiker</a:t>
                      </a:r>
                      <a:endParaRPr lang="en-US" sz="13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2E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wie gebruikt</a:t>
                      </a:r>
                      <a:endParaRPr lang="en-US" sz="13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2EC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Opdrachtgever</a:t>
                      </a:r>
                      <a:endParaRPr lang="en-US" sz="13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A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wie besluit tot afname</a:t>
                      </a:r>
                      <a:endParaRPr lang="en-US" sz="13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AF7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Inkomsten</a:t>
                      </a:r>
                      <a:endParaRPr lang="en-US" sz="13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2E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welke stromen, welke eenheid</a:t>
                      </a:r>
                      <a:endParaRPr lang="en-US" sz="13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2EC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Kernactiviteiten</a:t>
                      </a:r>
                      <a:endParaRPr lang="en-US" sz="13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A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wat moeten we zelf kunnen</a:t>
                      </a:r>
                      <a:endParaRPr lang="en-US" sz="13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AF7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Kernmiddelen</a:t>
                      </a:r>
                      <a:endParaRPr lang="en-US" sz="13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2E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mensen, data, vergunningen</a:t>
                      </a:r>
                      <a:endParaRPr lang="en-US" sz="13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2EC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Kostenstructuur</a:t>
                      </a:r>
                      <a:endParaRPr lang="en-US" sz="13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A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vast versus meeschalend</a:t>
                      </a:r>
                      <a:endParaRPr lang="en-US" sz="13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AF7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Beperkingen</a:t>
                      </a:r>
                      <a:endParaRPr lang="en-US" sz="13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2E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wat mag niet, van wie</a:t>
                      </a:r>
                      <a:endParaRPr lang="en-US" sz="13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2EC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B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4213D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Drie vakken die het verschil maken</a:t>
            </a:r>
            <a:endParaRPr lang="en-US" sz="2700" dirty="0"/>
          </a:p>
        </p:txBody>
      </p:sp>
      <p:sp>
        <p:nvSpPr>
          <p:cNvPr id="3" name="Shape 1"/>
          <p:cNvSpPr/>
          <p:nvPr/>
        </p:nvSpPr>
        <p:spPr>
          <a:xfrm>
            <a:off x="548640" y="1143000"/>
            <a:ext cx="1005840" cy="45720"/>
          </a:xfrm>
          <a:prstGeom prst="rect">
            <a:avLst/>
          </a:prstGeom>
          <a:solidFill>
            <a:srgbClr val="E9A13B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417320"/>
            <a:ext cx="10698480" cy="4617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Klant, gebruiker, opdrachtgever — vallen ze samen?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Zo ja: eenvoudige wereld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Zo nee: dat verklaart het merendeel van de politieke wrijving in je werk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Bij Meridiaan zijn het drie verschillende partijen</a:t>
            </a:r>
            <a:endParaRPr lang="en-US" sz="16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421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3246120"/>
            <a:ext cx="1188720" cy="54864"/>
          </a:xfrm>
          <a:prstGeom prst="rect">
            <a:avLst/>
          </a:prstGeom>
          <a:solidFill>
            <a:srgbClr val="E9A13B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2651760"/>
            <a:ext cx="1088136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4. Meridiaan uitgewerkt</a:t>
            </a:r>
            <a:endParaRPr lang="en-US" sz="36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B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4213D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Het blad van Meridiaan</a:t>
            </a:r>
            <a:endParaRPr lang="en-US" sz="2400" dirty="0"/>
          </a:p>
        </p:txBody>
      </p:sp>
      <p:pic>
        <p:nvPicPr>
          <p:cNvPr id="3" name="Image 0" descr="C:\Projecten\eductus-trainingen\BTABOK\figuren\figuur-2-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961345" y="1234440"/>
            <a:ext cx="6238830" cy="416052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822960" y="548640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55606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Figuur 2-2 — negen gevulde vakken</a:t>
            </a:r>
            <a:endParaRPr lang="en-US" sz="13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B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4213D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De kern van het model</a:t>
            </a:r>
            <a:endParaRPr lang="en-US" sz="2700" dirty="0"/>
          </a:p>
        </p:txBody>
      </p:sp>
      <p:sp>
        <p:nvSpPr>
          <p:cNvPr id="3" name="Shape 1"/>
          <p:cNvSpPr/>
          <p:nvPr/>
        </p:nvSpPr>
        <p:spPr>
          <a:xfrm>
            <a:off x="548640" y="1143000"/>
            <a:ext cx="1005840" cy="45720"/>
          </a:xfrm>
          <a:prstGeom prst="rect">
            <a:avLst/>
          </a:prstGeom>
          <a:solidFill>
            <a:srgbClr val="E9A13B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417320"/>
            <a:ext cx="10698480" cy="4617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Klant: zeven fondsen — twee daarvan zijn 60% van de omzet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Gebruiker: de deelnemer; betaalt niet, kiest niet, kan niet weg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Inkomsten: vergoeding per deelnemer per jaar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Kosten: vrijwel volledig vast — één deelnemer extra kost bijna niets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Dus: schaal is het hele spel</a:t>
            </a:r>
            <a:endParaRPr lang="en-US" sz="16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B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4213D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Claudette's afgewezen verzoek — opnieuw</a:t>
            </a:r>
            <a:endParaRPr lang="en-US" sz="2700" dirty="0"/>
          </a:p>
        </p:txBody>
      </p:sp>
      <p:sp>
        <p:nvSpPr>
          <p:cNvPr id="3" name="Shape 1"/>
          <p:cNvSpPr/>
          <p:nvPr/>
        </p:nvSpPr>
        <p:spPr>
          <a:xfrm>
            <a:off x="548640" y="1143000"/>
            <a:ext cx="1005840" cy="45720"/>
          </a:xfrm>
          <a:prstGeom prst="rect">
            <a:avLst/>
          </a:prstGeom>
          <a:solidFill>
            <a:srgbClr val="E9A13B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417320"/>
            <a:ext cx="10698480" cy="4617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Verstoring raakt de uitkeringsstraat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Uitkeringsfouten → herstelwerk → handwerk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Handwerk is de grootste variabele post in een vaste kostenstructuur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Drukt dus op de uitvoeringskosten per deelnemer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Bij toezicht: een bekende, niet-verholpen fout is geen technische kwestie</a:t>
            </a:r>
            <a:endParaRPr lang="en-US" sz="16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1421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1828800"/>
            <a:ext cx="73152" cy="3017520"/>
          </a:xfrm>
          <a:prstGeom prst="rect">
            <a:avLst/>
          </a:prstGeom>
          <a:solidFill>
            <a:srgbClr val="E9A13B"/>
          </a:solidFill>
          <a:ln/>
        </p:spPr>
      </p:sp>
      <p:sp>
        <p:nvSpPr>
          <p:cNvPr id="3" name="Text 1"/>
          <p:cNvSpPr/>
          <p:nvPr/>
        </p:nvSpPr>
        <p:spPr>
          <a:xfrm>
            <a:off x="1005840" y="1828800"/>
            <a:ext cx="10149840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Hetzelfde voorstel.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1005840" y="3749040"/>
            <a:ext cx="1014984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900" dirty="0">
                <a:solidFill>
                  <a:srgbClr val="CADCFC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Nu in de eenheid waarin het gewogen kan worden.</a:t>
            </a:r>
            <a:endParaRPr lang="en-US" sz="19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B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4213D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Opdracht 2 — Je eigen blad</a:t>
            </a:r>
            <a:endParaRPr lang="en-US" sz="2700" dirty="0"/>
          </a:p>
        </p:txBody>
      </p:sp>
      <p:sp>
        <p:nvSpPr>
          <p:cNvPr id="3" name="Shape 1"/>
          <p:cNvSpPr/>
          <p:nvPr/>
        </p:nvSpPr>
        <p:spPr>
          <a:xfrm>
            <a:off x="548640" y="1143000"/>
            <a:ext cx="1005840" cy="45720"/>
          </a:xfrm>
          <a:prstGeom prst="rect">
            <a:avLst/>
          </a:prstGeom>
          <a:solidFill>
            <a:srgbClr val="E9A13B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417320"/>
            <a:ext cx="10698480" cy="4617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30 minuten, individueel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Negen vakken · niets opzoeken · bij inkomsten hoort een eenheid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Markeer daarna wat je hebt moeten raden</a:t>
            </a:r>
            <a:endParaRPr lang="en-US" sz="16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1421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3246120"/>
            <a:ext cx="1188720" cy="54864"/>
          </a:xfrm>
          <a:prstGeom prst="rect">
            <a:avLst/>
          </a:prstGeom>
          <a:solidFill>
            <a:srgbClr val="E9A13B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2651760"/>
            <a:ext cx="1088136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5. Industrieanalyse</a:t>
            </a:r>
            <a:endParaRPr lang="en-US" sz="36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1421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1828800"/>
            <a:ext cx="73152" cy="3017520"/>
          </a:xfrm>
          <a:prstGeom prst="rect">
            <a:avLst/>
          </a:prstGeom>
          <a:solidFill>
            <a:srgbClr val="E9A13B"/>
          </a:solidFill>
          <a:ln/>
        </p:spPr>
      </p:sp>
      <p:sp>
        <p:nvSpPr>
          <p:cNvPr id="3" name="Text 1"/>
          <p:cNvSpPr/>
          <p:nvPr/>
        </p:nvSpPr>
        <p:spPr>
          <a:xfrm>
            <a:off x="1005840" y="1828800"/>
            <a:ext cx="10149840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De systemen die je nu ontwerpt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1005840" y="3749040"/>
            <a:ext cx="1014984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900" dirty="0">
                <a:solidFill>
                  <a:srgbClr val="CADCFC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moeten werken in de sector van over vijf jaar</a:t>
            </a:r>
            <a:endParaRPr lang="en-US" sz="19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B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4213D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Krachtenveld rond Meridiaan</a:t>
            </a:r>
            <a:endParaRPr lang="en-US" sz="2400" dirty="0"/>
          </a:p>
        </p:txBody>
      </p:sp>
      <p:pic>
        <p:nvPicPr>
          <p:cNvPr id="3" name="Image 0" descr="C:\Projecten\eductus-trainingen\BTABOK\figuren\figuur-2-3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961345" y="1234440"/>
            <a:ext cx="6238830" cy="416052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822960" y="548640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55606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Figuur 2-3 — vier krachten met richting en horizon</a:t>
            </a:r>
            <a:endParaRPr lang="en-US" sz="13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B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4213D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Vier krachten, vier gevolgen</a:t>
            </a:r>
            <a:endParaRPr lang="en-US" sz="2600" dirty="0"/>
          </a:p>
        </p:txBody>
      </p:sp>
      <p:graphicFrame>
        <p:nvGraphicFramePr>
          <p:cNvPr id="2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234440"/>
          <a:ext cx="11064240" cy="914400"/>
        </p:xfrm>
        <a:graphic>
          <a:graphicData uri="http://schemas.openxmlformats.org/drawingml/2006/table">
            <a:tbl>
              <a:tblPr/>
              <a:tblGrid>
                <a:gridCol w="5532120"/>
                <a:gridCol w="5532120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Kracht</a:t>
                      </a:r>
                      <a:endParaRPr lang="en-US" sz="13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Architectuurgevolg</a:t>
                      </a:r>
                      <a:endParaRPr lang="en-US" sz="13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Consolidatie van fondsen</a:t>
                      </a:r>
                      <a:endParaRPr lang="en-US" sz="13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A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fondsen aansluiten zonder maatwerk</a:t>
                      </a:r>
                      <a:endParaRPr lang="en-US" sz="13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AF7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Stelselwijziging</a:t>
                      </a:r>
                      <a:endParaRPr lang="en-US" sz="13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2E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eenmalige, onomkeerbare conversie met verantwoording</a:t>
                      </a:r>
                      <a:endParaRPr lang="en-US" sz="13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2EC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Toezichtsdruk</a:t>
                      </a:r>
                      <a:endParaRPr lang="en-US" sz="13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A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traceerbaarheid is licentievoorwaarde, geen extra</a:t>
                      </a:r>
                      <a:endParaRPr lang="en-US" sz="13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AF7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Leveranciersconcentratie</a:t>
                      </a:r>
                      <a:endParaRPr lang="en-US" sz="13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2E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afhankelijkheid is strategisch, niet inkoop</a:t>
                      </a:r>
                      <a:endParaRPr lang="en-US" sz="13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2EC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B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4213D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Waar je dit vandaan haalt</a:t>
            </a:r>
            <a:endParaRPr lang="en-US" sz="2700" dirty="0"/>
          </a:p>
        </p:txBody>
      </p:sp>
      <p:sp>
        <p:nvSpPr>
          <p:cNvPr id="3" name="Shape 1"/>
          <p:cNvSpPr/>
          <p:nvPr/>
        </p:nvSpPr>
        <p:spPr>
          <a:xfrm>
            <a:off x="548640" y="1143000"/>
            <a:ext cx="1005840" cy="45720"/>
          </a:xfrm>
          <a:prstGeom prst="rect">
            <a:avLst/>
          </a:prstGeom>
          <a:solidFill>
            <a:srgbClr val="E9A13B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417320"/>
            <a:ext cx="10698480" cy="4617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Jaarverslagen van je klanten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Publicaties van de toezichthouder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Brancheverenigingen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Het verantwoordingsorgaan van je grootste opdrachtgever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Een middag lezen levert meer op dan een jaar meevergaderen</a:t>
            </a:r>
            <a:endParaRPr lang="en-US" sz="16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B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4213D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Opdracht 4 — Je eigen sector</a:t>
            </a:r>
            <a:endParaRPr lang="en-US" sz="2700" dirty="0"/>
          </a:p>
        </p:txBody>
      </p:sp>
      <p:sp>
        <p:nvSpPr>
          <p:cNvPr id="3" name="Shape 1"/>
          <p:cNvSpPr/>
          <p:nvPr/>
        </p:nvSpPr>
        <p:spPr>
          <a:xfrm>
            <a:off x="548640" y="1143000"/>
            <a:ext cx="1005840" cy="45720"/>
          </a:xfrm>
          <a:prstGeom prst="rect">
            <a:avLst/>
          </a:prstGeom>
          <a:solidFill>
            <a:srgbClr val="E9A13B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417320"/>
            <a:ext cx="10698480" cy="4617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25 minuten, groepen van 3-4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Vier krachten · met termijn · elk gevolg als ontwerpeis, niet als zorg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"We moeten wendbaarder worden" telt niet</a:t>
            </a:r>
            <a:endParaRPr lang="en-US" sz="16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1421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3246120"/>
            <a:ext cx="1188720" cy="54864"/>
          </a:xfrm>
          <a:prstGeom prst="rect">
            <a:avLst/>
          </a:prstGeom>
          <a:solidFill>
            <a:srgbClr val="E9A13B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2651760"/>
            <a:ext cx="1088136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6. Van kenmerk naar consequentie</a:t>
            </a:r>
            <a:endParaRPr lang="en-US" sz="36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B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4213D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De ketting</a:t>
            </a:r>
            <a:endParaRPr lang="en-US" sz="2400" dirty="0"/>
          </a:p>
        </p:txBody>
      </p:sp>
      <p:pic>
        <p:nvPicPr>
          <p:cNvPr id="3" name="Image 0" descr="C:\Projecten\eductus-trainingen\BTABOK\figuren\figuur-2-4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961345" y="1234440"/>
            <a:ext cx="6238830" cy="416052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822960" y="548640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55606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Figuur 2-4 — kenmerk → economische logica → ontwerpeis → toetsbaar</a:t>
            </a:r>
            <a:endParaRPr lang="en-US" sz="13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B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4213D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Vijf afleidingen bij Meridiaan</a:t>
            </a:r>
            <a:endParaRPr lang="en-US" sz="2600" dirty="0"/>
          </a:p>
        </p:txBody>
      </p:sp>
      <p:graphicFrame>
        <p:nvGraphicFramePr>
          <p:cNvPr id="3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234440"/>
          <a:ext cx="11064240" cy="914400"/>
        </p:xfrm>
        <a:graphic>
          <a:graphicData uri="http://schemas.openxmlformats.org/drawingml/2006/table">
            <a:tbl>
              <a:tblPr/>
              <a:tblGrid>
                <a:gridCol w="5532120"/>
                <a:gridCol w="5532120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Kenmerk</a:t>
                      </a:r>
                      <a:endParaRPr lang="en-US" sz="13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Volgt uit</a:t>
                      </a:r>
                      <a:endParaRPr lang="en-US" sz="13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Nul marginale kosten</a:t>
                      </a:r>
                      <a:endParaRPr lang="en-US" sz="13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A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standaardisatie verslaat maatwerk altijd</a:t>
                      </a:r>
                      <a:endParaRPr lang="en-US" sz="13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AF7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Vergoeding per deelnemer</a:t>
                      </a:r>
                      <a:endParaRPr lang="en-US" sz="13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2E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automatiseringsgraad is de winstknop</a:t>
                      </a:r>
                      <a:endParaRPr lang="en-US" sz="13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2EC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Drie partijen</a:t>
                      </a:r>
                      <a:endParaRPr lang="en-US" sz="13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A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botsende eisen, gebruiker zonder stem</a:t>
                      </a:r>
                      <a:endParaRPr lang="en-US" sz="13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AF7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Decennia verklaarbaar</a:t>
                      </a:r>
                      <a:endParaRPr lang="en-US" sz="13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2E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overschrijven is geen optie</a:t>
                      </a:r>
                      <a:endParaRPr lang="en-US" sz="13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2EC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Contract 5-7 jaar</a:t>
                      </a:r>
                      <a:endParaRPr lang="en-US" sz="13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A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afschrijvingshorizon is contractueel</a:t>
                      </a:r>
                      <a:endParaRPr lang="en-US" sz="13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AF7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B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4213D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De fout die iedereen maakt</a:t>
            </a:r>
            <a:endParaRPr lang="en-US" sz="2700" dirty="0"/>
          </a:p>
        </p:txBody>
      </p:sp>
      <p:sp>
        <p:nvSpPr>
          <p:cNvPr id="3" name="Shape 1"/>
          <p:cNvSpPr/>
          <p:nvPr/>
        </p:nvSpPr>
        <p:spPr>
          <a:xfrm>
            <a:off x="548640" y="1143000"/>
            <a:ext cx="1005840" cy="45720"/>
          </a:xfrm>
          <a:prstGeom prst="rect">
            <a:avLst/>
          </a:prstGeom>
          <a:solidFill>
            <a:srgbClr val="E9A13B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417320"/>
            <a:ext cx="10698480" cy="4617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De middelste schakel overslaan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Van kenmerk direct naar eis springen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Dan heb je een eis zonder redenering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De economische logica wint het gesprek — niet de eis</a:t>
            </a:r>
            <a:endParaRPr lang="en-US" sz="16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B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4213D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Opdracht 5 — Drie kettingen</a:t>
            </a:r>
            <a:endParaRPr lang="en-US" sz="2700" dirty="0"/>
          </a:p>
        </p:txBody>
      </p:sp>
      <p:sp>
        <p:nvSpPr>
          <p:cNvPr id="3" name="Shape 1"/>
          <p:cNvSpPr/>
          <p:nvPr/>
        </p:nvSpPr>
        <p:spPr>
          <a:xfrm>
            <a:off x="548640" y="1143000"/>
            <a:ext cx="1005840" cy="45720"/>
          </a:xfrm>
          <a:prstGeom prst="rect">
            <a:avLst/>
          </a:prstGeom>
          <a:solidFill>
            <a:srgbClr val="E9A13B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417320"/>
            <a:ext cx="10698480" cy="4617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20 minuten, tweetallen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Neem drie kenmerken van Meridiaan · loop alle vier de schakels af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De laatste schakel moet waar of onwaar kunnen zijn</a:t>
            </a:r>
            <a:endParaRPr lang="en-US" sz="16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1421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3246120"/>
            <a:ext cx="1188720" cy="54864"/>
          </a:xfrm>
          <a:prstGeom prst="rect">
            <a:avLst/>
          </a:prstGeom>
          <a:solidFill>
            <a:srgbClr val="E9A13B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2651760"/>
            <a:ext cx="1088136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7. Waar de grens ligt</a:t>
            </a:r>
            <a:endParaRPr lang="en-US" sz="36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FB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4213D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Bedrijfskundetoerisme</a:t>
            </a:r>
            <a:endParaRPr lang="en-US" sz="2600" dirty="0"/>
          </a:p>
        </p:txBody>
      </p:sp>
      <p:graphicFrame>
        <p:nvGraphicFramePr>
          <p:cNvPr id="3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234440"/>
          <a:ext cx="11064240" cy="914400"/>
        </p:xfrm>
        <a:graphic>
          <a:graphicData uri="http://schemas.openxmlformats.org/drawingml/2006/table">
            <a:tbl>
              <a:tblPr/>
              <a:tblGrid>
                <a:gridCol w="5532120"/>
                <a:gridCol w="5532120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Wel jouw werk</a:t>
                      </a:r>
                      <a:endParaRPr lang="en-US" sz="13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Niet jouw werk</a:t>
                      </a:r>
                      <a:endParaRPr lang="en-US" sz="13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het verdienmodel kennen</a:t>
                      </a:r>
                      <a:endParaRPr lang="en-US" sz="13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A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bepalen welke markten we bedienen</a:t>
                      </a:r>
                      <a:endParaRPr lang="en-US" sz="13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AF7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de eenheid van waarde gebruiken</a:t>
                      </a:r>
                      <a:endParaRPr lang="en-US" sz="13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2E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bepalen welke klanten we willen</a:t>
                      </a:r>
                      <a:endParaRPr lang="en-US" sz="13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2EC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gevolgen voor ontwerp afleiden</a:t>
                      </a:r>
                      <a:endParaRPr lang="en-US" sz="13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A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over contractverlenging besluiten</a:t>
                      </a:r>
                      <a:endParaRPr lang="en-US" sz="13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AF7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signaleren dat een technisch besluit een verdienmodelbesluit is</a:t>
                      </a:r>
                      <a:endParaRPr lang="en-US" sz="13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2E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het dan zelf nemen</a:t>
                      </a:r>
                      <a:endParaRPr lang="en-US" sz="13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2EC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1421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1828800"/>
            <a:ext cx="73152" cy="3017520"/>
          </a:xfrm>
          <a:prstGeom prst="rect">
            <a:avLst/>
          </a:prstGeom>
          <a:solidFill>
            <a:srgbClr val="E9A13B"/>
          </a:solidFill>
          <a:ln/>
        </p:spPr>
      </p:sp>
      <p:sp>
        <p:nvSpPr>
          <p:cNvPr id="3" name="Text 1"/>
          <p:cNvSpPr/>
          <p:nvPr/>
        </p:nvSpPr>
        <p:spPr>
          <a:xfrm>
            <a:off x="1005840" y="1828800"/>
            <a:ext cx="10149840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Jij levert de feiten en de opties.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1005840" y="3749040"/>
            <a:ext cx="1014984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900" dirty="0">
                <a:solidFill>
                  <a:srgbClr val="CADCFC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Het besluit ligt bij een ander.</a:t>
            </a:r>
            <a:endParaRPr lang="en-US" sz="190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FB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4213D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O2 gesloten</a:t>
            </a:r>
            <a:endParaRPr lang="en-US" sz="2700" dirty="0"/>
          </a:p>
        </p:txBody>
      </p:sp>
      <p:sp>
        <p:nvSpPr>
          <p:cNvPr id="3" name="Shape 1"/>
          <p:cNvSpPr/>
          <p:nvPr/>
        </p:nvSpPr>
        <p:spPr>
          <a:xfrm>
            <a:off x="548640" y="1143000"/>
            <a:ext cx="1005840" cy="45720"/>
          </a:xfrm>
          <a:prstGeom prst="rect">
            <a:avLst/>
          </a:prstGeom>
          <a:solidFill>
            <a:srgbClr val="E9A13B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417320"/>
            <a:ext cx="10698480" cy="4617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Tweede poging: zeventien minuten, begint bij de deelnemer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Systemen komen pas in de laatste vier minuten in beeld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De financieel directeur stelt een vraag — de eerste in vier maanden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Claudette weet het antwoord niet. Dat is niet erg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Er is niets veranderd aan haar technische kennis. Ze kent nu de eenheid</a:t>
            </a:r>
            <a:endParaRPr lang="en-US" sz="160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1421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3017520"/>
            <a:ext cx="137160" cy="1463040"/>
          </a:xfrm>
          <a:prstGeom prst="rect">
            <a:avLst/>
          </a:prstGeom>
          <a:solidFill>
            <a:srgbClr val="E9A13B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2651760"/>
            <a:ext cx="108813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Volgende keer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640080" y="3657600"/>
            <a:ext cx="10881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CADCFC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Deel 3 — Business Technology Strategy II: waarde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640080" y="4297680"/>
            <a:ext cx="1088136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55606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Hoe waardeer je iets waarvan niemand de cijfers heeft? Dat wordt O3.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36</Slides>
  <Notes>36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36</vt:i4>
      </vt:variant>
    </vt:vector>
  </HeadingPairs>
  <TitlesOfParts>
    <vt:vector size="3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2026-08-17T16:47:10Z</dcterms:created>
  <dcterms:modified xsi:type="dcterms:W3CDTF">2026-08-17T16:47:10Z</dcterms:modified>
</cp:coreProperties>
</file>