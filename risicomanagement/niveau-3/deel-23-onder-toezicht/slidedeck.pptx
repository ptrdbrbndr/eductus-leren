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D99A3D"/>
                </a:solidFill>
              </a:rPr>
              <a:t>RISICOMANAGEMENT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Deel 23 — Risicomanagement onder toezicht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3E8"/>
                </a:solidFill>
              </a:rPr>
              <a:t>Niveau 3: Expert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Welkom in niveau 3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Casus: de Stelselovergang. Deadline: 1 januari 2028.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Een ander soort vraag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i="1" dirty="0">
                <a:solidFill>
                  <a:srgbClr val="1B2A4A"/>
                </a:solidFill>
              </a:rPr>
              <a:t>“Wil je kandidaat-sleutelfunctiehouder risicobeheer worden?”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Niet zomaar groter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Tot nu toe: mandaat als organisatieafspraak.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Vanaf nu: mandaat ontleend aan de wet.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</a:rPr>
              <a:t>Dit deel: het fundament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Solvency II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Vier sleutelfuncties voor Meridiaan als verzekeraar.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vier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Risicobeheer  ·  Actuarieel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vier, vervolg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A4A"/>
                </a:solidFill>
              </a:rPr>
              <a:t>Compliance  ·  Interne audit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Elk wettelijk verankerd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Onafhankelijk. Fit &amp; proper getoetst door DNB.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De spiegel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Artikel 143a Pensioenwet — drie sleutelfuncties voor de fondsroute.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Artikel 18 Besluit Ftk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A4A"/>
                </a:solidFill>
              </a:rPr>
              <a:t>Risicobeheer: adequaat, onafhankelijk, geïntegreerd in de besluitvorming.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Artikel 18b Besluit Ftk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</a:rPr>
              <a:t>Eigenrisicobeoordeling (ERB) — minstens elke drie jaar.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2C5AA0"/>
                </a:solidFill>
              </a:rPr>
              <a:t>De fondstegenhanger van ORSA.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Twee kaders, gedeelde principes</a:t>
            </a:r>
            <a:endParaRPr lang="en-US" sz="2600" dirty="0"/>
          </a:p>
        </p:txBody>
      </p:sp>
      <p:pic>
        <p:nvPicPr>
          <p:cNvPr id="3" name="Image 0" descr="C:\Projecten\eductus-trainingen\Risico management\tooling\figures\figuur-23-1-solvency-pw.png">    </p:cNvPr>
          <p:cNvPicPr>
            <a:picLocks noChangeAspect="1"/>
          </p:cNvPicPr>
          <p:nvPr/>
        </p:nvPicPr>
        <p:blipFill>
          <a:blip r:embed="rId1"/>
          <a:srcRect l="-15966" r="-15966" t="0" b="0"/>
          <a:stretch/>
        </p:blipFill>
        <p:spPr>
          <a:xfrm>
            <a:off x="1371600" y="1188720"/>
            <a:ext cx="94183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478"/>
                </a:solidFill>
              </a:rPr>
              <a:t>Twee kolommen: Solvency II en Pensioenwet, gedeelde principes gemarkeerd.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23.1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Drie situaties. Solvency II of Pensioenwet?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DNB-geschiktheidstoetsing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Self assessment. Digitaal Loket Toezicht.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Drie categorieën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Kennis · Werkervaring · Competenties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Geen certificaat — een staat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A4A"/>
                </a:solidFill>
              </a:rPr>
              <a:t>Doorlopend aantoonbaar, niet eenmalig behaald.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23.3 — 20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Jouw eigen self assessment: twee voorbeelden per categorie.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Het wettelijk mandaat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Meldingsbevoegdheid aan de toezichthouder — in voorkomende gevallen.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99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1B2A4A"/>
                </a:solidFill>
              </a:rPr>
              <a:t>KERNZIN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88720" y="2194560"/>
            <a:ext cx="97840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Onder toezicht is mandaat niet langer alleen een organisatieafspraak — het is een wettelijk recht dat de organisatie niet kan intrekken.</a:t>
            </a:r>
            <a:endParaRPr lang="en-US" sz="2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Opdracht 23.2 — 15 minuten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Organisatorisch of wettelijk mandaat?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DORA, geïntegreerd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</a:rPr>
              <a:t>Niet langer apart — nu gewoon een van de kaders waarbinnen de sleutelfunctie werkt.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</a:rPr>
              <a:t>Voor deel 24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</a:rPr>
              <a:t>Deel 24: 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</a:rPr>
              <a:t>het eerste advies — strategisch risico en de DNB good practice over de transitie.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2026-08-17T06:47:36Z</dcterms:created>
  <dcterms:modified xsi:type="dcterms:W3CDTF">2026-08-17T06:47:36Z</dcterms:modified>
</cp:coreProperties>
</file>