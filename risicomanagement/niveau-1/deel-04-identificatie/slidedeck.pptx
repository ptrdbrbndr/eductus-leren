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640080" y="822960"/>
            <a:ext cx="10881360" cy="457200"/>
          </a:xfrm>
          <a:prstGeom prst="rect">
            <a:avLst/>
          </a:prstGeom>
          <a:noFill/>
          <a:ln/>
        </p:spPr>
        <p:txBody>
          <a:bodyPr wrap="square" rtlCol="0" anchor="ctr"/>
          <a:lstStyle/>
          <a:p>
            <a:pPr indent="0" marL="0">
              <a:buNone/>
            </a:pPr>
            <a:r>
              <a:rPr lang="en-US" sz="1600" b="1" spc="200" kern="0" dirty="0">
                <a:solidFill>
                  <a:srgbClr val="D99A3D"/>
                </a:solidFill>
              </a:rPr>
              <a:t>RISICOMANAGEMENT</a:t>
            </a:r>
            <a:endParaRPr lang="en-US" sz="1600" dirty="0"/>
          </a:p>
        </p:txBody>
      </p:sp>
      <p:sp>
        <p:nvSpPr>
          <p:cNvPr id="3" name="Text 1"/>
          <p:cNvSpPr/>
          <p:nvPr/>
        </p:nvSpPr>
        <p:spPr>
          <a:xfrm>
            <a:off x="640080" y="1371600"/>
            <a:ext cx="10881360" cy="2011680"/>
          </a:xfrm>
          <a:prstGeom prst="rect">
            <a:avLst/>
          </a:prstGeom>
          <a:noFill/>
          <a:ln/>
        </p:spPr>
        <p:txBody>
          <a:bodyPr wrap="square" rtlCol="0" anchor="t"/>
          <a:lstStyle/>
          <a:p>
            <a:pPr indent="0" marL="0">
              <a:buNone/>
            </a:pPr>
            <a:r>
              <a:rPr lang="en-US" sz="4000" b="1" dirty="0">
                <a:solidFill>
                  <a:srgbClr val="FFFFFF"/>
                </a:solidFill>
              </a:rPr>
              <a:t>Deel 4 — Identificatie: risico's systematisch boven tafel krijgen</a:t>
            </a:r>
            <a:endParaRPr lang="en-US" sz="4000" dirty="0"/>
          </a:p>
        </p:txBody>
      </p:sp>
      <p:sp>
        <p:nvSpPr>
          <p:cNvPr id="4" name="Text 2"/>
          <p:cNvSpPr/>
          <p:nvPr/>
        </p:nvSpPr>
        <p:spPr>
          <a:xfrm>
            <a:off x="640080" y="3383280"/>
            <a:ext cx="10881360" cy="731520"/>
          </a:xfrm>
          <a:prstGeom prst="rect">
            <a:avLst/>
          </a:prstGeom>
          <a:noFill/>
          <a:ln/>
        </p:spPr>
        <p:txBody>
          <a:bodyPr wrap="square" rtlCol="0" anchor="ctr"/>
          <a:lstStyle/>
          <a:p>
            <a:pPr indent="0" marL="0">
              <a:buNone/>
            </a:pPr>
            <a:r>
              <a:rPr lang="en-US" sz="2000" dirty="0">
                <a:solidFill>
                  <a:srgbClr val="C7D3E8"/>
                </a:solidFill>
              </a:rPr>
              <a:t>Niveau 1: Fundament · Meridiaan Pensioen N.V. · Ductus</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Terugblik</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Context en criteria vastgesteld.</a:t>
            </a:r>
            <a:endParaRPr lang="en-US" sz="1800" dirty="0"/>
          </a:p>
          <a:p>
            <a:pPr marL="342900" indent="-342900">
              <a:spcAft>
                <a:spcPts val="1200"/>
              </a:spcAft>
              <a:buSzPct val="100000"/>
              <a:buChar char="•"/>
            </a:pPr>
            <a:r>
              <a:rPr lang="en-US" sz="1800" dirty="0">
                <a:solidFill>
                  <a:srgbClr val="1A1A1A"/>
                </a:solidFill>
              </a:rPr>
              <a:t>Sanne's document ligt klaar.</a:t>
            </a:r>
            <a:endParaRPr lang="en-US" sz="1800" dirty="0"/>
          </a:p>
          <a:p>
            <a:pPr marL="342900" indent="-342900">
              <a:spcAft>
                <a:spcPts val="1200"/>
              </a:spcAft>
              <a:buSzPct val="100000"/>
              <a:buChar char="•"/>
            </a:pPr>
            <a:r>
              <a:rPr lang="en-US" sz="1800" dirty="0">
                <a:solidFill>
                  <a:srgbClr val="1A1A1A"/>
                </a:solidFill>
              </a:rPr>
              <a:t>Vandaag: de eerste identificatiesessie.</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“Wie heeft er risico's?”</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Binnen vijf minuten: acht regels op het bord.</a:t>
            </a:r>
            <a:endParaRPr lang="en-US" sz="1800" dirty="0"/>
          </a:p>
          <a:p>
            <a:pPr marL="342900" indent="-342900">
              <a:spcAft>
                <a:spcPts val="1200"/>
              </a:spcAft>
              <a:buSzPct val="100000"/>
              <a:buChar char="•"/>
            </a:pPr>
            <a:r>
              <a:rPr lang="en-US" sz="1800" dirty="0">
                <a:solidFill>
                  <a:srgbClr val="1A1A1A"/>
                </a:solidFill>
              </a:rPr>
              <a:t>Zeven daarvan stonden al in het oude register.</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Dan: stilte</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Niet omdat er geen risico's meer zijn.</a:t>
            </a:r>
            <a:endParaRPr lang="en-US" sz="1800" dirty="0"/>
          </a:p>
          <a:p>
            <a:pPr marL="342900" indent="-342900">
              <a:spcAft>
                <a:spcPts val="1200"/>
              </a:spcAft>
              <a:buSzPct val="100000"/>
              <a:buChar char="•"/>
            </a:pPr>
            <a:r>
              <a:rPr lang="en-US" sz="1800" dirty="0">
                <a:solidFill>
                  <a:srgbClr val="1A1A1A"/>
                </a:solidFill>
              </a:rPr>
              <a:t>Omdat de vraag alleen oplevert wat mensen toevallig al paraat hebben.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De vraag van dit deel</a:t>
            </a:r>
            <a:endParaRPr lang="en-US" sz="2600" dirty="0"/>
          </a:p>
        </p:txBody>
      </p:sp>
      <p:sp>
        <p:nvSpPr>
          <p:cNvPr id="3" name="Text 1"/>
          <p:cNvSpPr/>
          <p:nvPr/>
        </p:nvSpPr>
        <p:spPr>
          <a:xfrm>
            <a:off x="914400" y="2286000"/>
            <a:ext cx="10332720" cy="2011680"/>
          </a:xfrm>
          <a:prstGeom prst="rect">
            <a:avLst/>
          </a:prstGeom>
          <a:noFill/>
          <a:ln/>
        </p:spPr>
        <p:txBody>
          <a:bodyPr wrap="square" rtlCol="0" anchor="ctr"/>
          <a:lstStyle/>
          <a:p>
            <a:pPr algn="ctr" indent="0" marL="0">
              <a:buNone/>
            </a:pPr>
            <a:r>
              <a:rPr lang="en-US" sz="2600" b="1" i="1" dirty="0">
                <a:solidFill>
                  <a:srgbClr val="1B2A4A"/>
                </a:solidFill>
              </a:rPr>
              <a:t>Hoe krijg je risico's boven tafel die niemand uit zichzelf noemt?</a:t>
            </a:r>
            <a:endParaRPr lang="en-US"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Twee zwaktes van vrije brainstorm</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Leunt op wat mensen zich toevallig herinneren</a:t>
            </a:r>
            <a:endParaRPr lang="en-US" sz="1800" dirty="0"/>
          </a:p>
          <a:p>
            <a:pPr marL="342900" indent="-342900">
              <a:spcAft>
                <a:spcPts val="1200"/>
              </a:spcAft>
              <a:buSzPct val="100000"/>
              <a:buChar char="•"/>
            </a:pPr>
            <a:r>
              <a:rPr lang="en-US" sz="1800" dirty="0">
                <a:solidFill>
                  <a:srgbClr val="1A1A1A"/>
                </a:solidFill>
              </a:rPr>
              <a:t>Geen garantie dat een hele categorie in beeld komt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Wat vrije brainstorm bereikt</a:t>
            </a:r>
            <a:endParaRPr lang="en-US" sz="2600" dirty="0"/>
          </a:p>
        </p:txBody>
      </p:sp>
      <p:pic>
        <p:nvPicPr>
          <p:cNvPr id="3" name="Image 0" descr="C:\Projecten\eductus-trainingen\Risico management\tooling\figures\figuur-4-1-cirkels.png">    </p:cNvPr>
          <p:cNvPicPr>
            <a:picLocks noChangeAspect="1"/>
          </p:cNvPicPr>
          <p:nvPr/>
        </p:nvPicPr>
        <p:blipFill>
          <a:blip r:embed="rId1"/>
          <a:srcRect l="-9337" r="-9337" t="0" b="0"/>
          <a:stretch/>
        </p:blipFill>
        <p:spPr>
          <a:xfrm>
            <a:off x="1371600" y="1371600"/>
            <a:ext cx="9418320" cy="4206240"/>
          </a:xfrm>
          <a:prstGeom prst="rect">
            <a:avLst/>
          </a:prstGeom>
        </p:spPr>
      </p:pic>
      <p:sp>
        <p:nvSpPr>
          <p:cNvPr id="4" name="Text 1"/>
          <p:cNvSpPr/>
          <p:nvPr/>
        </p:nvSpPr>
        <p:spPr>
          <a:xfrm>
            <a:off x="731520" y="6035040"/>
            <a:ext cx="10698480" cy="548640"/>
          </a:xfrm>
          <a:prstGeom prst="rect">
            <a:avLst/>
          </a:prstGeom>
          <a:noFill/>
          <a:ln/>
        </p:spPr>
        <p:txBody>
          <a:bodyPr wrap="square" rtlCol="0" anchor="ctr"/>
          <a:lstStyle/>
          <a:p>
            <a:pPr algn="ctr" indent="0" marL="0">
              <a:buNone/>
            </a:pPr>
            <a:r>
              <a:rPr lang="en-US" sz="1300" i="1" dirty="0">
                <a:solidFill>
                  <a:srgbClr val="5A6478"/>
                </a:solidFill>
              </a:rPr>
              <a:t>Figuur 4-1 — Twee cirkels: wat mensen zich spontaan herinneren, en de volledige risicoruimte.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De drie die er niet in stonden</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Scope-instabiliteit</a:t>
            </a:r>
            <a:endParaRPr lang="en-US" sz="1800" dirty="0"/>
          </a:p>
          <a:p>
            <a:pPr marL="342900" indent="-342900">
              <a:spcAft>
                <a:spcPts val="1200"/>
              </a:spcAft>
              <a:buSzPct val="100000"/>
              <a:buChar char="•"/>
            </a:pPr>
            <a:r>
              <a:rPr lang="en-US" sz="1800" dirty="0">
                <a:solidFill>
                  <a:srgbClr val="1A1A1A"/>
                </a:solidFill>
              </a:rPr>
              <a:t>Sleutelkennis</a:t>
            </a:r>
            <a:endParaRPr lang="en-US" sz="1800" dirty="0"/>
          </a:p>
          <a:p>
            <a:pPr marL="342900" indent="-342900">
              <a:spcAft>
                <a:spcPts val="1200"/>
              </a:spcAft>
              <a:buSzPct val="100000"/>
              <a:buChar char="•"/>
            </a:pPr>
            <a:r>
              <a:rPr lang="en-US" sz="1800" dirty="0">
                <a:solidFill>
                  <a:srgbClr val="1A1A1A"/>
                </a:solidFill>
              </a:rPr>
              <a:t>Leveranciersafhankelijkheid</a:t>
            </a:r>
            <a:endParaRPr lang="en-US" sz="1800" dirty="0"/>
          </a:p>
          <a:p>
            <a:pPr marL="342900" indent="-342900">
              <a:spcAft>
                <a:spcPts val="1200"/>
              </a:spcAft>
              <a:buSzPct val="100000"/>
              <a:buChar char="•"/>
            </a:pPr>
            <a:r>
              <a:rPr lang="en-US" sz="1800" dirty="0">
                <a:solidFill>
                  <a:srgbClr val="1A1A1A"/>
                </a:solidFill>
              </a:rPr>
              <a:t>Niet onbekend. Nooit gevráagd.</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Vijf technieken</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Categorie-gestuurd</a:t>
            </a:r>
            <a:endParaRPr lang="en-US" sz="1800" dirty="0"/>
          </a:p>
          <a:p>
            <a:pPr marL="342900" indent="-342900">
              <a:spcAft>
                <a:spcPts val="1200"/>
              </a:spcAft>
              <a:buSzPct val="100000"/>
              <a:buChar char="•"/>
            </a:pPr>
            <a:r>
              <a:rPr lang="en-US" sz="1800" dirty="0">
                <a:solidFill>
                  <a:srgbClr val="1A1A1A"/>
                </a:solidFill>
              </a:rPr>
              <a:t>Oorzaak-gebeurtenis-gevolg</a:t>
            </a:r>
            <a:endParaRPr lang="en-US" sz="1800" dirty="0"/>
          </a:p>
          <a:p>
            <a:pPr marL="342900" indent="-342900">
              <a:spcAft>
                <a:spcPts val="1200"/>
              </a:spcAft>
              <a:buSzPct val="100000"/>
              <a:buChar char="•"/>
            </a:pPr>
            <a:r>
              <a:rPr lang="en-US" sz="1800" dirty="0">
                <a:solidFill>
                  <a:srgbClr val="1A1A1A"/>
                </a:solidFill>
              </a:rPr>
              <a:t>Aannameanalyse</a:t>
            </a:r>
            <a:endParaRPr lang="en-US" sz="1800" dirty="0"/>
          </a:p>
          <a:p>
            <a:pPr marL="342900" indent="-342900">
              <a:spcAft>
                <a:spcPts val="1200"/>
              </a:spcAft>
              <a:buSzPct val="100000"/>
              <a:buChar char="•"/>
            </a:pPr>
            <a:r>
              <a:rPr lang="en-US" sz="1800" dirty="0">
                <a:solidFill>
                  <a:srgbClr val="1A1A1A"/>
                </a:solidFill>
              </a:rPr>
              <a:t>Pre-mortem</a:t>
            </a:r>
            <a:endParaRPr lang="en-US" sz="1800" dirty="0"/>
          </a:p>
          <a:p>
            <a:pPr marL="342900" indent="-342900">
              <a:spcAft>
                <a:spcPts val="1200"/>
              </a:spcAft>
              <a:buSzPct val="100000"/>
              <a:buChar char="•"/>
            </a:pPr>
            <a:r>
              <a:rPr lang="en-US" sz="1800" dirty="0">
                <a:solidFill>
                  <a:srgbClr val="1A1A1A"/>
                </a:solidFill>
              </a:rPr>
              <a:t>Toetsing tegen de post-mortem</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Categorie-gestuurd</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Vaste lijst: financieel, juridisch, technisch, organisatorisch, extern, reputatie.</a:t>
            </a:r>
            <a:endParaRPr lang="en-US" sz="1800" dirty="0"/>
          </a:p>
          <a:p>
            <a:pPr marL="342900" indent="-342900">
              <a:spcAft>
                <a:spcPts val="1200"/>
              </a:spcAft>
              <a:buSzPct val="100000"/>
              <a:buChar char="•"/>
            </a:pPr>
            <a:r>
              <a:rPr lang="en-US" sz="1800" dirty="0">
                <a:solidFill>
                  <a:srgbClr val="1A1A1A"/>
                </a:solidFill>
              </a:rPr>
              <a:t>Voorkomt dat een hele categorie wordt overgeslagen.</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Oorzaak-gebeurtenis-gevolg</a:t>
            </a:r>
            <a:endParaRPr lang="en-US" sz="2600" dirty="0"/>
          </a:p>
        </p:txBody>
      </p:sp>
      <p:sp>
        <p:nvSpPr>
          <p:cNvPr id="3" name="Text 1"/>
          <p:cNvSpPr/>
          <p:nvPr/>
        </p:nvSpPr>
        <p:spPr>
          <a:xfrm>
            <a:off x="731520" y="2194560"/>
            <a:ext cx="10515600" cy="2286000"/>
          </a:xfrm>
          <a:prstGeom prst="rect">
            <a:avLst/>
          </a:prstGeom>
          <a:noFill/>
          <a:ln/>
        </p:spPr>
        <p:txBody>
          <a:bodyPr wrap="square" rtlCol="0" anchor="t"/>
          <a:lstStyle/>
          <a:p>
            <a:pPr indent="0" marL="0">
              <a:buNone/>
            </a:pPr>
            <a:r>
              <a:rPr lang="en-US" sz="2000" dirty="0">
                <a:solidFill>
                  <a:srgbClr val="1A1A1A"/>
                </a:solidFill>
              </a:rPr>
              <a:t>Begin bij een doelstelling.</a:t>
            </a:r>
            <a:endParaRPr lang="en-US" sz="2000" dirty="0"/>
          </a:p>
          <a:p>
            <a:pPr indent="0" marL="0">
              <a:buNone/>
            </a:pPr>
            <a:r>
              <a:rPr lang="en-US" sz="2000" dirty="0">
                <a:solidFill>
                  <a:srgbClr val="000000"/>
                </a:solidFill>
              </a:rPr>
              <a:t> </a:t>
            </a:r>
            <a:endParaRPr lang="en-US" sz="2000" dirty="0"/>
          </a:p>
          <a:p>
            <a:pPr indent="0" marL="0">
              <a:buNone/>
            </a:pPr>
            <a:r>
              <a:rPr lang="en-US" sz="2200" b="1" dirty="0">
                <a:solidFill>
                  <a:srgbClr val="1B2A4A"/>
                </a:solidFill>
              </a:rPr>
              <a:t>“Wat zou ervoor zorgen dat we deze datum niet halen?”</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Aannameanalyse</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Zoek naar: “gaan ervan uit dat”, “verwachten dat”, “zal”, “is stabiel”.</a:t>
            </a:r>
            <a:endParaRPr lang="en-US" sz="1800" dirty="0"/>
          </a:p>
          <a:p>
            <a:pPr marL="342900" indent="-342900">
              <a:spcAft>
                <a:spcPts val="1200"/>
              </a:spcAft>
              <a:buSzPct val="100000"/>
              <a:buChar char="•"/>
            </a:pPr>
            <a:r>
              <a:rPr lang="en-US" sz="1800" dirty="0">
                <a:solidFill>
                  <a:srgbClr val="1A1A1A"/>
                </a:solidFill>
              </a:rPr>
              <a:t>Draai elke aanname om tot een risicozin.</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Pre-mortem</a:t>
            </a:r>
            <a:endParaRPr lang="en-US" sz="2600" dirty="0"/>
          </a:p>
        </p:txBody>
      </p:sp>
      <p:sp>
        <p:nvSpPr>
          <p:cNvPr id="3" name="Text 1"/>
          <p:cNvSpPr/>
          <p:nvPr/>
        </p:nvSpPr>
        <p:spPr>
          <a:xfrm>
            <a:off x="731520" y="2103120"/>
            <a:ext cx="10515600" cy="2286000"/>
          </a:xfrm>
          <a:prstGeom prst="rect">
            <a:avLst/>
          </a:prstGeom>
          <a:noFill/>
          <a:ln/>
        </p:spPr>
        <p:txBody>
          <a:bodyPr wrap="square" rtlCol="0" anchor="t"/>
          <a:lstStyle/>
          <a:p>
            <a:pPr indent="0" marL="0">
              <a:buNone/>
            </a:pPr>
            <a:r>
              <a:rPr lang="en-US" sz="2000" i="1" dirty="0">
                <a:solidFill>
                  <a:srgbClr val="1B2A4A"/>
                </a:solidFill>
              </a:rPr>
              <a:t>“Stel je voor: over een jaar is het opnieuw mislukt. Wat is er gebeurd?”</a:t>
            </a:r>
            <a:endParaRPr lang="en-US" sz="2000" dirty="0"/>
          </a:p>
          <a:p>
            <a:pPr indent="0" marL="0">
              <a:buNone/>
            </a:pPr>
            <a:r>
              <a:rPr lang="en-US" sz="2000" dirty="0">
                <a:solidFill>
                  <a:srgbClr val="000000"/>
                </a:solidFill>
              </a:rPr>
              <a:t> </a:t>
            </a:r>
            <a:endParaRPr lang="en-US" sz="2000" dirty="0"/>
          </a:p>
          <a:p>
            <a:pPr indent="0" marL="0">
              <a:buNone/>
            </a:pPr>
            <a:r>
              <a:rPr lang="en-US" sz="1600" i="1" dirty="0">
                <a:solidFill>
                  <a:srgbClr val="2C5AA0"/>
                </a:solidFill>
              </a:rPr>
              <a:t>Omzeilt het ongemak van kritiek op het heden.</a:t>
            </a:r>
            <a:endParaRPr lang="en-US" sz="2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Toetsing tegen de post-mortem</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Is de onderliggende oorzaak weggenomen?</a:t>
            </a:r>
            <a:endParaRPr lang="en-US" sz="1800" dirty="0"/>
          </a:p>
          <a:p>
            <a:pPr marL="342900" indent="-342900">
              <a:spcAft>
                <a:spcPts val="1200"/>
              </a:spcAft>
              <a:buSzPct val="100000"/>
              <a:buChar char="•"/>
            </a:pPr>
            <a:r>
              <a:rPr lang="en-US" sz="1800" dirty="0">
                <a:solidFill>
                  <a:srgbClr val="1A1A1A"/>
                </a:solidFill>
              </a:rPr>
              <a:t>Of speelt hij nog steeds?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Vijf technieken, vijf soorten risico</a:t>
            </a:r>
            <a:endParaRPr lang="en-US" sz="2600" dirty="0"/>
          </a:p>
        </p:txBody>
      </p:sp>
      <p:pic>
        <p:nvPicPr>
          <p:cNvPr id="3" name="Image 0" descr="C:\Projecten\eductus-trainingen\Risico management\tooling\figures\figuur-4-2-technieken.png">    </p:cNvPr>
          <p:cNvPicPr>
            <a:picLocks noChangeAspect="1"/>
          </p:cNvPicPr>
          <p:nvPr/>
        </p:nvPicPr>
        <p:blipFill>
          <a:blip r:embed="rId1"/>
          <a:srcRect l="-9337" r="-9337" t="0" b="0"/>
          <a:stretch/>
        </p:blipFill>
        <p:spPr>
          <a:xfrm>
            <a:off x="1371600" y="1371600"/>
            <a:ext cx="9418320" cy="4206240"/>
          </a:xfrm>
          <a:prstGeom prst="rect">
            <a:avLst/>
          </a:prstGeom>
        </p:spPr>
      </p:pic>
      <p:sp>
        <p:nvSpPr>
          <p:cNvPr id="4" name="Text 1"/>
          <p:cNvSpPr/>
          <p:nvPr/>
        </p:nvSpPr>
        <p:spPr>
          <a:xfrm>
            <a:off x="731520" y="6035040"/>
            <a:ext cx="10698480" cy="548640"/>
          </a:xfrm>
          <a:prstGeom prst="rect">
            <a:avLst/>
          </a:prstGeom>
          <a:noFill/>
          <a:ln/>
        </p:spPr>
        <p:txBody>
          <a:bodyPr wrap="square" rtlCol="0" anchor="ctr"/>
          <a:lstStyle/>
          <a:p>
            <a:pPr algn="ctr" indent="0" marL="0">
              <a:buNone/>
            </a:pPr>
            <a:r>
              <a:rPr lang="en-US" sz="1300" i="1" dirty="0">
                <a:solidFill>
                  <a:srgbClr val="5A6478"/>
                </a:solidFill>
              </a:rPr>
              <a:t>Figuur 4-2 — Per techniek het type risico dat hij het beste blootlegt.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Oefensessie — 30 + 10 minuten</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Groepjes van vier à vijf.</a:t>
            </a:r>
            <a:endParaRPr lang="en-US" sz="1800" dirty="0"/>
          </a:p>
          <a:p>
            <a:pPr marL="342900" indent="-342900">
              <a:spcAft>
                <a:spcPts val="1200"/>
              </a:spcAft>
              <a:buSzPct val="100000"/>
              <a:buChar char="•"/>
            </a:pPr>
            <a:r>
              <a:rPr lang="en-US" sz="1800" dirty="0">
                <a:solidFill>
                  <a:srgbClr val="1A1A1A"/>
                </a:solidFill>
              </a:rPr>
              <a:t>Eigen context- en criteriadocument als basis.</a:t>
            </a:r>
            <a:endParaRPr lang="en-US" sz="1800" dirty="0"/>
          </a:p>
          <a:p>
            <a:pPr marL="342900" indent="-342900">
              <a:spcAft>
                <a:spcPts val="1200"/>
              </a:spcAft>
              <a:buSzPct val="100000"/>
              <a:buChar char="•"/>
            </a:pPr>
            <a:r>
              <a:rPr lang="en-US" sz="1800" dirty="0">
                <a:solidFill>
                  <a:srgbClr val="1A1A1A"/>
                </a:solidFill>
              </a:rPr>
              <a:t>Combineer minstens twee technieken.</a:t>
            </a:r>
            <a:endParaRPr lang="en-US" sz="1800" dirty="0"/>
          </a:p>
          <a:p>
            <a:pPr marL="342900" indent="-342900">
              <a:spcAft>
                <a:spcPts val="1200"/>
              </a:spcAft>
              <a:buSzPct val="100000"/>
              <a:buChar char="•"/>
            </a:pPr>
            <a:r>
              <a:rPr lang="en-US" sz="1800" dirty="0">
                <a:solidFill>
                  <a:srgbClr val="1A1A1A"/>
                </a:solidFill>
              </a:rPr>
              <a:t>Nog geen maatregelen. Alleen identificeren.</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Van ruwe input naar risicozin</a:t>
            </a:r>
            <a:endParaRPr lang="en-US" sz="2600" dirty="0"/>
          </a:p>
        </p:txBody>
      </p:sp>
      <p:sp>
        <p:nvSpPr>
          <p:cNvPr id="3" name="Text 1"/>
          <p:cNvSpPr/>
          <p:nvPr/>
        </p:nvSpPr>
        <p:spPr>
          <a:xfrm>
            <a:off x="914400" y="2286000"/>
            <a:ext cx="10332720" cy="1828800"/>
          </a:xfrm>
          <a:prstGeom prst="rect">
            <a:avLst/>
          </a:prstGeom>
          <a:noFill/>
          <a:ln/>
        </p:spPr>
        <p:txBody>
          <a:bodyPr wrap="square" rtlCol="0" anchor="ctr"/>
          <a:lstStyle/>
          <a:p>
            <a:pPr algn="ctr" indent="0" marL="0">
              <a:buNone/>
            </a:pPr>
            <a:r>
              <a:rPr lang="en-US" sz="2200" i="1" dirty="0">
                <a:solidFill>
                  <a:srgbClr val="1B2A4A"/>
                </a:solidFill>
              </a:rPr>
              <a:t>“Ik zie het al gebeuren dat de business straks niet meedoet met testen.”</a:t>
            </a:r>
            <a:endParaRPr lang="en-US" sz="2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Drie stappen</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1. Oorzaak vinden</a:t>
            </a:r>
            <a:endParaRPr lang="en-US" sz="1800" dirty="0"/>
          </a:p>
          <a:p>
            <a:pPr marL="342900" indent="-342900">
              <a:spcAft>
                <a:spcPts val="1200"/>
              </a:spcAft>
              <a:buSzPct val="100000"/>
              <a:buChar char="•"/>
            </a:pPr>
            <a:r>
              <a:rPr lang="en-US" sz="1800" dirty="0">
                <a:solidFill>
                  <a:srgbClr val="1A1A1A"/>
                </a:solidFill>
              </a:rPr>
              <a:t>2. Gebeurtenis scherp krijgen</a:t>
            </a:r>
            <a:endParaRPr lang="en-US" sz="1800" dirty="0"/>
          </a:p>
          <a:p>
            <a:pPr marL="342900" indent="-342900">
              <a:spcAft>
                <a:spcPts val="1200"/>
              </a:spcAft>
              <a:buSzPct val="100000"/>
              <a:buChar char="•"/>
            </a:pPr>
            <a:r>
              <a:rPr lang="en-US" sz="1800" dirty="0">
                <a:solidFill>
                  <a:srgbClr val="1A1A1A"/>
                </a:solidFill>
              </a:rPr>
              <a:t>3. Gevolg koppelen aan een doelstelling</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Het resultaat</a:t>
            </a:r>
            <a:endParaRPr lang="en-US" sz="2600" dirty="0"/>
          </a:p>
        </p:txBody>
      </p:sp>
      <p:sp>
        <p:nvSpPr>
          <p:cNvPr id="3" name="Text 1"/>
          <p:cNvSpPr/>
          <p:nvPr/>
        </p:nvSpPr>
        <p:spPr>
          <a:xfrm>
            <a:off x="731520" y="2011680"/>
            <a:ext cx="10515600" cy="2743200"/>
          </a:xfrm>
          <a:prstGeom prst="rect">
            <a:avLst/>
          </a:prstGeom>
          <a:noFill/>
          <a:ln/>
        </p:spPr>
        <p:txBody>
          <a:bodyPr wrap="square" rtlCol="0" anchor="t"/>
          <a:lstStyle/>
          <a:p>
            <a:pPr indent="0" marL="0">
              <a:buNone/>
            </a:pPr>
            <a:r>
              <a:rPr lang="en-US" sz="1800" i="1" dirty="0">
                <a:solidFill>
                  <a:srgbClr val="1B2A4A"/>
                </a:solidFill>
              </a:rPr>
              <a:t>Doordat er geen capaciteit van de business is vastgelegd voor acceptatietesten, kan de test feitelijk door het projectteam zelf worden uitgevoerd zonder onafhankelijke validatie, waardoor fouten pas na livegang aan het licht komen.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Vier rollen</a:t>
            </a:r>
            <a:endParaRPr lang="en-US" sz="2600" dirty="0"/>
          </a:p>
        </p:txBody>
      </p:sp>
      <p:sp>
        <p:nvSpPr>
          <p:cNvPr id="3" name="Text 1"/>
          <p:cNvSpPr/>
          <p:nvPr/>
        </p:nvSpPr>
        <p:spPr>
          <a:xfrm>
            <a:off x="731520" y="2560320"/>
            <a:ext cx="10515600" cy="1097280"/>
          </a:xfrm>
          <a:prstGeom prst="rect">
            <a:avLst/>
          </a:prstGeom>
          <a:noFill/>
          <a:ln/>
        </p:spPr>
        <p:txBody>
          <a:bodyPr wrap="square" rtlCol="0" anchor="ctr"/>
          <a:lstStyle/>
          <a:p>
            <a:pPr algn="ctr" indent="0" marL="0">
              <a:buNone/>
            </a:pPr>
            <a:r>
              <a:rPr lang="en-US" sz="2000" b="1" dirty="0">
                <a:solidFill>
                  <a:srgbClr val="1B2A4A"/>
                </a:solidFill>
              </a:rPr>
              <a:t>Facilitator — Schrijver — Domeinexperts — Risico-eigenaar in spe</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Eén valkuil</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De projectmanager als facilitator én dominante domeinexpert.</a:t>
            </a:r>
            <a:endParaRPr lang="en-US" sz="1800" dirty="0"/>
          </a:p>
          <a:p>
            <a:pPr marL="342900" indent="-342900">
              <a:spcAft>
                <a:spcPts val="1200"/>
              </a:spcAft>
              <a:buSzPct val="100000"/>
              <a:buChar char="•"/>
            </a:pPr>
            <a:r>
              <a:rPr lang="en-US" sz="1800" dirty="0">
                <a:solidFill>
                  <a:srgbClr val="1A1A1A"/>
                </a:solidFill>
              </a:rPr>
              <a:t>Die twee combineren werkt averechts.</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Sanne's keuze</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Zelf facilitator.</a:t>
            </a:r>
            <a:endParaRPr lang="en-US" sz="1800" dirty="0"/>
          </a:p>
          <a:p>
            <a:pPr marL="342900" indent="-342900">
              <a:spcAft>
                <a:spcPts val="1200"/>
              </a:spcAft>
              <a:buSzPct val="100000"/>
              <a:buChar char="•"/>
            </a:pPr>
            <a:r>
              <a:rPr lang="en-US" sz="1800" dirty="0">
                <a:solidFill>
                  <a:srgbClr val="1A1A1A"/>
                </a:solidFill>
              </a:rPr>
              <a:t>Projectmanager als domeinexpert.</a:t>
            </a:r>
            <a:endParaRPr lang="en-US" sz="1800" dirty="0"/>
          </a:p>
          <a:p>
            <a:pPr marL="342900" indent="-342900">
              <a:spcAft>
                <a:spcPts val="1200"/>
              </a:spcAft>
              <a:buSzPct val="100000"/>
              <a:buChar char="•"/>
            </a:pPr>
            <a:r>
              <a:rPr lang="en-US" sz="1800" dirty="0">
                <a:solidFill>
                  <a:srgbClr val="1A1A1A"/>
                </a:solidFill>
              </a:rPr>
              <a:t>Een bewuste omkering van de vorige keer.</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Wat de sessie opleverde</a:t>
            </a:r>
            <a:endParaRPr lang="en-US" sz="2600" dirty="0"/>
          </a:p>
        </p:txBody>
      </p:sp>
      <p:sp>
        <p:nvSpPr>
          <p:cNvPr id="3" name="Text 1"/>
          <p:cNvSpPr/>
          <p:nvPr/>
        </p:nvSpPr>
        <p:spPr>
          <a:xfrm>
            <a:off x="731520" y="1371600"/>
            <a:ext cx="10698480" cy="4846320"/>
          </a:xfrm>
          <a:prstGeom prst="rect">
            <a:avLst/>
          </a:prstGeom>
          <a:noFill/>
          <a:ln/>
        </p:spPr>
        <p:txBody>
          <a:bodyPr wrap="square" rtlCol="0" anchor="t"/>
          <a:lstStyle/>
          <a:p>
            <a:pPr marL="342900" indent="-342900">
              <a:spcAft>
                <a:spcPts val="1200"/>
              </a:spcAft>
              <a:buSzPct val="100000"/>
              <a:buChar char="•"/>
            </a:pPr>
            <a:r>
              <a:rPr lang="en-US" sz="1800" dirty="0">
                <a:solidFill>
                  <a:srgbClr val="1A1A1A"/>
                </a:solidFill>
              </a:rPr>
              <a:t>19 risico's, tegenover 47 oude regels.</a:t>
            </a:r>
            <a:endParaRPr lang="en-US" sz="1800" dirty="0"/>
          </a:p>
          <a:p>
            <a:pPr marL="342900" indent="-342900">
              <a:spcAft>
                <a:spcPts val="1200"/>
              </a:spcAft>
              <a:buSzPct val="100000"/>
              <a:buChar char="•"/>
            </a:pPr>
            <a:r>
              <a:rPr lang="en-US" sz="1800" dirty="0">
                <a:solidFill>
                  <a:srgbClr val="1A1A1A"/>
                </a:solidFill>
              </a:rPr>
              <a:t>Waarvan 27 van de oude regels: categorieën zonder inhoud.</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Minder, maar beter</a:t>
            </a:r>
            <a:endParaRPr lang="en-US" sz="2600" dirty="0"/>
          </a:p>
        </p:txBody>
      </p:sp>
      <p:sp>
        <p:nvSpPr>
          <p:cNvPr id="3" name="Text 1"/>
          <p:cNvSpPr/>
          <p:nvPr/>
        </p:nvSpPr>
        <p:spPr>
          <a:xfrm>
            <a:off x="731520" y="1828800"/>
            <a:ext cx="10515600" cy="3200400"/>
          </a:xfrm>
          <a:prstGeom prst="rect">
            <a:avLst/>
          </a:prstGeom>
          <a:noFill/>
          <a:ln/>
        </p:spPr>
        <p:txBody>
          <a:bodyPr wrap="square" rtlCol="0" anchor="t"/>
          <a:lstStyle/>
          <a:p>
            <a:pPr algn="ctr" indent="0" marL="0">
              <a:buNone/>
            </a:pPr>
            <a:r>
              <a:rPr lang="en-US" sz="2200" b="1" dirty="0">
                <a:solidFill>
                  <a:srgbClr val="1B2A4A"/>
                </a:solidFill>
              </a:rPr>
              <a:t>19 volwaardige risicozinnen</a:t>
            </a:r>
            <a:endParaRPr lang="en-US" sz="2200" dirty="0"/>
          </a:p>
          <a:p>
            <a:pPr algn="ctr" indent="0" marL="0">
              <a:buNone/>
            </a:pPr>
            <a:r>
              <a:rPr lang="en-US" sz="2400" b="1" dirty="0">
                <a:solidFill>
                  <a:srgbClr val="D99A3D"/>
                </a:solidFill>
              </a:rPr>
              <a:t>&gt;</a:t>
            </a:r>
            <a:endParaRPr lang="en-US" sz="2200" dirty="0"/>
          </a:p>
          <a:p>
            <a:pPr algn="ctr" indent="0" marL="0">
              <a:buNone/>
            </a:pPr>
            <a:r>
              <a:rPr lang="en-US" sz="1800" i="1" dirty="0">
                <a:solidFill>
                  <a:srgbClr val="1A1A1A"/>
                </a:solidFill>
              </a:rPr>
              <a:t>47 regels waarvan het merendeel niets zei.</a:t>
            </a:r>
            <a:endParaRPr lang="en-US" sz="2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65760"/>
            <a:ext cx="11064240" cy="822960"/>
          </a:xfrm>
          <a:prstGeom prst="rect">
            <a:avLst/>
          </a:prstGeom>
          <a:noFill/>
          <a:ln/>
        </p:spPr>
        <p:txBody>
          <a:bodyPr wrap="square" rtlCol="0" anchor="ctr"/>
          <a:lstStyle/>
          <a:p>
            <a:pPr indent="0" marL="0">
              <a:buNone/>
            </a:pPr>
            <a:r>
              <a:rPr lang="en-US" sz="2600" b="1" dirty="0">
                <a:solidFill>
                  <a:srgbClr val="1B2A4A"/>
                </a:solidFill>
              </a:rPr>
              <a:t>Voor deel 5</a:t>
            </a:r>
            <a:endParaRPr lang="en-US" sz="2600" dirty="0"/>
          </a:p>
        </p:txBody>
      </p:sp>
      <p:sp>
        <p:nvSpPr>
          <p:cNvPr id="3" name="Text 1"/>
          <p:cNvSpPr/>
          <p:nvPr/>
        </p:nvSpPr>
        <p:spPr>
          <a:xfrm>
            <a:off x="731520" y="1645920"/>
            <a:ext cx="10515600" cy="3657600"/>
          </a:xfrm>
          <a:prstGeom prst="rect">
            <a:avLst/>
          </a:prstGeom>
          <a:noFill/>
          <a:ln/>
        </p:spPr>
        <p:txBody>
          <a:bodyPr wrap="square" rtlCol="0" anchor="t"/>
          <a:lstStyle/>
          <a:p>
            <a:pPr indent="0" marL="0">
              <a:buNone/>
            </a:pPr>
            <a:r>
              <a:rPr lang="en-US" sz="1800" b="1" dirty="0">
                <a:solidFill>
                  <a:srgbClr val="1B2A4A"/>
                </a:solidFill>
              </a:rPr>
              <a:t>Huiswerk: </a:t>
            </a:r>
            <a:endParaRPr lang="en-US" sz="1800" dirty="0"/>
          </a:p>
          <a:p>
            <a:pPr indent="0" marL="0">
              <a:buNone/>
            </a:pPr>
            <a:r>
              <a:rPr lang="en-US" sz="1800" dirty="0">
                <a:solidFill>
                  <a:srgbClr val="1A1A1A"/>
                </a:solidFill>
              </a:rPr>
              <a:t>opdracht 4.1, 4.2, 4.3 — plus drie eigen risico's uit de oefensessie, volledig uitgewerkt</a:t>
            </a:r>
            <a:endParaRPr lang="en-US" sz="1800" dirty="0"/>
          </a:p>
          <a:p>
            <a:pPr indent="0" marL="0">
              <a:buNone/>
            </a:pPr>
            <a:r>
              <a:rPr lang="en-US" sz="1800" dirty="0">
                <a:solidFill>
                  <a:srgbClr val="000000"/>
                </a:solidFill>
              </a:rPr>
              <a:t> </a:t>
            </a:r>
            <a:endParaRPr lang="en-US" sz="1800" dirty="0"/>
          </a:p>
          <a:p>
            <a:pPr indent="0" marL="0">
              <a:buNone/>
            </a:pPr>
            <a:r>
              <a:rPr lang="en-US" sz="1800" b="1" dirty="0">
                <a:solidFill>
                  <a:srgbClr val="1B2A4A"/>
                </a:solidFill>
              </a:rPr>
              <a:t>Deel 5: </a:t>
            </a:r>
            <a:endParaRPr lang="en-US" sz="1800" dirty="0"/>
          </a:p>
          <a:p>
            <a:pPr indent="0" marL="0">
              <a:buNone/>
            </a:pPr>
            <a:r>
              <a:rPr lang="en-US" sz="1800" dirty="0">
                <a:solidFill>
                  <a:srgbClr val="1A1A1A"/>
                </a:solidFill>
              </a:rPr>
              <a:t>kwalitatieve analyse — kans, impact, de matrix, en haar valkuilen.</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2026-08-16T07:13:22Z</dcterms:created>
  <dcterms:modified xsi:type="dcterms:W3CDTF">2026-08-16T07:13:22Z</dcterms:modified>
</cp:coreProperties>
</file>