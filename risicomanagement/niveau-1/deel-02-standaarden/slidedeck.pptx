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9A3D"/>
                </a:solidFill>
              </a:rPr>
              <a:t>RISICOMANAGEMENT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Deel 2 — Standaarden: dezelfde taal, niet dezelfde vraag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3E8"/>
                </a:solidFill>
              </a:rPr>
              <a:t>Niveau 1: Fundament · Meridiaan Pensioen N.V. · Ductus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Terugblik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De risicozin.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Vijf faalpunten.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Kernzin 1.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5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194560"/>
            <a:ext cx="10332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</a:rPr>
              <a:t>Vandaag: waaróm er zoveel verschillende kaders bestaan — en welke vraag elk ervan beantwoordt.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Sanne's tweede probleem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Compliance werkt met ISO 31000.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De projectmethodiek citeert M_o_R, zonder bron.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Een oud auditrapport noemt “COSO-componenten”.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Niemand weet waarom.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vraag van dit deel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</a:rPr>
              <a:t>Niet: welke standaard is het beste?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Wel: welke vraag beantwoordt elke standaard — en welke beantwoordt geen ervan?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Agenda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1. Drie lagen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2. ISO 31000 en ISO 31073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3. COSO ERM 2017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4. M_o_R 4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5. Orange Book (ter contrast)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6. Sanne's keuze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Drie lagen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438912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Laag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Vraag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Vocabulaire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Wat bedoelen we met dit woord?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Principes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Waarom doen we dit, wat maakt het goed?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Proces/raamwerk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In welke stappen, met welke rollen?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Drie lagen als piramide</a:t>
            </a:r>
            <a:endParaRPr lang="en-US" sz="2600" dirty="0"/>
          </a:p>
        </p:txBody>
      </p:sp>
      <p:pic>
        <p:nvPicPr>
          <p:cNvPr id="3" name="Image 0" descr="C:\Projecten\eductus-trainingen\Risico management\tooling\figures\figuur-2-1-piramide.png">    </p:cNvPr>
          <p:cNvPicPr>
            <a:picLocks noChangeAspect="1"/>
          </p:cNvPicPr>
          <p:nvPr/>
        </p:nvPicPr>
        <p:blipFill>
          <a:blip r:embed="rId1"/>
          <a:srcRect l="-9337" r="-9337" t="0" b="0"/>
          <a:stretch/>
        </p:blipFill>
        <p:spPr>
          <a:xfrm>
            <a:off x="1371600" y="1371600"/>
            <a:ext cx="9418320" cy="4206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478"/>
                </a:solidFill>
              </a:rPr>
              <a:t>Figuur 2-1 — De piramide: vocabulaire — principes — proces/raamwerk, met vakmanschap ernaast, buiten de piramide.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Wat geen enkele standaard doet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Hoe je een sessie leidt.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Hoe je een risicozin schrijft.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Hoe je een score kalibreert.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Hoe je een lastig gesprek voert.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i="1" dirty="0">
                <a:solidFill>
                  <a:srgbClr val="FFFFFF"/>
                </a:solidFill>
              </a:rPr>
              <a:t>Dat is vakmanschap. Dat leert deze cursus.</a:t>
            </a:r>
            <a:endParaRPr lang="en-US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2.1 — 10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Vijf uitspraken. Welke laag?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ISO 31000:2018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16 pagina's. 82 landen. 23 talen.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Sectorneutraal, principieel, kort.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Acht principes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4389120"/>
        </p:xfrm>
        <a:graphic>
          <a:graphicData uri="http://schemas.openxmlformats.org/drawingml/2006/table">
            <a:tbl>
              <a:tblPr/>
              <a:tblGrid>
                <a:gridCol w="11064240"/>
              </a:tblGrid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Principe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Waarde creëren en beschermen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Geïntegreerd in organisatieprocessen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Onderdeel van besluitvorming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Onzekerheid expliciet adresseren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Systematisch, gestructureerd, tijdig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Gebaseerd op beste beschikbare informatie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Op maat van de organisatie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Menselijke en culturele factoren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twee die WGP 2.0 negeerde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Op maat van de organisatie — een generiek sjabloon, niet Meridiaan-specifiek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Menselijke en culturele factoren — nooit gevraagd hoe mensen omgaan met slecht nieuws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Wat ISO 31000 wél regelt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Principes.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Een governanceraamwerk (leiderschap, ontwerp, implementatie, evaluatie).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Een lichte procesbeschrijving.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Wat ISO 31000 niet regelt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Geen schalen.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Geen sjabloon.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Geen precieze rollen.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Geen organisatiecertificering.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Status 2026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ISO 31000 is in herziening sinds oktober 2024.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Traject loopt door 2026–2027.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indent="0" marL="0">
              <a:buNone/>
            </a:pPr>
            <a:r>
              <a:rPr lang="en-US" sz="1800" i="1" dirty="0">
                <a:solidFill>
                  <a:srgbClr val="2C5AA0"/>
                </a:solidFill>
              </a:rPr>
              <a:t>Controleer bij gebruik altijd de meest recente editie.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ISO 31073:2022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</a:rPr>
              <a:t>Het woordenboek, apart van de richtlijn.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C5AA0"/>
                </a:solidFill>
              </a:rPr>
              <a:t>Les: leg je eigen begrippenlijst apart vast van je proces.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COSO ERM 2017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Amerikaanse afkomst. SOX 404. Beursgenoteerde ondernemingen.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Risico vastgeklonken aan strategie.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Vijf componenten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4389120"/>
        </p:xfrm>
        <a:graphic>
          <a:graphicData uri="http://schemas.openxmlformats.org/drawingml/2006/table">
            <a:tbl>
              <a:tblPr/>
              <a:tblGrid>
                <a:gridCol w="1106424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Governance en cultuur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Strategie en doelbepaling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Prestatie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Review en revisie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Informatie, communicatie, rapportage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Het onderscheidende idee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14400" y="2103120"/>
            <a:ext cx="10332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Risicohouding is een vraag die je beantwoordt bij het vaststellen van de strategie — niet erna.</a:t>
            </a:r>
            <a:endParaRPr lang="en-US" sz="2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Wat COSO niet doet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Minder operationeel dan ISO 31000.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Buiten de VS minder herkend.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Geen certificeringsroute voor een NL-pensioenuitvoerder.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M_o_R 4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1A1A1A"/>
                </a:solidFill>
              </a:rPr>
              <a:t>Management of Risk: Creating and Protecting Value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Sinds 2024 ook: PRINCE2 Risk Management (PeopleCert)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Vier principes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Waarde creëren en beschermen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Past bij de context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Betrekt belanghebbenden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Geeft heldere richting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Zes perspectieven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Strategisch · Portfolio · Programma · Project · Product · Operationeel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2C5AA0"/>
                </a:solidFill>
              </a:rPr>
              <a:t>Hetzelfde risico, zes keer anders.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2.3 — tweetallen, 20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“Afhankelijkheid van één IT-leverancier”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Beschrijf dit risico op elk van de zes perspectieven.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Bespreking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Eén feit.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Zes risico's.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Zes eigenaren. Zes doelstellingen. Zes maatregelen.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Acht processen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Vier fasen: identificeren → beoordelen → plannen → implementeren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Twee doorlopend: communiceren en embedden en reviewen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A6478"/>
                </a:solidFill>
              </a:rPr>
              <a:t>(uitgewerkt in deel 3 en deel 11)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Orange Book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HM Treasury, Britse publieke sector.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Ter contrast, geen certificeringsroute.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Twee bruikbare ideeën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Vaste risicocategorieën → voorkomt dat je stelselmatig één categorie mist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Risicovolwassenheidsmodel → uitgewerkt in deel 20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Waarom toch behandeld?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Om te laten zien dat een standaard contextgebonden kán zijn.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indent="0" marL="0">
              <a:buNone/>
            </a:pPr>
            <a:r>
              <a:rPr lang="en-US" sz="1800" i="1" dirty="0">
                <a:solidFill>
                  <a:srgbClr val="1A1A1A"/>
                </a:solidFill>
              </a:rPr>
              <a:t>Precies de keuze die Sanne voor Meridiaan moet maken.</a:t>
            </a:r>
            <a:endParaRPr lang="en-US" sz="2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Sanne's keuze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51560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</a:rPr>
              <a:t>ISO 31000</a:t>
            </a:r>
            <a:endParaRPr lang="en-US" sz="19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grondtaal, principes en vocabulaire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 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</a:rPr>
              <a:t>M_o_R 4</a:t>
            </a:r>
            <a:endParaRPr lang="en-US" sz="19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operationeel raamwerk, projecten en programma's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 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</a:rPr>
              <a:t>COSO</a:t>
            </a:r>
            <a:endParaRPr lang="en-US" sz="19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strategisch vergelijkingskader (deel 12, deel 24)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 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</a:rPr>
              <a:t>Orange Book</a:t>
            </a:r>
            <a:endParaRPr lang="en-US" sz="19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geen route, wel scherpte</a:t>
            </a:r>
            <a:endParaRPr lang="en-US" sz="1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i="1" dirty="0">
                <a:solidFill>
                  <a:srgbClr val="FFFFFF"/>
                </a:solidFill>
              </a:rPr>
              <a:t>Meridiaan deed “iets met ISO 31000” op papier.</a:t>
            </a:r>
            <a:endParaRPr lang="en-US" sz="3200" dirty="0"/>
          </a:p>
          <a:p>
            <a:pPr algn="ctr" indent="0" marL="0">
              <a:buNone/>
            </a:pPr>
            <a:endParaRPr lang="en-US" sz="3200" dirty="0"/>
          </a:p>
          <a:p>
            <a:pPr algn="ctr" indent="0" marL="0">
              <a:buNone/>
            </a:pPr>
            <a:r>
              <a:rPr lang="en-US" sz="3200" b="1" i="1" dirty="0">
                <a:solidFill>
                  <a:srgbClr val="FFFFFF"/>
                </a:solidFill>
              </a:rPr>
              <a:t>Een standaard citeren is geen risicomanagement bedrijven.</a:t>
            </a:r>
            <a:endParaRPr lang="en-US" sz="3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Voor deel 3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Huiswerk: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</a:rPr>
              <a:t>opdracht 2.4 en 2.5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Deel 3: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</a:rPr>
              <a:t>het proces in vogelvlucht — en de stap die WGP 2.0 volledig oversloeg: context en criteria bepalen.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2026-08-15T21:57:40Z</dcterms:created>
  <dcterms:modified xsi:type="dcterms:W3CDTF">2026-08-15T21:57:40Z</dcterms:modified>
</cp:coreProperties>
</file>