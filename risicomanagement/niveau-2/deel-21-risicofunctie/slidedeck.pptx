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D99A3D"/>
                </a:solidFill>
              </a:rPr>
              <a:t>RISICOMANAGEMENT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108813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Deel 21 — De risicofunctie inrichten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33832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7D3E8"/>
                </a:solidFill>
              </a:rPr>
              <a:t>Niveau 2: Professional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Terugblik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82880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</a:rPr>
              <a:t>Cultuur en gedrag begrepen.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292608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2C5AA0"/>
                </a:solidFill>
              </a:rPr>
              <a:t>Vandaag: hoe richt je de functie zelf in?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Compliance's vraag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Hoeveel capaciteit? Aan wie rapporteren?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Hoe verhoudt Sanne's werk zich tot interne audit?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Niet inhoud — structuur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Deel 1-20: wat risicomanagement ís.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Vandaag: hoe je de functie inricht.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Terug naar deel 9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82880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</a:rPr>
              <a:t>Three lines, kort geïntroduceerd.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310896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2C5AA0"/>
                </a:solidFill>
              </a:rPr>
              <a:t>Beloofde verdieping: vandaag.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Wat heeft elke lijn nodig?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237744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B2A4A"/>
                </a:solidFill>
              </a:rPr>
              <a:t>Eerste lijn: capaciteit en instrumenten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Tweede lijn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237744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B2A4A"/>
                </a:solidFill>
              </a:rPr>
              <a:t>Mandaat en een onafhankelijke rapportagelijn.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Derde lijn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237744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B2A4A"/>
                </a:solidFill>
              </a:rPr>
              <a:t>Onafhankelijkheid — zonder isolatie.</a:t>
            </a: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Opdracht 21.1 — 15 minuten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Koppel de behoeften aan de lijnen.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Juli 2020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237744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A4A"/>
                </a:solidFill>
              </a:rPr>
              <a:t>IIA: ‘Three Lines of Defense’ → ‘Three Lines Model’</a:t>
            </a:r>
            <a:endParaRPr lang="en-US" sz="2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Wijziging 1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‘Defence’ volledig geschrapt.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Militaire framing → silovorming in de praktijk.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Wijziging 2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237744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B2A4A"/>
                </a:solidFill>
              </a:rPr>
              <a:t>De Governing Body: apart, expliciet verbonden.</a:t>
            </a:r>
            <a:endParaRPr lang="en-US" sz="2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Wijziging 3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237744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A4A"/>
                </a:solidFill>
              </a:rPr>
              <a:t>Van scheiding → samenwerking rond gedeelde doelstellingen.</a:t>
            </a:r>
            <a:endParaRPr lang="en-US" sz="2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Twee modellen naast elkaar</a:t>
            </a:r>
            <a:endParaRPr lang="en-US" sz="2600" dirty="0"/>
          </a:p>
        </p:txBody>
      </p:sp>
      <p:pic>
        <p:nvPicPr>
          <p:cNvPr id="3" name="Image 0" descr="C:\Projecten\eductus-trainingen\Risico management\tooling\figures\figuur-21-1-three-lines.png">    </p:cNvPr>
          <p:cNvPicPr>
            <a:picLocks noChangeAspect="1"/>
          </p:cNvPicPr>
          <p:nvPr/>
        </p:nvPicPr>
        <p:blipFill>
          <a:blip r:embed="rId1"/>
          <a:srcRect l="-12500" r="-12500" t="0" b="0"/>
          <a:stretch/>
        </p:blipFill>
        <p:spPr>
          <a:xfrm>
            <a:off x="822960" y="1188720"/>
            <a:ext cx="10515600" cy="42062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594360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A6478"/>
                </a:solidFill>
              </a:rPr>
              <a:t>Twee modellen naast elkaar: gescheiden linies vs overlappende rollen.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De kernuitspraak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237744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i="1" dirty="0">
                <a:solidFill>
                  <a:srgbClr val="1B2A4A"/>
                </a:solidFill>
              </a:rPr>
              <a:t>“Independence does not imply isolation.”</a:t>
            </a:r>
            <a:endParaRPr lang="en-US" sz="2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D99A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46304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spc="200" kern="0" dirty="0">
                <a:solidFill>
                  <a:srgbClr val="1B2A4A"/>
                </a:solidFill>
              </a:rPr>
              <a:t>KERNZIN 15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88720" y="2194560"/>
            <a:ext cx="97840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Onafhankelijkheid is geen isolatie — een risicofunctie die nooit met de eerste lijn samenwerkt, verliest het zicht op waar de risico's daadwerkelijk zitten.</a:t>
            </a:r>
            <a:endParaRPr lang="en-US" sz="2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Opdracht 21.2 — 15 minuten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Oud model, nieuw model, of allebei?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Drie kritiekpunten die blijven staan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Rigide toepassing → alsnog silo's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Kritiekpunt 2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237744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B2A4A"/>
                </a:solidFill>
              </a:rPr>
              <a:t>Het model zegt niets over benodigde capaciteit.</a:t>
            </a:r>
            <a:endParaRPr lang="en-US" sz="2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Kritiekpunt 3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201168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</a:rPr>
              <a:t>Kleinere organisaties kunnen strikte scheiding niet altijd waarmaken.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329184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2C5AA0"/>
                </a:solidFill>
              </a:rPr>
              <a:t>(Ook erkend onder IORP II-sleutelfuncties.)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Proportionaliteit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237744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B2A4A"/>
                </a:solidFill>
              </a:rPr>
              <a:t>Zelfde waarborgen. Kleinere, passende vorm.</a:t>
            </a:r>
            <a:endParaRPr lang="en-US" sz="2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Opdracht 21.3 — 25 minuten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Ontwerp een proportionele toepassing voor een kleine organisatie.</a:t>
            </a:r>
            <a:endParaRPr lang="en-US" sz="1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Sanne's ontwerp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Eerste lijn: tijd + instrumenten.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Tweede lijn: mandaat + kwartaaloverleg met audit.</a:t>
            </a:r>
            <a:endParaRPr lang="en-US" sz="1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Sanne's ontwerp, vervolg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82880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</a:rPr>
              <a:t>Derde lijn: onafhankelijk, niet geïsoleerd.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310896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</a:rPr>
              <a:t>Expliciet proportioneel — herijken bij groei.</a:t>
            </a:r>
            <a:endParaRPr lang="en-US" sz="2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Voor deel 22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2377440"/>
            <a:ext cx="10515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</a:rPr>
              <a:t>Deel 22: 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</a:rPr>
              <a:t>examentraining M_o_R/IRM + capstone — de afsluiting van niveau 2.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2026-08-17T06:40:33Z</dcterms:created>
  <dcterms:modified xsi:type="dcterms:W3CDTF">2026-08-17T06:40:33Z</dcterms:modified>
</cp:coreProperties>
</file>