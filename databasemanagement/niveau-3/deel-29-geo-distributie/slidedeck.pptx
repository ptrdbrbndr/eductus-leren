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</p:sldIdLst>
  <p:notesMasterIdLst>
    <p:notesMasterId r:id="rId32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notesMaster" Target="notesMasters/notesMaster1.xml"/><Relationship Id="rId33" Type="http://schemas.openxmlformats.org/officeDocument/2006/relationships/presProps" Target="presProps.xml"/><Relationship Id="rId34" Type="http://schemas.openxmlformats.org/officeDocument/2006/relationships/viewProps" Target="viewProps.xml"/><Relationship Id="rId35" Type="http://schemas.openxmlformats.org/officeDocument/2006/relationships/theme" Target="theme/theme1.xml"/><Relationship Id="rId3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laat de aantrekkelijkheid even zinken.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017520"/>
            <a:ext cx="137160" cy="146304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286000"/>
            <a:ext cx="108813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Geo-distributie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640080" y="338328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Niveau 3 — Deel 29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4297680"/>
            <a:ext cx="108813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5606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Terug naar "waar" — op een nieuwe schaal.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017520"/>
            <a:ext cx="137160" cy="146304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651760"/>
            <a:ext cx="108813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Vandaag: waar, opnieuw —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365760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nu over landsgrenzen heen.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4297680"/>
            <a:ext cx="108813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5606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Deel 23-26: waar staan gegevens (tenants, shards, federatie)</a:t>
            </a:r>
            <a:endParaRPr lang="en-US" sz="1500" dirty="0"/>
          </a:p>
          <a:p>
            <a:pPr indent="0" marL="0">
              <a:buNone/>
            </a:pPr>
            <a:r>
              <a:rPr lang="en-US" sz="1500" i="1" dirty="0">
                <a:solidFill>
                  <a:srgbClr val="55606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Deel 27-28: wát je vastlegt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Slide 3 — Drie, verschillende redenen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005840" cy="457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17320"/>
            <a:ext cx="10698480" cy="4617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Beschikbaarheid — regio-brede uitval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Latency — gebruikers ver van de database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Dataresidentie — wettelijke grenzen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Niet met elkaar verwarren.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017520"/>
            <a:ext cx="137160" cy="146304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651760"/>
            <a:ext cx="108813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De drie triggers herkennen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4297680"/>
            <a:ext cx="108813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5606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Is er voor de Pensioenfederatie, vandaag, één van de drie?</a:t>
            </a:r>
            <a:endParaRPr lang="en-US" sz="1500" dirty="0"/>
          </a:p>
          <a:p>
            <a:pPr indent="0" marL="0">
              <a:buNone/>
            </a:pPr>
            <a:r>
              <a:rPr lang="en-US" sz="1500" i="1" dirty="0">
                <a:solidFill>
                  <a:srgbClr val="55606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10 min, individueel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017520"/>
            <a:ext cx="137160" cy="146304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651760"/>
            <a:ext cx="108813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Geen tuning-parameter verandert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365760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 afstand tussen twee continenten.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4297680"/>
            <a:ext cx="108813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5606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Europa ↔ Azië: 100-150ms retourtijd.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Slide 6 — Wat dat kost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005840" cy="457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17320"/>
            <a:ext cx="10698480" cy="4617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Synchrone COMMIT naar een verre regio?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Die 100ms komt bovenop elke schrijfactie.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Latency doorrekenen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005840" cy="457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17320"/>
            <a:ext cx="10698480" cy="4617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Wat gebeurt er met 100 schrijftransacties/seconde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bij 100ms retourtijd?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15 min, tweetallen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017520"/>
            <a:ext cx="137160" cy="146304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651760"/>
            <a:ext cx="108813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Technisch aantrekkelijk ≠ toegestaan.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4297680"/>
            <a:ext cx="108813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5606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AVG: gegevensoverdracht buiten de EU alleen</a:t>
            </a:r>
            <a:endParaRPr lang="en-US" sz="1500" dirty="0"/>
          </a:p>
          <a:p>
            <a:pPr indent="0" marL="0">
              <a:buNone/>
            </a:pPr>
            <a:r>
              <a:rPr lang="en-US" sz="1500" i="1" dirty="0">
                <a:solidFill>
                  <a:srgbClr val="55606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onder specifieke voorwaarden.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017520"/>
            <a:ext cx="137160" cy="146304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651760"/>
            <a:ext cx="108813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Dataresidentie toepassen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4297680"/>
            <a:ext cx="108813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5606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Wie raadpleeg je vóór de technische keuze?</a:t>
            </a:r>
            <a:endParaRPr lang="en-US" sz="1500" dirty="0"/>
          </a:p>
          <a:p>
            <a:pPr indent="0" marL="0">
              <a:buNone/>
            </a:pPr>
            <a:r>
              <a:rPr lang="en-US" sz="1500" i="1" dirty="0">
                <a:solidFill>
                  <a:srgbClr val="55606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15 min, tweetallen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Slide 10 — Pauze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005840" cy="45720"/>
          </a:xfrm>
          <a:prstGeom prst="rect">
            <a:avLst/>
          </a:prstGeom>
          <a:solidFill>
            <a:srgbClr val="E9A13B"/>
          </a:solidFill>
          <a:ln/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Slide 11 — Drie topologieën</a:t>
            </a:r>
            <a:endParaRPr lang="en-US" sz="26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34440"/>
          <a:ext cx="11064240" cy="914400"/>
        </p:xfrm>
        <a:graphic>
          <a:graphicData uri="http://schemas.openxmlformats.org/drawingml/2006/table">
            <a:tbl>
              <a:tblPr/>
              <a:tblGrid>
                <a:gridCol w="3688080"/>
                <a:gridCol w="3688080"/>
                <a:gridCol w="368808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Schrijven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Complexiteit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Read-replica's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Eén regio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Laag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Actief-passief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Eén regio actief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Middel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Actief-actief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Overal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Hoog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FDC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Slide 12 — Topologie 1: read-replica's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005840" cy="457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17320"/>
            <a:ext cx="10698480" cy="4617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`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Primary (NL, schrijven+lezen)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│ asynchroon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▼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Replica (andere EU-regio, alleen lezen)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`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Een uitbreiding van deel 18. Niets nieuws.</a:t>
            </a:r>
            <a:endParaRPr lang="en-US" sz="16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Slide 13 — Topologie 2: actief-passief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005840" cy="457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17320"/>
            <a:ext cx="10698480" cy="4617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Patroni's failover-principe (deel 19) — nu op regioschaal.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RTO/RPO (deel 17) opnieuw, met een grotere afstand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en bewust minder automatisering.</a:t>
            </a:r>
            <a:endParaRPr lang="en-US" sz="16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De belofte: lage latency overal.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005840" cy="457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17320"/>
            <a:ext cx="10698480" cy="4069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`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Regio A (schrijven+lezen) ⇄ Regio B (schrijven+lezen)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`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6126480"/>
            <a:ext cx="10881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5606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laat de aantrekkelijkheid even zinken.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017520"/>
            <a:ext cx="137160" cy="146304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651760"/>
            <a:ext cx="108813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Geen enkele gezaghebbende plek meer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365760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om het conflict op te lossen.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4297680"/>
            <a:ext cx="108813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5606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Twee regio's, dezelfde rij, tegelijk gewijzigd.</a:t>
            </a:r>
            <a:endParaRPr lang="en-US" sz="15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Slide 16 — Vier oplossingen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005840" cy="457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17320"/>
            <a:ext cx="10698480" cy="4617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Last-write-wins — simpel, verlieslatend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Domeinspecifieke merge — correcter, maatwerk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CRDT's — wiskundig gegarandeerd, niet overal toepasbaar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Voorkomen: geo-partitioneren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2971800"/>
            <a:ext cx="10698480" cy="3063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Volgorde van voorkeur: 4, dan pas de rest.</a:t>
            </a:r>
            <a:endParaRPr lang="en-US" sz="16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Slide 17 — Opdracht 29.4 &amp; 29.5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005840" cy="457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17320"/>
            <a:ext cx="10698480" cy="4617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29.4 Topologieën toepassen — vier scenario's — 20 min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29.5 Conflictresolutie doordenken — bouw het scenario zelf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20 min, drietallen</a:t>
            </a:r>
            <a:endParaRPr lang="en-US" sz="16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Slide 18 — Pauze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005840" cy="45720"/>
          </a:xfrm>
          <a:prstGeom prst="rect">
            <a:avLst/>
          </a:prstGeom>
          <a:solidFill>
            <a:srgbClr val="E9A13B"/>
          </a:solidFill>
          <a:ln/>
        </p:spPr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017520"/>
            <a:ext cx="137160" cy="146304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651760"/>
            <a:ext cx="108813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Geo-partitionering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4297680"/>
            <a:ext cx="108813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5606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Data bij de bron houden, niet overal repliceren.</a:t>
            </a:r>
            <a:endParaRPr lang="en-US" sz="15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Slide 20 — Precies deel 16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005840" cy="457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17320"/>
            <a:ext cx="10698480" cy="4617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`sql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CREATE TABLE deelnemer (...) PARTITION BY LIST (regio);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CREATE TABLE deelnemer_nl PARTITION OF deelnemer FOR VALUES IN ('NL');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CREATE TABLE deelnemer_be PARTITION OF deelnemer FOR VALUES IN ('BE');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`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Range-partitionering, nu op regio in plaats van tijd.</a:t>
            </a:r>
            <a:endParaRPr lang="en-US" sz="16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Slide 21 — Wat dit gratis oplost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005840" cy="457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17320"/>
            <a:ext cx="10698480" cy="4617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Geen cross-regio-latency voor het gangbare geval.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Geen actief-actief-conflict mogelijk.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Dataresidentie: bij ontwerp gegarandeerd.</a:t>
            </a:r>
            <a:endParaRPr lang="en-US" sz="16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017520"/>
            <a:ext cx="137160" cy="146304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651760"/>
            <a:ext cx="108813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Geo-partitionering ontwerpen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4297680"/>
            <a:ext cx="108813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5606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Combineer conceptueel met Citus shard placement.</a:t>
            </a:r>
            <a:endParaRPr lang="en-US" sz="1500" dirty="0"/>
          </a:p>
          <a:p>
            <a:pPr indent="0" marL="0">
              <a:buNone/>
            </a:pPr>
            <a:r>
              <a:rPr lang="en-US" sz="1500" i="1" dirty="0">
                <a:solidFill>
                  <a:srgbClr val="55606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15 min, tweetallen</a:t>
            </a:r>
            <a:endParaRPr lang="en-US" sz="15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017520"/>
            <a:ext cx="137160" cy="146304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651760"/>
            <a:ext cx="108813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Moet de sleuteltabel ook naar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365760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elke replica-regio repliceren.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4297680"/>
            <a:ext cx="108813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5606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Een verwijderingsverzoek (crypto-shredding, deel 28).</a:t>
            </a:r>
            <a:endParaRPr lang="en-US" sz="15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017520"/>
            <a:ext cx="137160" cy="146304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651760"/>
            <a:ext cx="108813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Een replica "vergeet" het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365760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verwijderingsverzoek. Voor altijd.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4297680"/>
            <a:ext cx="108813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5606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Sleuteltabel per ongeluk uitgesloten van replicatie?</a:t>
            </a:r>
            <a:endParaRPr lang="en-US" sz="15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017520"/>
            <a:ext cx="137160" cy="146304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651760"/>
            <a:ext cx="108813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AVG over regio's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4297680"/>
            <a:ext cx="108813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5606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10 min, individueel</a:t>
            </a:r>
            <a:endParaRPr lang="en-US" sz="15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017520"/>
            <a:ext cx="137160" cy="146304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651760"/>
            <a:ext cx="108813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Heb ik gebruikers of wettelijke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365760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eisen in meerdere regio's —  ·  vandaag, of aantoonbaar op korte termijn?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4297680"/>
            <a:ext cx="108813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5606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Zo niet: een oplossing voor een probleem</a:t>
            </a:r>
            <a:endParaRPr lang="en-US" sz="1500" dirty="0"/>
          </a:p>
          <a:p>
            <a:pPr indent="0" marL="0">
              <a:buNone/>
            </a:pPr>
            <a:r>
              <a:rPr lang="en-US" sz="1500" i="1" dirty="0">
                <a:solidFill>
                  <a:srgbClr val="55606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dat nog niet bestaat.</a:t>
            </a:r>
            <a:endParaRPr lang="en-US" sz="15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017520"/>
            <a:ext cx="137160" cy="146304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651760"/>
            <a:ext cx="108813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Geen van de drie triggers aanwezig.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4297680"/>
            <a:ext cx="108813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5606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Het scherpste "nog niet nodig" van heel niveau 3.</a:t>
            </a:r>
            <a:endParaRPr lang="en-US" sz="15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Slide 28 — Maar niet nutteloos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005840" cy="457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17320"/>
            <a:ext cx="10698480" cy="4617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Als het ooit relevant wordt: begin bij read-replica's.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Overweeg geo-partitionering bij structureel schrijfverkeer.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Vermijd actief-actief zonder geteste strategie.</a:t>
            </a:r>
            <a:endParaRPr lang="en-US" sz="16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Het geo-advies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005840" cy="457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17320"/>
            <a:ext cx="10698480" cy="4617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Eerlijk "nu niet nodig" · lichtste eerste stap ·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concrete voorwaarde voor actief-actief ·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een praktisch dataresidentie-risico, ook nu al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40 min, drietallen</a:t>
            </a:r>
            <a:endParaRPr lang="en-US" sz="16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213D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Deel 30 — De niveau-3-capstone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1005840" cy="45720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17320"/>
            <a:ext cx="10698480" cy="4617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Acht delen. Multi-tenancy tot geo-distributie.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Volgende keer: alles samen, in een afsluitende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4213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architectuuropdracht — en een terugblik op de hele cursus.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30</Slides>
  <Notes>30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2026-08-17T09:38:46Z</dcterms:created>
  <dcterms:modified xsi:type="dcterms:W3CDTF">2026-08-17T09:38:46Z</dcterms:modified>
</cp:coreProperties>
</file>