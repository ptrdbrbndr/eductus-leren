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4297680"/>
            <a:ext cx="9144000" cy="54864"/>
          </a:xfrm>
          <a:prstGeom prst="rect">
            <a:avLst/>
          </a:prstGeom>
          <a:solidFill>
            <a:srgbClr val="D99A3D"/>
          </a:solidFill>
          <a:ln/>
        </p:spPr>
      </p:sp>
      <p:sp>
        <p:nvSpPr>
          <p:cNvPr id="3" name="Text 1"/>
          <p:cNvSpPr/>
          <p:nvPr/>
        </p:nvSpPr>
        <p:spPr>
          <a:xfrm>
            <a:off x="640080" y="1920240"/>
            <a:ext cx="7863840" cy="457200"/>
          </a:xfrm>
          <a:prstGeom prst="rect">
            <a:avLst/>
          </a:prstGeom>
          <a:noFill/>
          <a:ln/>
        </p:spPr>
        <p:txBody>
          <a:bodyPr wrap="square" rtlCol="0" anchor="ctr"/>
          <a:lstStyle/>
          <a:p>
            <a:pPr indent="0" marL="0">
              <a:buNone/>
            </a:pPr>
            <a:r>
              <a:rPr lang="en-US" sz="1600" b="1" dirty="0">
                <a:solidFill>
                  <a:srgbClr val="D99A3D"/>
                </a:solidFill>
                <a:latin typeface="Calibri" pitchFamily="34" charset="0"/>
                <a:ea typeface="Calibri" pitchFamily="34" charset="-122"/>
                <a:cs typeface="Calibri" pitchFamily="34" charset="-120"/>
              </a:rPr>
              <a:t>Deel 4 · Niveau 1 Fundamenten</a:t>
            </a:r>
            <a:endParaRPr lang="en-US" sz="1600" dirty="0"/>
          </a:p>
        </p:txBody>
      </p:sp>
      <p:sp>
        <p:nvSpPr>
          <p:cNvPr id="4" name="Text 2"/>
          <p:cNvSpPr/>
          <p:nvPr/>
        </p:nvSpPr>
        <p:spPr>
          <a:xfrm>
            <a:off x="640080" y="2377440"/>
            <a:ext cx="7863840" cy="128016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Stamgegevens &amp; datakwaliteit</a:t>
            </a:r>
            <a:endParaRPr lang="en-US" sz="4000" dirty="0"/>
          </a:p>
        </p:txBody>
      </p:sp>
      <p:sp>
        <p:nvSpPr>
          <p:cNvPr id="5" name="Text 3"/>
          <p:cNvSpPr/>
          <p:nvPr/>
        </p:nvSpPr>
        <p:spPr>
          <a:xfrm>
            <a:off x="640080" y="4480560"/>
            <a:ext cx="7863840" cy="731520"/>
          </a:xfrm>
          <a:prstGeom prst="rect">
            <a:avLst/>
          </a:prstGeom>
          <a:noFill/>
          <a:ln/>
        </p:spPr>
        <p:txBody>
          <a:bodyPr wrap="square" rtlCol="0" anchor="ctr"/>
          <a:lstStyle/>
          <a:p>
            <a:pPr indent="0" marL="0">
              <a:buNone/>
            </a:pPr>
            <a:r>
              <a:rPr lang="en-US" sz="1800" i="1" dirty="0">
                <a:solidFill>
                  <a:srgbClr val="CCD6E8"/>
                </a:solidFill>
                <a:latin typeface="Calibri" pitchFamily="34" charset="0"/>
                <a:ea typeface="Calibri" pitchFamily="34" charset="-122"/>
                <a:cs typeface="Calibri" pitchFamily="34" charset="-120"/>
              </a:rPr>
              <a:t>Deel 4 · Niveau 1 Fundamenten · Cursus SAP voor Business Analysts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A4A"/>
          </a:solidFill>
          <a:ln/>
        </p:spPr>
      </p:sp>
      <p:sp>
        <p:nvSpPr>
          <p:cNvPr id="3" name="Text 1"/>
          <p:cNvSpPr/>
          <p:nvPr/>
        </p:nvSpPr>
        <p:spPr>
          <a:xfrm>
            <a:off x="457200" y="164592"/>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Wat we vandaag doen</a:t>
            </a:r>
            <a:endParaRPr lang="en-US" sz="2400" dirty="0"/>
          </a:p>
        </p:txBody>
      </p:sp>
      <p:sp>
        <p:nvSpPr>
          <p:cNvPr id="4" name="Text 2"/>
          <p:cNvSpPr/>
          <p:nvPr/>
        </p:nvSpPr>
        <p:spPr>
          <a:xfrm>
            <a:off x="548640" y="1371600"/>
            <a:ext cx="8046720" cy="4389120"/>
          </a:xfrm>
          <a:prstGeom prst="rect">
            <a:avLst/>
          </a:prstGeom>
          <a:noFill/>
          <a:ln/>
        </p:spPr>
        <p:txBody>
          <a:bodyPr wrap="square" rtlCol="0" anchor="ctr"/>
          <a:lstStyle/>
          <a:p>
            <a:pPr marL="254000" indent="-254000">
              <a:lnSpc>
                <a:spcPct val="130000"/>
              </a:lnSpc>
              <a:buSzPct val="100000"/>
              <a:buChar char="•"/>
            </a:pPr>
            <a:r>
              <a:rPr lang="en-US" sz="1600" dirty="0">
                <a:solidFill>
                  <a:srgbClr val="1B2A4A"/>
                </a:solidFill>
                <a:latin typeface="Calibri" pitchFamily="34" charset="0"/>
                <a:ea typeface="Calibri" pitchFamily="34" charset="-122"/>
                <a:cs typeface="Calibri" pitchFamily="34" charset="-120"/>
              </a:rPr>
              <a:t>Eén werkgever, twee records — sinds een fusie in 2016</a:t>
            </a:r>
            <a:endParaRPr lang="en-US" sz="1600" dirty="0"/>
          </a:p>
          <a:p>
            <a:pPr marL="254000" indent="-254000">
              <a:lnSpc>
                <a:spcPct val="130000"/>
              </a:lnSpc>
              <a:buSzPct val="100000"/>
              <a:buChar char="•"/>
            </a:pPr>
            <a:r>
              <a:rPr lang="en-US" sz="1600" dirty="0">
                <a:solidFill>
                  <a:srgbClr val="1B2A4A"/>
                </a:solidFill>
                <a:latin typeface="Calibri" pitchFamily="34" charset="0"/>
                <a:ea typeface="Calibri" pitchFamily="34" charset="-122"/>
                <a:cs typeface="Calibri" pitchFamily="34" charset="-120"/>
              </a:rPr>
              <a:t>Drie vormen van stamgegevensproblemen</a:t>
            </a:r>
            <a:endParaRPr lang="en-US" sz="1600" dirty="0"/>
          </a:p>
          <a:p>
            <a:pPr marL="254000" indent="-254000">
              <a:lnSpc>
                <a:spcPct val="130000"/>
              </a:lnSpc>
              <a:buSzPct val="100000"/>
              <a:buChar char="•"/>
            </a:pPr>
            <a:r>
              <a:rPr lang="en-US" sz="1600" dirty="0">
                <a:solidFill>
                  <a:srgbClr val="1B2A4A"/>
                </a:solidFill>
                <a:latin typeface="Calibri" pitchFamily="34" charset="0"/>
                <a:ea typeface="Calibri" pitchFamily="34" charset="-122"/>
                <a:cs typeface="Calibri" pitchFamily="34" charset="-120"/>
              </a:rPr>
              <a:t>De stilste bron van BTX-fouten</a:t>
            </a:r>
            <a:endParaRPr lang="en-US" sz="1600" dirty="0"/>
          </a:p>
          <a:p>
            <a:pPr marL="254000" indent="-254000">
              <a:lnSpc>
                <a:spcPct val="130000"/>
              </a:lnSpc>
              <a:buSzPct val="100000"/>
              <a:buChar char="•"/>
            </a:pPr>
            <a:r>
              <a:rPr lang="en-US" sz="1600" dirty="0">
                <a:solidFill>
                  <a:srgbClr val="1B2A4A"/>
                </a:solidFill>
                <a:latin typeface="Calibri" pitchFamily="34" charset="0"/>
                <a:ea typeface="Calibri" pitchFamily="34" charset="-122"/>
                <a:cs typeface="Calibri" pitchFamily="34" charset="-120"/>
              </a:rPr>
              <a:t>Stamgegevensbeheer op BA-niveau: eigenaarschap, opschoning, detectie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4160520" y="1280160"/>
            <a:ext cx="822960" cy="54864"/>
          </a:xfrm>
          <a:prstGeom prst="rect">
            <a:avLst/>
          </a:prstGeom>
          <a:solidFill>
            <a:srgbClr val="D99A3D"/>
          </a:solidFill>
          <a:ln/>
        </p:spPr>
      </p:sp>
      <p:sp>
        <p:nvSpPr>
          <p:cNvPr id="3" name="Text 1"/>
          <p:cNvSpPr/>
          <p:nvPr/>
        </p:nvSpPr>
        <p:spPr>
          <a:xfrm>
            <a:off x="822960" y="2103120"/>
            <a:ext cx="7498080" cy="2377440"/>
          </a:xfrm>
          <a:prstGeom prst="rect">
            <a:avLst/>
          </a:prstGeom>
          <a:noFill/>
          <a:ln/>
        </p:spPr>
        <p:txBody>
          <a:bodyPr wrap="square" rtlCol="0" anchor="ctr"/>
          <a:lstStyle/>
          <a:p>
            <a:pPr algn="ctr" indent="0" marL="0">
              <a:buNone/>
            </a:pPr>
            <a:r>
              <a:rPr lang="en-US" sz="3000" b="1" i="1" dirty="0">
                <a:solidFill>
                  <a:srgbClr val="FFFFFF"/>
                </a:solidFill>
                <a:latin typeface="Georgia" pitchFamily="34" charset="0"/>
                <a:ea typeface="Georgia" pitchFamily="34" charset="-122"/>
                <a:cs typeface="Georgia" pitchFamily="34" charset="-120"/>
              </a:rPr>
              <a:t>Vijftien jaar klant. Twee keer geregistreerd. Nooit samengevoegd.</a:t>
            </a:r>
            <a:endParaRPr lang="en-US" sz="3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A4A"/>
          </a:solidFill>
          <a:ln/>
        </p:spPr>
      </p:sp>
      <p:sp>
        <p:nvSpPr>
          <p:cNvPr id="3" name="Text 1"/>
          <p:cNvSpPr/>
          <p:nvPr/>
        </p:nvSpPr>
        <p:spPr>
          <a:xfrm>
            <a:off x="457200" y="164592"/>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Deel 4</a:t>
            </a:r>
            <a:endParaRPr lang="en-US" sz="2400" dirty="0"/>
          </a:p>
        </p:txBody>
      </p:sp>
      <p:pic>
        <p:nvPicPr>
          <p:cNvPr id="4" name="Image 0" descr="C:\Projecten\eductus-trainingen\SAP voor Business Analysts-opgemaakt\niveau-1\deel-04\figuren\figuur-4-1.png">    </p:cNvPr>
          <p:cNvPicPr>
            <a:picLocks noChangeAspect="1"/>
          </p:cNvPicPr>
          <p:nvPr/>
        </p:nvPicPr>
        <p:blipFill>
          <a:blip r:embed="rId1"/>
          <a:srcRect l="0" r="0" t="0" b="0"/>
          <a:stretch/>
        </p:blipFill>
        <p:spPr>
          <a:xfrm>
            <a:off x="1280160" y="1280160"/>
            <a:ext cx="6583680" cy="44805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822960"/>
            <a:ext cx="91440" cy="5029200"/>
          </a:xfrm>
          <a:prstGeom prst="rect">
            <a:avLst/>
          </a:prstGeom>
          <a:solidFill>
            <a:srgbClr val="2C5AA0"/>
          </a:solidFill>
          <a:ln/>
        </p:spPr>
      </p:sp>
      <p:sp>
        <p:nvSpPr>
          <p:cNvPr id="3" name="Text 1"/>
          <p:cNvSpPr/>
          <p:nvPr/>
        </p:nvSpPr>
        <p:spPr>
          <a:xfrm>
            <a:off x="1005840" y="1188720"/>
            <a:ext cx="7315200" cy="3840480"/>
          </a:xfrm>
          <a:prstGeom prst="rect">
            <a:avLst/>
          </a:prstGeom>
          <a:noFill/>
          <a:ln/>
        </p:spPr>
        <p:txBody>
          <a:bodyPr wrap="square" rtlCol="0" anchor="ctr"/>
          <a:lstStyle/>
          <a:p>
            <a:pPr indent="0" marL="0">
              <a:buNone/>
            </a:pPr>
            <a:r>
              <a:rPr lang="en-US" sz="2200" i="1" dirty="0">
                <a:solidFill>
                  <a:srgbClr val="1B2A4A"/>
                </a:solidFill>
                <a:latin typeface="Georgia" pitchFamily="34" charset="0"/>
                <a:ea typeface="Georgia" pitchFamily="34" charset="-122"/>
                <a:cs typeface="Georgia" pitchFamily="34" charset="-120"/>
              </a:rPr>
              <a:t>&gt; "Dit zien we bij vrijwel elke migratie. Het is niet een SAP-probleem, het was al een Panorama-probleem."</a:t>
            </a:r>
            <a:endParaRPr lang="en-US" sz="2200" dirty="0"/>
          </a:p>
        </p:txBody>
      </p:sp>
      <p:sp>
        <p:nvSpPr>
          <p:cNvPr id="4" name="Text 2"/>
          <p:cNvSpPr/>
          <p:nvPr/>
        </p:nvSpPr>
        <p:spPr>
          <a:xfrm>
            <a:off x="1005840" y="5120640"/>
            <a:ext cx="7315200" cy="457200"/>
          </a:xfrm>
          <a:prstGeom prst="rect">
            <a:avLst/>
          </a:prstGeom>
          <a:noFill/>
          <a:ln/>
        </p:spPr>
        <p:txBody>
          <a:bodyPr wrap="square" rtlCol="0" anchor="ctr"/>
          <a:lstStyle/>
          <a:p>
            <a:pPr indent="0" marL="0">
              <a:buNone/>
            </a:pPr>
            <a:r>
              <a:rPr lang="en-US" sz="1300" b="1" dirty="0">
                <a:solidFill>
                  <a:srgbClr val="2C5AA0"/>
                </a:solidFill>
                <a:latin typeface="Calibri" pitchFamily="34" charset="0"/>
                <a:ea typeface="Calibri" pitchFamily="34" charset="-122"/>
                <a:cs typeface="Calibri" pitchFamily="34" charset="-120"/>
              </a:rPr>
              <a:t>Priya Chandra</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C5AA0"/>
        </a:solidFill>
      </p:bgPr>
    </p:bg>
    <p:spTree>
      <p:nvGrpSpPr>
        <p:cNvPr id="1" name=""/>
        <p:cNvGrpSpPr/>
        <p:nvPr/>
      </p:nvGrpSpPr>
      <p:grpSpPr>
        <a:xfrm>
          <a:off x="0" y="0"/>
          <a:ext cx="0" cy="0"/>
          <a:chOff x="0" y="0"/>
          <a:chExt cx="0" cy="0"/>
        </a:xfrm>
      </p:grpSpPr>
      <p:sp>
        <p:nvSpPr>
          <p:cNvPr id="2" name="Text 0"/>
          <p:cNvSpPr/>
          <p:nvPr/>
        </p:nvSpPr>
        <p:spPr>
          <a:xfrm>
            <a:off x="640080" y="2743200"/>
            <a:ext cx="7863840" cy="457200"/>
          </a:xfrm>
          <a:prstGeom prst="rect">
            <a:avLst/>
          </a:prstGeom>
          <a:noFill/>
          <a:ln/>
        </p:spPr>
        <p:txBody>
          <a:bodyPr wrap="square" rtlCol="0" anchor="ctr"/>
          <a:lstStyle/>
          <a:p>
            <a:pPr indent="0" marL="0">
              <a:buNone/>
            </a:pPr>
            <a:r>
              <a:rPr lang="en-US" sz="1500" b="1" dirty="0">
                <a:solidFill>
                  <a:srgbClr val="E5D2AE"/>
                </a:solidFill>
                <a:latin typeface="Calibri" pitchFamily="34" charset="0"/>
                <a:ea typeface="Calibri" pitchFamily="34" charset="-122"/>
                <a:cs typeface="Calibri" pitchFamily="34" charset="-120"/>
              </a:rPr>
              <a:t>Deel 4</a:t>
            </a:r>
            <a:endParaRPr lang="en-US" sz="1500" dirty="0"/>
          </a:p>
        </p:txBody>
      </p:sp>
      <p:sp>
        <p:nvSpPr>
          <p:cNvPr id="3" name="Text 1"/>
          <p:cNvSpPr/>
          <p:nvPr/>
        </p:nvSpPr>
        <p:spPr>
          <a:xfrm>
            <a:off x="640080" y="3108960"/>
            <a:ext cx="7863840" cy="128016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Drie vormen van problemen</a:t>
            </a:r>
            <a:endParaRPr lang="en-US" sz="3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A4A"/>
          </a:solidFill>
          <a:ln/>
        </p:spPr>
      </p:sp>
      <p:sp>
        <p:nvSpPr>
          <p:cNvPr id="3" name="Text 1"/>
          <p:cNvSpPr/>
          <p:nvPr/>
        </p:nvSpPr>
        <p:spPr>
          <a:xfrm>
            <a:off x="457200" y="164592"/>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Deel 4</a:t>
            </a:r>
            <a:endParaRPr lang="en-US" sz="2400" dirty="0"/>
          </a:p>
        </p:txBody>
      </p:sp>
      <p:pic>
        <p:nvPicPr>
          <p:cNvPr id="4" name="Image 0" descr="C:\Projecten\eductus-trainingen\SAP voor Business Analysts-opgemaakt\niveau-1\deel-04\figuren\figuur-4-2.png">    </p:cNvPr>
          <p:cNvPicPr>
            <a:picLocks noChangeAspect="1"/>
          </p:cNvPicPr>
          <p:nvPr/>
        </p:nvPicPr>
        <p:blipFill>
          <a:blip r:embed="rId1"/>
          <a:srcRect l="0" r="0" t="0" b="0"/>
          <a:stretch/>
        </p:blipFill>
        <p:spPr>
          <a:xfrm>
            <a:off x="1280160" y="1280160"/>
            <a:ext cx="6583680" cy="44805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A4A"/>
          </a:solidFill>
          <a:ln/>
        </p:spPr>
      </p:sp>
      <p:sp>
        <p:nvSpPr>
          <p:cNvPr id="3" name="Text 1"/>
          <p:cNvSpPr/>
          <p:nvPr/>
        </p:nvSpPr>
        <p:spPr>
          <a:xfrm>
            <a:off x="457200" y="164592"/>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Drie vormen</a:t>
            </a:r>
            <a:endParaRPr lang="en-US" sz="2400" dirty="0"/>
          </a:p>
        </p:txBody>
      </p:sp>
      <p:sp>
        <p:nvSpPr>
          <p:cNvPr id="4" name="Text 2"/>
          <p:cNvSpPr/>
          <p:nvPr/>
        </p:nvSpPr>
        <p:spPr>
          <a:xfrm>
            <a:off x="548640" y="1371600"/>
            <a:ext cx="8046720" cy="4389120"/>
          </a:xfrm>
          <a:prstGeom prst="rect">
            <a:avLst/>
          </a:prstGeom>
          <a:noFill/>
          <a:ln/>
        </p:spPr>
        <p:txBody>
          <a:bodyPr wrap="square" rtlCol="0" anchor="ctr"/>
          <a:lstStyle/>
          <a:p>
            <a:pPr marL="254000" indent="-254000">
              <a:lnSpc>
                <a:spcPct val="130000"/>
              </a:lnSpc>
              <a:buSzPct val="100000"/>
              <a:buChar char="•"/>
            </a:pPr>
            <a:r>
              <a:rPr lang="en-US" sz="1600" dirty="0">
                <a:solidFill>
                  <a:srgbClr val="1B2A4A"/>
                </a:solidFill>
                <a:latin typeface="Calibri" pitchFamily="34" charset="0"/>
                <a:ea typeface="Calibri" pitchFamily="34" charset="-122"/>
                <a:cs typeface="Calibri" pitchFamily="34" charset="-120"/>
              </a:rPr>
              <a:t>Duplicaat — twee records, één ding</a:t>
            </a:r>
            <a:endParaRPr lang="en-US" sz="1600" dirty="0"/>
          </a:p>
          <a:p>
            <a:pPr marL="254000" indent="-254000">
              <a:lnSpc>
                <a:spcPct val="130000"/>
              </a:lnSpc>
              <a:buSzPct val="100000"/>
              <a:buChar char="•"/>
            </a:pPr>
            <a:r>
              <a:rPr lang="en-US" sz="1600" dirty="0">
                <a:solidFill>
                  <a:srgbClr val="1B2A4A"/>
                </a:solidFill>
                <a:latin typeface="Calibri" pitchFamily="34" charset="0"/>
                <a:ea typeface="Calibri" pitchFamily="34" charset="-122"/>
                <a:cs typeface="Calibri" pitchFamily="34" charset="-120"/>
              </a:rPr>
              <a:t>Verouderd gegeven — één record, niet meer actueel</a:t>
            </a:r>
            <a:endParaRPr lang="en-US" sz="1600" dirty="0"/>
          </a:p>
          <a:p>
            <a:pPr marL="254000" indent="-254000">
              <a:lnSpc>
                <a:spcPct val="130000"/>
              </a:lnSpc>
              <a:buSzPct val="100000"/>
              <a:buChar char="•"/>
            </a:pPr>
            <a:r>
              <a:rPr lang="en-US" sz="1600" dirty="0">
                <a:solidFill>
                  <a:srgbClr val="1B2A4A"/>
                </a:solidFill>
                <a:latin typeface="Calibri" pitchFamily="34" charset="0"/>
                <a:ea typeface="Calibri" pitchFamily="34" charset="-122"/>
                <a:cs typeface="Calibri" pitchFamily="34" charset="-120"/>
              </a:rPr>
              <a:t>Inconsistente vastlegging — geen fout record, wel een tegenstrijdigheid ertussen — het lastigst te vinden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BF3E7"/>
          </a:solidFill>
          <a:ln/>
        </p:spPr>
      </p:sp>
      <p:sp>
        <p:nvSpPr>
          <p:cNvPr id="3" name="Shape 1"/>
          <p:cNvSpPr/>
          <p:nvPr/>
        </p:nvSpPr>
        <p:spPr>
          <a:xfrm>
            <a:off x="0" y="0"/>
            <a:ext cx="164592" cy="6858000"/>
          </a:xfrm>
          <a:prstGeom prst="rect">
            <a:avLst/>
          </a:prstGeom>
          <a:solidFill>
            <a:srgbClr val="D99A3D"/>
          </a:solidFill>
          <a:ln/>
        </p:spPr>
      </p:sp>
      <p:sp>
        <p:nvSpPr>
          <p:cNvPr id="4" name="Text 2"/>
          <p:cNvSpPr/>
          <p:nvPr/>
        </p:nvSpPr>
        <p:spPr>
          <a:xfrm>
            <a:off x="640080" y="548640"/>
            <a:ext cx="7863840" cy="457200"/>
          </a:xfrm>
          <a:prstGeom prst="rect">
            <a:avLst/>
          </a:prstGeom>
          <a:noFill/>
          <a:ln/>
        </p:spPr>
        <p:txBody>
          <a:bodyPr wrap="square" rtlCol="0" anchor="ctr"/>
          <a:lstStyle/>
          <a:p>
            <a:pPr indent="0" marL="0">
              <a:buNone/>
            </a:pPr>
            <a:r>
              <a:rPr lang="en-US" sz="1400" b="1" dirty="0">
                <a:solidFill>
                  <a:srgbClr val="D99A3D"/>
                </a:solidFill>
                <a:latin typeface="Calibri" pitchFamily="34" charset="0"/>
                <a:ea typeface="Calibri" pitchFamily="34" charset="-122"/>
                <a:cs typeface="Calibri" pitchFamily="34" charset="-120"/>
              </a:rPr>
              <a:t>OPDRACHT 4.1</a:t>
            </a:r>
            <a:endParaRPr lang="en-US" sz="1400" dirty="0"/>
          </a:p>
        </p:txBody>
      </p:sp>
      <p:sp>
        <p:nvSpPr>
          <p:cNvPr id="5" name="Text 3"/>
          <p:cNvSpPr/>
          <p:nvPr/>
        </p:nvSpPr>
        <p:spPr>
          <a:xfrm>
            <a:off x="640080" y="1005840"/>
            <a:ext cx="7863840" cy="914400"/>
          </a:xfrm>
          <a:prstGeom prst="rect">
            <a:avLst/>
          </a:prstGeom>
          <a:noFill/>
          <a:ln/>
        </p:spPr>
        <p:txBody>
          <a:bodyPr wrap="square"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4.1 — Welk type probleem is dit?</a:t>
            </a:r>
            <a:endParaRPr lang="en-US" sz="2600" dirty="0"/>
          </a:p>
        </p:txBody>
      </p:sp>
      <p:sp>
        <p:nvSpPr>
          <p:cNvPr id="6" name="Text 4"/>
          <p:cNvSpPr/>
          <p:nvPr/>
        </p:nvSpPr>
        <p:spPr>
          <a:xfrm>
            <a:off x="640080" y="2103120"/>
            <a:ext cx="7863840" cy="3200400"/>
          </a:xfrm>
          <a:prstGeom prst="rect">
            <a:avLst/>
          </a:prstGeom>
          <a:noFill/>
          <a:ln/>
        </p:spPr>
        <p:txBody>
          <a:bodyPr wrap="square" rtlCol="0" anchor="ctr"/>
          <a:lstStyle/>
          <a:p>
            <a:pPr marL="254000" indent="-254000">
              <a:lnSpc>
                <a:spcPct val="130000"/>
              </a:lnSpc>
              <a:buSzPct val="100000"/>
              <a:buChar char="•"/>
            </a:pPr>
            <a:r>
              <a:rPr lang="en-US" sz="1500" dirty="0">
                <a:solidFill>
                  <a:srgbClr val="1B2A4A"/>
                </a:solidFill>
                <a:latin typeface="Calibri" pitchFamily="34" charset="0"/>
                <a:ea typeface="Calibri" pitchFamily="34" charset="-122"/>
                <a:cs typeface="Calibri" pitchFamily="34" charset="-120"/>
              </a:rPr>
              <a:t>Vier situaties: duplicaat, verouderd, of inconsistent?</a:t>
            </a:r>
            <a:endParaRPr lang="en-US" sz="1500" dirty="0"/>
          </a:p>
          <a:p>
            <a:pPr marL="254000" indent="-254000">
              <a:lnSpc>
                <a:spcPct val="130000"/>
              </a:lnSpc>
              <a:buSzPct val="100000"/>
              <a:buChar char="•"/>
            </a:pPr>
            <a:r>
              <a:rPr lang="en-US" sz="1500" dirty="0">
                <a:solidFill>
                  <a:srgbClr val="1B2A4A"/>
                </a:solidFill>
                <a:latin typeface="Calibri" pitchFamily="34" charset="0"/>
                <a:ea typeface="Calibri" pitchFamily="34" charset="-122"/>
                <a:cs typeface="Calibri" pitchFamily="34" charset="-120"/>
              </a:rPr>
              <a:t>a. Werkgever onder twee namen sinds een fusie</a:t>
            </a:r>
            <a:endParaRPr lang="en-US" sz="1500" dirty="0"/>
          </a:p>
          <a:p>
            <a:pPr marL="254000" indent="-254000">
              <a:lnSpc>
                <a:spcPct val="130000"/>
              </a:lnSpc>
              <a:buSzPct val="100000"/>
              <a:buChar char="•"/>
            </a:pPr>
            <a:r>
              <a:rPr lang="en-US" sz="1500" dirty="0">
                <a:solidFill>
                  <a:srgbClr val="1B2A4A"/>
                </a:solidFill>
                <a:latin typeface="Calibri" pitchFamily="34" charset="0"/>
                <a:ea typeface="Calibri" pitchFamily="34" charset="-122"/>
                <a:cs typeface="Calibri" pitchFamily="34" charset="-120"/>
              </a:rPr>
              <a:t>b. Oud adres, drie jaar niet bijgewerkt</a:t>
            </a:r>
            <a:endParaRPr lang="en-US" sz="1500" dirty="0"/>
          </a:p>
          <a:p>
            <a:pPr marL="254000" indent="-254000">
              <a:lnSpc>
                <a:spcPct val="130000"/>
              </a:lnSpc>
              <a:buSzPct val="100000"/>
              <a:buChar char="•"/>
            </a:pPr>
            <a:r>
              <a:rPr lang="en-US" sz="1500" dirty="0">
                <a:solidFill>
                  <a:srgbClr val="1B2A4A"/>
                </a:solidFill>
                <a:latin typeface="Calibri" pitchFamily="34" charset="0"/>
                <a:ea typeface="Calibri" pitchFamily="34" charset="-122"/>
                <a:cs typeface="Calibri" pitchFamily="34" charset="-120"/>
              </a:rPr>
              <a:t>c. Postbus in het ene scherm, straatnaam in het andere</a:t>
            </a:r>
            <a:endParaRPr lang="en-US" sz="1500" dirty="0"/>
          </a:p>
          <a:p>
            <a:pPr marL="254000" indent="-254000">
              <a:lnSpc>
                <a:spcPct val="130000"/>
              </a:lnSpc>
              <a:buSzPct val="100000"/>
              <a:buChar char="•"/>
            </a:pPr>
            <a:r>
              <a:rPr lang="en-US" sz="1500" dirty="0">
                <a:solidFill>
                  <a:srgbClr val="1B2A4A"/>
                </a:solidFill>
                <a:latin typeface="Calibri" pitchFamily="34" charset="0"/>
                <a:ea typeface="Calibri" pitchFamily="34" charset="-122"/>
                <a:cs typeface="Calibri" pitchFamily="34" charset="-120"/>
              </a:rPr>
              <a:t>d. Vertrokken contactpersoon nog als aanspreekpunt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C5AA0"/>
        </a:solidFill>
      </p:bgPr>
    </p:bg>
    <p:spTree>
      <p:nvGrpSpPr>
        <p:cNvPr id="1" name=""/>
        <p:cNvGrpSpPr/>
        <p:nvPr/>
      </p:nvGrpSpPr>
      <p:grpSpPr>
        <a:xfrm>
          <a:off x="0" y="0"/>
          <a:ext cx="0" cy="0"/>
          <a:chOff x="0" y="0"/>
          <a:chExt cx="0" cy="0"/>
        </a:xfrm>
      </p:grpSpPr>
      <p:sp>
        <p:nvSpPr>
          <p:cNvPr id="2" name="Text 0"/>
          <p:cNvSpPr/>
          <p:nvPr/>
        </p:nvSpPr>
        <p:spPr>
          <a:xfrm>
            <a:off x="640080" y="2743200"/>
            <a:ext cx="7863840" cy="457200"/>
          </a:xfrm>
          <a:prstGeom prst="rect">
            <a:avLst/>
          </a:prstGeom>
          <a:noFill/>
          <a:ln/>
        </p:spPr>
        <p:txBody>
          <a:bodyPr wrap="square" rtlCol="0" anchor="ctr"/>
          <a:lstStyle/>
          <a:p>
            <a:pPr indent="0" marL="0">
              <a:buNone/>
            </a:pPr>
            <a:r>
              <a:rPr lang="en-US" sz="1500" b="1" dirty="0">
                <a:solidFill>
                  <a:srgbClr val="E5D2AE"/>
                </a:solidFill>
                <a:latin typeface="Calibri" pitchFamily="34" charset="0"/>
                <a:ea typeface="Calibri" pitchFamily="34" charset="-122"/>
                <a:cs typeface="Calibri" pitchFamily="34" charset="-120"/>
              </a:rPr>
              <a:t>Deel 4</a:t>
            </a:r>
            <a:endParaRPr lang="en-US" sz="1500" dirty="0"/>
          </a:p>
        </p:txBody>
      </p:sp>
      <p:sp>
        <p:nvSpPr>
          <p:cNvPr id="3" name="Text 1"/>
          <p:cNvSpPr/>
          <p:nvPr/>
        </p:nvSpPr>
        <p:spPr>
          <a:xfrm>
            <a:off x="640080" y="3108960"/>
            <a:ext cx="7863840" cy="128016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De stilste bron van BTX-fouten</a:t>
            </a:r>
            <a:endParaRPr lang="en-US" sz="3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A4A"/>
          </a:solidFill>
          <a:ln/>
        </p:spPr>
      </p:sp>
      <p:sp>
        <p:nvSpPr>
          <p:cNvPr id="3" name="Text 1"/>
          <p:cNvSpPr/>
          <p:nvPr/>
        </p:nvSpPr>
        <p:spPr>
          <a:xfrm>
            <a:off x="457200" y="164592"/>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Deel 4</a:t>
            </a:r>
            <a:endParaRPr lang="en-US" sz="2400" dirty="0"/>
          </a:p>
        </p:txBody>
      </p:sp>
      <p:pic>
        <p:nvPicPr>
          <p:cNvPr id="4" name="Image 0" descr="C:\Projecten\eductus-trainingen\SAP voor Business Analysts-opgemaakt\niveau-1\deel-04\figuren\figuur-4-3.png">    </p:cNvPr>
          <p:cNvPicPr>
            <a:picLocks noChangeAspect="1"/>
          </p:cNvPicPr>
          <p:nvPr/>
        </p:nvPicPr>
        <p:blipFill>
          <a:blip r:embed="rId1"/>
          <a:srcRect l="0" r="0" t="0" b="0"/>
          <a:stretch/>
        </p:blipFill>
        <p:spPr>
          <a:xfrm>
            <a:off x="1280160" y="1280160"/>
            <a:ext cx="6583680" cy="44805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822960"/>
            <a:ext cx="91440" cy="5029200"/>
          </a:xfrm>
          <a:prstGeom prst="rect">
            <a:avLst/>
          </a:prstGeom>
          <a:solidFill>
            <a:srgbClr val="2C5AA0"/>
          </a:solidFill>
          <a:ln/>
        </p:spPr>
      </p:sp>
      <p:sp>
        <p:nvSpPr>
          <p:cNvPr id="3" name="Text 1"/>
          <p:cNvSpPr/>
          <p:nvPr/>
        </p:nvSpPr>
        <p:spPr>
          <a:xfrm>
            <a:off x="1005840" y="1188720"/>
            <a:ext cx="7315200" cy="3840480"/>
          </a:xfrm>
          <a:prstGeom prst="rect">
            <a:avLst/>
          </a:prstGeom>
          <a:noFill/>
          <a:ln/>
        </p:spPr>
        <p:txBody>
          <a:bodyPr wrap="square" rtlCol="0" anchor="ctr"/>
          <a:lstStyle/>
          <a:p>
            <a:pPr indent="0" marL="0">
              <a:buNone/>
            </a:pPr>
            <a:r>
              <a:rPr lang="en-US" sz="2200" i="1" dirty="0">
                <a:solidFill>
                  <a:srgbClr val="1B2A4A"/>
                </a:solidFill>
                <a:latin typeface="Georgia" pitchFamily="34" charset="0"/>
                <a:ea typeface="Georgia" pitchFamily="34" charset="-122"/>
                <a:cs typeface="Georgia" pitchFamily="34" charset="-120"/>
              </a:rPr>
              <a:t>&gt; Een stamgegevensfout is zelden een fout in één record. Het is vaker een fout in de relatie tussen records, of in de afwezigheid van een relatie die er zou moeten zijn.</a:t>
            </a:r>
            <a:endParaRPr lang="en-US" sz="2200" dirty="0"/>
          </a:p>
        </p:txBody>
      </p:sp>
      <p:sp>
        <p:nvSpPr>
          <p:cNvPr id="4" name="Text 2"/>
          <p:cNvSpPr/>
          <p:nvPr/>
        </p:nvSpPr>
        <p:spPr>
          <a:xfrm>
            <a:off x="1005840" y="5120640"/>
            <a:ext cx="7315200" cy="457200"/>
          </a:xfrm>
          <a:prstGeom prst="rect">
            <a:avLst/>
          </a:prstGeom>
          <a:noFill/>
          <a:ln/>
        </p:spPr>
        <p:txBody>
          <a:bodyPr wrap="square" rtlCol="0" anchor="ctr"/>
          <a:lstStyle/>
          <a:p>
            <a:pPr indent="0" marL="0">
              <a:buNone/>
            </a:pPr>
            <a:r>
              <a:rPr lang="en-US" sz="1300" b="1" dirty="0">
                <a:solidFill>
                  <a:srgbClr val="2C5AA0"/>
                </a:solidFill>
                <a:latin typeface="Calibri" pitchFamily="34" charset="0"/>
                <a:ea typeface="Calibri" pitchFamily="34" charset="-122"/>
                <a:cs typeface="Calibri" pitchFamily="34" charset="-120"/>
              </a:rPr>
              <a:t>Kernzin, reader §4.3</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BF3E7"/>
          </a:solidFill>
          <a:ln/>
        </p:spPr>
      </p:sp>
      <p:sp>
        <p:nvSpPr>
          <p:cNvPr id="3" name="Shape 1"/>
          <p:cNvSpPr/>
          <p:nvPr/>
        </p:nvSpPr>
        <p:spPr>
          <a:xfrm>
            <a:off x="0" y="0"/>
            <a:ext cx="164592" cy="6858000"/>
          </a:xfrm>
          <a:prstGeom prst="rect">
            <a:avLst/>
          </a:prstGeom>
          <a:solidFill>
            <a:srgbClr val="D99A3D"/>
          </a:solidFill>
          <a:ln/>
        </p:spPr>
      </p:sp>
      <p:sp>
        <p:nvSpPr>
          <p:cNvPr id="4" name="Text 2"/>
          <p:cNvSpPr/>
          <p:nvPr/>
        </p:nvSpPr>
        <p:spPr>
          <a:xfrm>
            <a:off x="640080" y="548640"/>
            <a:ext cx="7863840" cy="457200"/>
          </a:xfrm>
          <a:prstGeom prst="rect">
            <a:avLst/>
          </a:prstGeom>
          <a:noFill/>
          <a:ln/>
        </p:spPr>
        <p:txBody>
          <a:bodyPr wrap="square" rtlCol="0" anchor="ctr"/>
          <a:lstStyle/>
          <a:p>
            <a:pPr indent="0" marL="0">
              <a:buNone/>
            </a:pPr>
            <a:r>
              <a:rPr lang="en-US" sz="1400" b="1" dirty="0">
                <a:solidFill>
                  <a:srgbClr val="D99A3D"/>
                </a:solidFill>
                <a:latin typeface="Calibri" pitchFamily="34" charset="0"/>
                <a:ea typeface="Calibri" pitchFamily="34" charset="-122"/>
                <a:cs typeface="Calibri" pitchFamily="34" charset="-120"/>
              </a:rPr>
              <a:t>OPDRACHT 4.3</a:t>
            </a:r>
            <a:endParaRPr lang="en-US" sz="1400" dirty="0"/>
          </a:p>
        </p:txBody>
      </p:sp>
      <p:sp>
        <p:nvSpPr>
          <p:cNvPr id="5" name="Text 3"/>
          <p:cNvSpPr/>
          <p:nvPr/>
        </p:nvSpPr>
        <p:spPr>
          <a:xfrm>
            <a:off x="640080" y="1005840"/>
            <a:ext cx="7863840" cy="914400"/>
          </a:xfrm>
          <a:prstGeom prst="rect">
            <a:avLst/>
          </a:prstGeom>
          <a:noFill/>
          <a:ln/>
        </p:spPr>
        <p:txBody>
          <a:bodyPr wrap="square"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4.3 — Van proces naar stamgegeven</a:t>
            </a:r>
            <a:endParaRPr lang="en-US" sz="2600" dirty="0"/>
          </a:p>
        </p:txBody>
      </p:sp>
      <p:sp>
        <p:nvSpPr>
          <p:cNvPr id="6" name="Text 4"/>
          <p:cNvSpPr/>
          <p:nvPr/>
        </p:nvSpPr>
        <p:spPr>
          <a:xfrm>
            <a:off x="640080" y="2103120"/>
            <a:ext cx="7863840" cy="3200400"/>
          </a:xfrm>
          <a:prstGeom prst="rect">
            <a:avLst/>
          </a:prstGeom>
          <a:noFill/>
          <a:ln/>
        </p:spPr>
        <p:txBody>
          <a:bodyPr wrap="square" rtlCol="0" anchor="ctr"/>
          <a:lstStyle/>
          <a:p>
            <a:pPr marL="254000" indent="-254000">
              <a:lnSpc>
                <a:spcPct val="130000"/>
              </a:lnSpc>
              <a:buSzPct val="100000"/>
              <a:buChar char="•"/>
            </a:pPr>
            <a:r>
              <a:rPr lang="en-US" sz="1500" dirty="0">
                <a:solidFill>
                  <a:srgbClr val="1B2A4A"/>
                </a:solidFill>
                <a:latin typeface="Calibri" pitchFamily="34" charset="0"/>
                <a:ea typeface="Calibri" pitchFamily="34" charset="-122"/>
                <a:cs typeface="Calibri" pitchFamily="34" charset="-120"/>
              </a:rPr>
              <a:t>"Bij verlenging wordt soms de verkeerde premiekorting toegepast." Bedenk twee stamgegevens-oorzaken — geen procesoorzaken.</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C5AA0"/>
        </a:solidFill>
      </p:bgPr>
    </p:bg>
    <p:spTree>
      <p:nvGrpSpPr>
        <p:cNvPr id="1" name=""/>
        <p:cNvGrpSpPr/>
        <p:nvPr/>
      </p:nvGrpSpPr>
      <p:grpSpPr>
        <a:xfrm>
          <a:off x="0" y="0"/>
          <a:ext cx="0" cy="0"/>
          <a:chOff x="0" y="0"/>
          <a:chExt cx="0" cy="0"/>
        </a:xfrm>
      </p:grpSpPr>
      <p:sp>
        <p:nvSpPr>
          <p:cNvPr id="2" name="Text 0"/>
          <p:cNvSpPr/>
          <p:nvPr/>
        </p:nvSpPr>
        <p:spPr>
          <a:xfrm>
            <a:off x="640080" y="2743200"/>
            <a:ext cx="7863840" cy="457200"/>
          </a:xfrm>
          <a:prstGeom prst="rect">
            <a:avLst/>
          </a:prstGeom>
          <a:noFill/>
          <a:ln/>
        </p:spPr>
        <p:txBody>
          <a:bodyPr wrap="square" rtlCol="0" anchor="ctr"/>
          <a:lstStyle/>
          <a:p>
            <a:pPr indent="0" marL="0">
              <a:buNone/>
            </a:pPr>
            <a:r>
              <a:rPr lang="en-US" sz="1500" b="1" dirty="0">
                <a:solidFill>
                  <a:srgbClr val="E5D2AE"/>
                </a:solidFill>
                <a:latin typeface="Calibri" pitchFamily="34" charset="0"/>
                <a:ea typeface="Calibri" pitchFamily="34" charset="-122"/>
                <a:cs typeface="Calibri" pitchFamily="34" charset="-120"/>
              </a:rPr>
              <a:t>Deel 4</a:t>
            </a:r>
            <a:endParaRPr lang="en-US" sz="1500" dirty="0"/>
          </a:p>
        </p:txBody>
      </p:sp>
      <p:sp>
        <p:nvSpPr>
          <p:cNvPr id="3" name="Text 1"/>
          <p:cNvSpPr/>
          <p:nvPr/>
        </p:nvSpPr>
        <p:spPr>
          <a:xfrm>
            <a:off x="640080" y="3108960"/>
            <a:ext cx="7863840" cy="128016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Stamgegevensbeheer op BA-niveau</a:t>
            </a:r>
            <a:endParaRPr lang="en-US" sz="3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A4A"/>
          </a:solidFill>
          <a:ln/>
        </p:spPr>
      </p:sp>
      <p:sp>
        <p:nvSpPr>
          <p:cNvPr id="3" name="Text 1"/>
          <p:cNvSpPr/>
          <p:nvPr/>
        </p:nvSpPr>
        <p:spPr>
          <a:xfrm>
            <a:off x="457200" y="164592"/>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Drie begrippen</a:t>
            </a:r>
            <a:endParaRPr lang="en-US" sz="2400" dirty="0"/>
          </a:p>
        </p:txBody>
      </p:sp>
      <p:sp>
        <p:nvSpPr>
          <p:cNvPr id="4" name="Text 2"/>
          <p:cNvSpPr/>
          <p:nvPr/>
        </p:nvSpPr>
        <p:spPr>
          <a:xfrm>
            <a:off x="548640" y="1371600"/>
            <a:ext cx="8046720" cy="4389120"/>
          </a:xfrm>
          <a:prstGeom prst="rect">
            <a:avLst/>
          </a:prstGeom>
          <a:noFill/>
          <a:ln/>
        </p:spPr>
        <p:txBody>
          <a:bodyPr wrap="square" rtlCol="0" anchor="ctr"/>
          <a:lstStyle/>
          <a:p>
            <a:pPr marL="254000" indent="-254000">
              <a:lnSpc>
                <a:spcPct val="130000"/>
              </a:lnSpc>
              <a:buSzPct val="100000"/>
              <a:buChar char="•"/>
            </a:pPr>
            <a:r>
              <a:rPr lang="en-US" sz="1600" dirty="0">
                <a:solidFill>
                  <a:srgbClr val="1B2A4A"/>
                </a:solidFill>
                <a:latin typeface="Calibri" pitchFamily="34" charset="0"/>
                <a:ea typeface="Calibri" pitchFamily="34" charset="-122"/>
                <a:cs typeface="Calibri" pitchFamily="34" charset="-120"/>
              </a:rPr>
              <a:t>Eigenaarschap — wie is verantwoordelijk voor de juistheid?</a:t>
            </a:r>
            <a:endParaRPr lang="en-US" sz="1600" dirty="0"/>
          </a:p>
          <a:p>
            <a:pPr marL="254000" indent="-254000">
              <a:lnSpc>
                <a:spcPct val="130000"/>
              </a:lnSpc>
              <a:buSzPct val="100000"/>
              <a:buChar char="•"/>
            </a:pPr>
            <a:r>
              <a:rPr lang="en-US" sz="1600" dirty="0">
                <a:solidFill>
                  <a:srgbClr val="1B2A4A"/>
                </a:solidFill>
                <a:latin typeface="Calibri" pitchFamily="34" charset="0"/>
                <a:ea typeface="Calibri" pitchFamily="34" charset="-122"/>
                <a:cs typeface="Calibri" pitchFamily="34" charset="-120"/>
              </a:rPr>
              <a:t>Opschoning — gecontroleerd samenvoegen of corrigeren, een organisatiebesluit</a:t>
            </a:r>
            <a:endParaRPr lang="en-US" sz="1600" dirty="0"/>
          </a:p>
          <a:p>
            <a:pPr marL="254000" indent="-254000">
              <a:lnSpc>
                <a:spcPct val="130000"/>
              </a:lnSpc>
              <a:buSzPct val="100000"/>
              <a:buChar char="•"/>
            </a:pPr>
            <a:r>
              <a:rPr lang="en-US" sz="1600" dirty="0">
                <a:solidFill>
                  <a:srgbClr val="1B2A4A"/>
                </a:solidFill>
                <a:latin typeface="Calibri" pitchFamily="34" charset="0"/>
                <a:ea typeface="Calibri" pitchFamily="34" charset="-122"/>
                <a:cs typeface="Calibri" pitchFamily="34" charset="-120"/>
              </a:rPr>
              <a:t>Detectie — technische matching plus menselijke beoordeling</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BF3E7"/>
          </a:solidFill>
          <a:ln/>
        </p:spPr>
      </p:sp>
      <p:sp>
        <p:nvSpPr>
          <p:cNvPr id="3" name="Shape 1"/>
          <p:cNvSpPr/>
          <p:nvPr/>
        </p:nvSpPr>
        <p:spPr>
          <a:xfrm>
            <a:off x="0" y="0"/>
            <a:ext cx="164592" cy="6858000"/>
          </a:xfrm>
          <a:prstGeom prst="rect">
            <a:avLst/>
          </a:prstGeom>
          <a:solidFill>
            <a:srgbClr val="D99A3D"/>
          </a:solidFill>
          <a:ln/>
        </p:spPr>
      </p:sp>
      <p:sp>
        <p:nvSpPr>
          <p:cNvPr id="4" name="Text 2"/>
          <p:cNvSpPr/>
          <p:nvPr/>
        </p:nvSpPr>
        <p:spPr>
          <a:xfrm>
            <a:off x="640080" y="548640"/>
            <a:ext cx="7863840" cy="457200"/>
          </a:xfrm>
          <a:prstGeom prst="rect">
            <a:avLst/>
          </a:prstGeom>
          <a:noFill/>
          <a:ln/>
        </p:spPr>
        <p:txBody>
          <a:bodyPr wrap="square" rtlCol="0" anchor="ctr"/>
          <a:lstStyle/>
          <a:p>
            <a:pPr indent="0" marL="0">
              <a:buNone/>
            </a:pPr>
            <a:r>
              <a:rPr lang="en-US" sz="1400" b="1" dirty="0">
                <a:solidFill>
                  <a:srgbClr val="D99A3D"/>
                </a:solidFill>
                <a:latin typeface="Calibri" pitchFamily="34" charset="0"/>
                <a:ea typeface="Calibri" pitchFamily="34" charset="-122"/>
                <a:cs typeface="Calibri" pitchFamily="34" charset="-120"/>
              </a:rPr>
              <a:t>OPDRACHT 4.4</a:t>
            </a:r>
            <a:endParaRPr lang="en-US" sz="1400" dirty="0"/>
          </a:p>
        </p:txBody>
      </p:sp>
      <p:sp>
        <p:nvSpPr>
          <p:cNvPr id="5" name="Text 3"/>
          <p:cNvSpPr/>
          <p:nvPr/>
        </p:nvSpPr>
        <p:spPr>
          <a:xfrm>
            <a:off x="640080" y="1005840"/>
            <a:ext cx="7863840" cy="914400"/>
          </a:xfrm>
          <a:prstGeom prst="rect">
            <a:avLst/>
          </a:prstGeom>
          <a:noFill/>
          <a:ln/>
        </p:spPr>
        <p:txBody>
          <a:bodyPr wrap="square"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4.4 — Eigenaarschap bepalen</a:t>
            </a:r>
            <a:endParaRPr lang="en-US" sz="2600" dirty="0"/>
          </a:p>
        </p:txBody>
      </p:sp>
      <p:sp>
        <p:nvSpPr>
          <p:cNvPr id="6" name="Text 4"/>
          <p:cNvSpPr/>
          <p:nvPr/>
        </p:nvSpPr>
        <p:spPr>
          <a:xfrm>
            <a:off x="640080" y="2103120"/>
            <a:ext cx="7863840" cy="3200400"/>
          </a:xfrm>
          <a:prstGeom prst="rect">
            <a:avLst/>
          </a:prstGeom>
          <a:noFill/>
          <a:ln/>
        </p:spPr>
        <p:txBody>
          <a:bodyPr wrap="square" rtlCol="0" anchor="ctr"/>
          <a:lstStyle/>
          <a:p>
            <a:pPr marL="254000" indent="-254000">
              <a:lnSpc>
                <a:spcPct val="130000"/>
              </a:lnSpc>
              <a:buSzPct val="100000"/>
              <a:buChar char="•"/>
            </a:pPr>
            <a:r>
              <a:rPr lang="en-US" sz="1500" dirty="0">
                <a:solidFill>
                  <a:srgbClr val="1B2A4A"/>
                </a:solidFill>
                <a:latin typeface="Calibri" pitchFamily="34" charset="0"/>
                <a:ea typeface="Calibri" pitchFamily="34" charset="-122"/>
                <a:cs typeface="Calibri" pitchFamily="34" charset="-120"/>
              </a:rPr>
              <a:t>Wie is verantwoordelijk: de werkgever, Meridiaan, of beide?</a:t>
            </a:r>
            <a:endParaRPr lang="en-US" sz="1500" dirty="0"/>
          </a:p>
          <a:p>
            <a:pPr marL="254000" indent="-254000">
              <a:lnSpc>
                <a:spcPct val="130000"/>
              </a:lnSpc>
              <a:buSzPct val="100000"/>
              <a:buChar char="•"/>
            </a:pPr>
            <a:r>
              <a:rPr lang="en-US" sz="1500" dirty="0">
                <a:solidFill>
                  <a:srgbClr val="1B2A4A"/>
                </a:solidFill>
                <a:latin typeface="Calibri" pitchFamily="34" charset="0"/>
                <a:ea typeface="Calibri" pitchFamily="34" charset="-122"/>
                <a:cs typeface="Calibri" pitchFamily="34" charset="-120"/>
              </a:rPr>
              <a:t>a. Het adres van een werkgever</a:t>
            </a:r>
            <a:endParaRPr lang="en-US" sz="1500" dirty="0"/>
          </a:p>
          <a:p>
            <a:pPr marL="254000" indent="-254000">
              <a:lnSpc>
                <a:spcPct val="130000"/>
              </a:lnSpc>
              <a:buSzPct val="100000"/>
              <a:buChar char="•"/>
            </a:pPr>
            <a:r>
              <a:rPr lang="en-US" sz="1500" dirty="0">
                <a:solidFill>
                  <a:srgbClr val="1B2A4A"/>
                </a:solidFill>
                <a:latin typeface="Calibri" pitchFamily="34" charset="0"/>
                <a:ea typeface="Calibri" pitchFamily="34" charset="-122"/>
                <a:cs typeface="Calibri" pitchFamily="34" charset="-120"/>
              </a:rPr>
              <a:t>b. Een productvariant-definitie</a:t>
            </a:r>
            <a:endParaRPr lang="en-US" sz="1500" dirty="0"/>
          </a:p>
          <a:p>
            <a:pPr marL="254000" indent="-254000">
              <a:lnSpc>
                <a:spcPct val="130000"/>
              </a:lnSpc>
              <a:buSzPct val="100000"/>
              <a:buChar char="•"/>
            </a:pPr>
            <a:r>
              <a:rPr lang="en-US" sz="1500" dirty="0">
                <a:solidFill>
                  <a:srgbClr val="1B2A4A"/>
                </a:solidFill>
                <a:latin typeface="Calibri" pitchFamily="34" charset="0"/>
                <a:ea typeface="Calibri" pitchFamily="34" charset="-122"/>
                <a:cs typeface="Calibri" pitchFamily="34" charset="-120"/>
              </a:rPr>
              <a:t>c. Het salaris van een werknemer</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4160520" y="1280160"/>
            <a:ext cx="822960" cy="54864"/>
          </a:xfrm>
          <a:prstGeom prst="rect">
            <a:avLst/>
          </a:prstGeom>
          <a:solidFill>
            <a:srgbClr val="D99A3D"/>
          </a:solidFill>
          <a:ln/>
        </p:spPr>
      </p:sp>
      <p:sp>
        <p:nvSpPr>
          <p:cNvPr id="3" name="Text 1"/>
          <p:cNvSpPr/>
          <p:nvPr/>
        </p:nvSpPr>
        <p:spPr>
          <a:xfrm>
            <a:off x="822960" y="2103120"/>
            <a:ext cx="7498080" cy="2377440"/>
          </a:xfrm>
          <a:prstGeom prst="rect">
            <a:avLst/>
          </a:prstGeom>
          <a:noFill/>
          <a:ln/>
        </p:spPr>
        <p:txBody>
          <a:bodyPr wrap="square" rtlCol="0" anchor="ctr"/>
          <a:lstStyle/>
          <a:p>
            <a:pPr algn="ctr" indent="0" marL="0">
              <a:buNone/>
            </a:pPr>
            <a:r>
              <a:rPr lang="en-US" sz="3000" b="1" i="1" dirty="0">
                <a:solidFill>
                  <a:srgbClr val="FFFFFF"/>
                </a:solidFill>
                <a:latin typeface="Georgia" pitchFamily="34" charset="0"/>
                <a:ea typeface="Georgia" pitchFamily="34" charset="-122"/>
                <a:cs typeface="Georgia" pitchFamily="34" charset="-120"/>
              </a:rPr>
              <a:t>Twee records samenvoegen. Klinkt technisch. Is een organisatiebesluit.</a:t>
            </a:r>
            <a:endParaRPr lang="en-US" sz="3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BF3E7"/>
          </a:solidFill>
          <a:ln/>
        </p:spPr>
      </p:sp>
      <p:sp>
        <p:nvSpPr>
          <p:cNvPr id="3" name="Shape 1"/>
          <p:cNvSpPr/>
          <p:nvPr/>
        </p:nvSpPr>
        <p:spPr>
          <a:xfrm>
            <a:off x="0" y="0"/>
            <a:ext cx="164592" cy="6858000"/>
          </a:xfrm>
          <a:prstGeom prst="rect">
            <a:avLst/>
          </a:prstGeom>
          <a:solidFill>
            <a:srgbClr val="D99A3D"/>
          </a:solidFill>
          <a:ln/>
        </p:spPr>
      </p:sp>
      <p:sp>
        <p:nvSpPr>
          <p:cNvPr id="4" name="Text 2"/>
          <p:cNvSpPr/>
          <p:nvPr/>
        </p:nvSpPr>
        <p:spPr>
          <a:xfrm>
            <a:off x="640080" y="548640"/>
            <a:ext cx="7863840" cy="457200"/>
          </a:xfrm>
          <a:prstGeom prst="rect">
            <a:avLst/>
          </a:prstGeom>
          <a:noFill/>
          <a:ln/>
        </p:spPr>
        <p:txBody>
          <a:bodyPr wrap="square" rtlCol="0" anchor="ctr"/>
          <a:lstStyle/>
          <a:p>
            <a:pPr indent="0" marL="0">
              <a:buNone/>
            </a:pPr>
            <a:r>
              <a:rPr lang="en-US" sz="1400" b="1" dirty="0">
                <a:solidFill>
                  <a:srgbClr val="D99A3D"/>
                </a:solidFill>
                <a:latin typeface="Calibri" pitchFamily="34" charset="0"/>
                <a:ea typeface="Calibri" pitchFamily="34" charset="-122"/>
                <a:cs typeface="Calibri" pitchFamily="34" charset="-120"/>
              </a:rPr>
              <a:t>OPDRACHT 4.5</a:t>
            </a:r>
            <a:endParaRPr lang="en-US" sz="1400" dirty="0"/>
          </a:p>
        </p:txBody>
      </p:sp>
      <p:sp>
        <p:nvSpPr>
          <p:cNvPr id="5" name="Text 3"/>
          <p:cNvSpPr/>
          <p:nvPr/>
        </p:nvSpPr>
        <p:spPr>
          <a:xfrm>
            <a:off x="640080" y="1005840"/>
            <a:ext cx="7863840" cy="914400"/>
          </a:xfrm>
          <a:prstGeom prst="rect">
            <a:avLst/>
          </a:prstGeom>
          <a:noFill/>
          <a:ln/>
        </p:spPr>
        <p:txBody>
          <a:bodyPr wrap="square"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4.5 — Het duplicaat oplossen</a:t>
            </a:r>
            <a:endParaRPr lang="en-US" sz="2600" dirty="0"/>
          </a:p>
        </p:txBody>
      </p:sp>
      <p:sp>
        <p:nvSpPr>
          <p:cNvPr id="6" name="Text 4"/>
          <p:cNvSpPr/>
          <p:nvPr/>
        </p:nvSpPr>
        <p:spPr>
          <a:xfrm>
            <a:off x="640080" y="2103120"/>
            <a:ext cx="7863840" cy="3200400"/>
          </a:xfrm>
          <a:prstGeom prst="rect">
            <a:avLst/>
          </a:prstGeom>
          <a:noFill/>
          <a:ln/>
        </p:spPr>
        <p:txBody>
          <a:bodyPr wrap="square" rtlCol="0" anchor="ctr"/>
          <a:lstStyle/>
          <a:p>
            <a:pPr marL="254000" indent="-254000">
              <a:lnSpc>
                <a:spcPct val="130000"/>
              </a:lnSpc>
              <a:buSzPct val="100000"/>
              <a:buChar char="•"/>
            </a:pPr>
            <a:r>
              <a:rPr lang="en-US" sz="1500" dirty="0">
                <a:solidFill>
                  <a:srgbClr val="1B2A4A"/>
                </a:solidFill>
                <a:latin typeface="Calibri" pitchFamily="34" charset="0"/>
                <a:ea typeface="Calibri" pitchFamily="34" charset="-122"/>
                <a:cs typeface="Calibri" pitchFamily="34" charset="-120"/>
              </a:rPr>
              <a:t>Bedenk drie vragen die vóór het technisch samenvoegen beantwoord moeten worden — nadruk op het organisatiebesluit.</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A4A"/>
          </a:solidFill>
          <a:ln/>
        </p:spPr>
      </p:sp>
      <p:sp>
        <p:nvSpPr>
          <p:cNvPr id="3" name="Text 1"/>
          <p:cNvSpPr/>
          <p:nvPr/>
        </p:nvSpPr>
        <p:spPr>
          <a:xfrm>
            <a:off x="457200" y="164592"/>
            <a:ext cx="8229600" cy="6858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Samenvatting in vijf zinnen</a:t>
            </a:r>
            <a:endParaRPr lang="en-US" sz="2400" dirty="0"/>
          </a:p>
        </p:txBody>
      </p:sp>
      <p:sp>
        <p:nvSpPr>
          <p:cNvPr id="4" name="Text 2"/>
          <p:cNvSpPr/>
          <p:nvPr/>
        </p:nvSpPr>
        <p:spPr>
          <a:xfrm>
            <a:off x="548640" y="1371600"/>
            <a:ext cx="8046720" cy="4389120"/>
          </a:xfrm>
          <a:prstGeom prst="rect">
            <a:avLst/>
          </a:prstGeom>
          <a:noFill/>
          <a:ln/>
        </p:spPr>
        <p:txBody>
          <a:bodyPr wrap="square" rtlCol="0" anchor="ctr"/>
          <a:lstStyle/>
          <a:p>
            <a:pPr marL="254000" indent="-254000">
              <a:lnSpc>
                <a:spcPct val="130000"/>
              </a:lnSpc>
              <a:buSzPct val="100000"/>
              <a:buChar char="•"/>
            </a:pPr>
            <a:r>
              <a:rPr lang="en-US" sz="1600" dirty="0">
                <a:solidFill>
                  <a:srgbClr val="1B2A4A"/>
                </a:solidFill>
                <a:latin typeface="Calibri" pitchFamily="34" charset="0"/>
                <a:ea typeface="Calibri" pitchFamily="34" charset="-122"/>
                <a:cs typeface="Calibri" pitchFamily="34" charset="-120"/>
              </a:rPr>
              <a:t>Stamgegevensproblemen bestaan vaak al lang en worden pas zichtbaar bij systematische doortelling</a:t>
            </a:r>
            <a:endParaRPr lang="en-US" sz="1600" dirty="0"/>
          </a:p>
          <a:p>
            <a:pPr marL="254000" indent="-254000">
              <a:lnSpc>
                <a:spcPct val="130000"/>
              </a:lnSpc>
              <a:buSzPct val="100000"/>
              <a:buChar char="•"/>
            </a:pPr>
            <a:r>
              <a:rPr lang="en-US" sz="1600" dirty="0">
                <a:solidFill>
                  <a:srgbClr val="1B2A4A"/>
                </a:solidFill>
                <a:latin typeface="Calibri" pitchFamily="34" charset="0"/>
                <a:ea typeface="Calibri" pitchFamily="34" charset="-122"/>
                <a:cs typeface="Calibri" pitchFamily="34" charset="-120"/>
              </a:rPr>
              <a:t>Duplicaat, verouderd gegeven, inconsistente vastlegging — de laatste het lastigst te vinden</a:t>
            </a:r>
            <a:endParaRPr lang="en-US" sz="1600" dirty="0"/>
          </a:p>
          <a:p>
            <a:pPr marL="254000" indent="-254000">
              <a:lnSpc>
                <a:spcPct val="130000"/>
              </a:lnSpc>
              <a:buSzPct val="100000"/>
              <a:buChar char="•"/>
            </a:pPr>
            <a:r>
              <a:rPr lang="en-US" sz="1600" dirty="0">
                <a:solidFill>
                  <a:srgbClr val="1B2A4A"/>
                </a:solidFill>
                <a:latin typeface="Calibri" pitchFamily="34" charset="0"/>
                <a:ea typeface="Calibri" pitchFamily="34" charset="-122"/>
                <a:cs typeface="Calibri" pitchFamily="34" charset="-120"/>
              </a:rPr>
              <a:t>BTX-acties beginnen bij een stamgegeven; een fout daar erft door in elke volgende stap</a:t>
            </a:r>
            <a:endParaRPr lang="en-US" sz="1600" dirty="0"/>
          </a:p>
          <a:p>
            <a:pPr marL="254000" indent="-254000">
              <a:lnSpc>
                <a:spcPct val="130000"/>
              </a:lnSpc>
              <a:buSzPct val="100000"/>
              <a:buChar char="•"/>
            </a:pPr>
            <a:r>
              <a:rPr lang="en-US" sz="1600" dirty="0">
                <a:solidFill>
                  <a:srgbClr val="1B2A4A"/>
                </a:solidFill>
                <a:latin typeface="Calibri" pitchFamily="34" charset="0"/>
                <a:ea typeface="Calibri" pitchFamily="34" charset="-122"/>
                <a:cs typeface="Calibri" pitchFamily="34" charset="-120"/>
              </a:rPr>
              <a:t>Het proces zelf kan foutloos werken en toch een fout resultaat geven</a:t>
            </a:r>
            <a:endParaRPr lang="en-US" sz="1600" dirty="0"/>
          </a:p>
          <a:p>
            <a:pPr marL="254000" indent="-254000">
              <a:lnSpc>
                <a:spcPct val="130000"/>
              </a:lnSpc>
              <a:buSzPct val="100000"/>
              <a:buChar char="•"/>
            </a:pPr>
            <a:r>
              <a:rPr lang="en-US" sz="1600" dirty="0">
                <a:solidFill>
                  <a:srgbClr val="1B2A4A"/>
                </a:solidFill>
                <a:latin typeface="Calibri" pitchFamily="34" charset="0"/>
                <a:ea typeface="Calibri" pitchFamily="34" charset="-122"/>
                <a:cs typeface="Calibri" pitchFamily="34" charset="-120"/>
              </a:rPr>
              <a:t>Opschoning is geen zuiver technische klus — het leidende-record-besluit hoort bij de BA</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4297680"/>
            <a:ext cx="9144000" cy="54864"/>
          </a:xfrm>
          <a:prstGeom prst="rect">
            <a:avLst/>
          </a:prstGeom>
          <a:solidFill>
            <a:srgbClr val="D99A3D"/>
          </a:solidFill>
          <a:ln/>
        </p:spPr>
      </p:sp>
      <p:sp>
        <p:nvSpPr>
          <p:cNvPr id="3" name="Text 1"/>
          <p:cNvSpPr/>
          <p:nvPr/>
        </p:nvSpPr>
        <p:spPr>
          <a:xfrm>
            <a:off x="640080" y="1920240"/>
            <a:ext cx="7863840" cy="457200"/>
          </a:xfrm>
          <a:prstGeom prst="rect">
            <a:avLst/>
          </a:prstGeom>
          <a:noFill/>
          <a:ln/>
        </p:spPr>
        <p:txBody>
          <a:bodyPr wrap="square" rtlCol="0" anchor="ctr"/>
          <a:lstStyle/>
          <a:p>
            <a:pPr indent="0" marL="0">
              <a:buNone/>
            </a:pPr>
            <a:r>
              <a:rPr lang="en-US" sz="1600" b="1" dirty="0">
                <a:solidFill>
                  <a:srgbClr val="D99A3D"/>
                </a:solidFill>
                <a:latin typeface="Calibri" pitchFamily="34" charset="0"/>
                <a:ea typeface="Calibri" pitchFamily="34" charset="-122"/>
                <a:cs typeface="Calibri" pitchFamily="34" charset="-120"/>
              </a:rPr>
              <a:t>Deel 4 · Niveau 1 Fundamenten</a:t>
            </a:r>
            <a:endParaRPr lang="en-US" sz="1600" dirty="0"/>
          </a:p>
        </p:txBody>
      </p:sp>
      <p:sp>
        <p:nvSpPr>
          <p:cNvPr id="4" name="Text 2"/>
          <p:cNvSpPr/>
          <p:nvPr/>
        </p:nvSpPr>
        <p:spPr>
          <a:xfrm>
            <a:off x="640080" y="2377440"/>
            <a:ext cx="7863840" cy="128016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Volgende deel</a:t>
            </a:r>
            <a:endParaRPr lang="en-US" sz="4000" dirty="0"/>
          </a:p>
        </p:txBody>
      </p:sp>
      <p:sp>
        <p:nvSpPr>
          <p:cNvPr id="5" name="Text 3"/>
          <p:cNvSpPr/>
          <p:nvPr/>
        </p:nvSpPr>
        <p:spPr>
          <a:xfrm>
            <a:off x="640080" y="4480560"/>
            <a:ext cx="7863840" cy="731520"/>
          </a:xfrm>
          <a:prstGeom prst="rect">
            <a:avLst/>
          </a:prstGeom>
          <a:noFill/>
          <a:ln/>
        </p:spPr>
        <p:txBody>
          <a:bodyPr wrap="square" rtlCol="0" anchor="ctr"/>
          <a:lstStyle/>
          <a:p>
            <a:pPr indent="0" marL="0">
              <a:buNone/>
            </a:pPr>
            <a:r>
              <a:rPr lang="en-US" sz="1800" i="1" dirty="0">
                <a:solidFill>
                  <a:srgbClr val="CCD6E8"/>
                </a:solidFill>
                <a:latin typeface="Calibri" pitchFamily="34" charset="0"/>
                <a:ea typeface="Calibri" pitchFamily="34" charset="-122"/>
                <a:cs typeface="Calibri" pitchFamily="34" charset="-120"/>
              </a:rPr>
              <a:t>ABAP lezen voor BA's · Deel 5</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2026-08-16T20:12:37Z</dcterms:created>
  <dcterms:modified xsi:type="dcterms:W3CDTF">2026-08-16T20:12:37Z</dcterms:modified>
</cp:coreProperties>
</file>