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met de marketingcasus en laat de vraag onbeantwoord staan tot opdracht 3. Dat houdt de spanning erin.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de brug naar deel 16: het antwoord hangt af van iemands bevoegdheid, niet van iemands kennis. Dus is het een governanceprobleem.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Arbeidsongeschiktheidsgegevens zijn gezondheidsgegevens. Een regeling die alleen voor arbeidsongeschikten bestaat, verraadt hetzelfde indirect.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 de grondslagkaarten op tafel bij opdracht 2. Toestemming is het leermoment: het klinkt netjes en past bijna nooit.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Beginsel 6 is het beginsel dat het werk van deze cursisten rechtstreeks raakt. Besteed daar de tijd 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Bij Meridiaan liggen de scheidingsstukken als PDF in een gedeelde map — precies wat in deel 2 al opviel.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Stapeling is de meest voorkomende bevinding van iedere auditor. Vraag wie in de zaal drie functies in vijf jaar 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Vraag welk "geanonimiseerd" bestand in hun eigen organisatie deze toets niet zou doorstaan. Er valt altijd een stilte.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scenario in opdracht 5 lokt de fout uit om te wachten. Laat hem gebeuren en bespreek hem daarna.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vierde vraag wordt belangrijker naarmate er meer met modellen wordt gewerkt. Deel 27 werkt dat uit tot AI-governance.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Deel 16 verdiept governance richting het specialistexamen; deel 17 privacy en security richting de praktijk en CIPP/E.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Huiswerk: opdracht 6 — de ethiektoets op je eigen werk — plus de zelftoets van twaalf vragen.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828800"/>
            <a:ext cx="9144000" cy="365760"/>
          </a:xfrm>
          <a:prstGeom prst="rect">
            <a:avLst/>
          </a:prstGeom>
          <a:noFill/>
          <a:ln/>
        </p:spPr>
        <p:txBody>
          <a:bodyPr wrap="square" lIns="0" tIns="0" rIns="0" bIns="0" rtlCol="0" anchor="ctr"/>
          <a:lstStyle/>
          <a:p>
            <a:pPr indent="0" marL="0">
              <a:buNone/>
            </a:pPr>
            <a:r>
              <a:rPr lang="en-US" sz="1300" b="1" spc="400" kern="0" dirty="0">
                <a:solidFill>
                  <a:srgbClr val="7FA893"/>
                </a:solidFill>
                <a:latin typeface="Calibri" pitchFamily="34" charset="0"/>
                <a:ea typeface="Calibri" pitchFamily="34" charset="-122"/>
                <a:cs typeface="Calibri" pitchFamily="34" charset="-120"/>
              </a:rPr>
              <a:t>NIVEAU 1 · FUNDAMENT · DEEL 7</a:t>
            </a:r>
            <a:endParaRPr lang="en-US" sz="1300" dirty="0"/>
          </a:p>
        </p:txBody>
      </p:sp>
      <p:sp>
        <p:nvSpPr>
          <p:cNvPr id="3" name="Text 1"/>
          <p:cNvSpPr/>
          <p:nvPr/>
        </p:nvSpPr>
        <p:spPr>
          <a:xfrm>
            <a:off x="640080" y="2286000"/>
            <a:ext cx="10058400" cy="1828800"/>
          </a:xfrm>
          <a:prstGeom prst="rect">
            <a:avLst/>
          </a:prstGeom>
          <a:noFill/>
          <a:ln/>
        </p:spPr>
        <p:txBody>
          <a:bodyPr wrap="square" lIns="0" tIns="0" rIns="0" bIns="0" rtlCol="0" anchor="ctr"/>
          <a:lstStyle/>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Governance, privacy</a:t>
            </a:r>
            <a:endParaRPr lang="en-US" sz="4600" dirty="0"/>
          </a:p>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en security</a:t>
            </a:r>
            <a:endParaRPr lang="en-US" sz="4600" dirty="0"/>
          </a:p>
        </p:txBody>
      </p:sp>
      <p:sp>
        <p:nvSpPr>
          <p:cNvPr id="4" name="Text 2"/>
          <p:cNvSpPr/>
          <p:nvPr/>
        </p:nvSpPr>
        <p:spPr>
          <a:xfrm>
            <a:off x="640080" y="4297680"/>
            <a:ext cx="8961120" cy="548640"/>
          </a:xfrm>
          <a:prstGeom prst="rect">
            <a:avLst/>
          </a:prstGeom>
          <a:noFill/>
          <a:ln/>
        </p:spPr>
        <p:txBody>
          <a:bodyPr wrap="square" lIns="0" tIns="0" rIns="0" bIns="0" rtlCol="0" anchor="ctr"/>
          <a:lstStyle/>
          <a:p>
            <a:pPr indent="0" marL="0">
              <a:buNone/>
            </a:pPr>
            <a:r>
              <a:rPr lang="en-US" sz="1700" dirty="0">
                <a:solidFill>
                  <a:srgbClr val="7FA893"/>
                </a:solidFill>
                <a:latin typeface="Calibri" pitchFamily="34" charset="0"/>
                <a:ea typeface="Calibri" pitchFamily="34" charset="-122"/>
                <a:cs typeface="Calibri" pitchFamily="34" charset="-120"/>
              </a:rPr>
              <a:t>Governance vraagt wie beslist. Privacy of het mag. Security of het beschermd is. Ethiek of het hoort.</a:t>
            </a:r>
            <a:endParaRPr lang="en-US" sz="1700" dirty="0"/>
          </a:p>
        </p:txBody>
      </p:sp>
      <p:sp>
        <p:nvSpPr>
          <p:cNvPr id="5" name="Text 3"/>
          <p:cNvSpPr/>
          <p:nvPr/>
        </p:nvSpPr>
        <p:spPr>
          <a:xfrm>
            <a:off x="640080" y="6035040"/>
            <a:ext cx="10058400" cy="365760"/>
          </a:xfrm>
          <a:prstGeom prst="rect">
            <a:avLst/>
          </a:prstGeom>
          <a:noFill/>
          <a:ln/>
        </p:spPr>
        <p:txBody>
          <a:bodyPr wrap="square" lIns="0" tIns="0" rIns="0" bIns="0" rtlCol="0" anchor="ctr"/>
          <a:lstStyle/>
          <a:p>
            <a:pPr indent="0" marL="0">
              <a:buNone/>
            </a:pPr>
            <a:r>
              <a:rPr lang="en-US" sz="1200" dirty="0">
                <a:solidFill>
                  <a:srgbClr val="8FAFA5"/>
                </a:solidFill>
                <a:latin typeface="Calibri" pitchFamily="34" charset="0"/>
                <a:ea typeface="Calibri" pitchFamily="34" charset="-122"/>
                <a:cs typeface="Calibri" pitchFamily="34" charset="-120"/>
              </a:rPr>
              <a:t>Ductus B.V.  ·  2,5 uur klassikaal  ·  Casus Meridiaan Pensioen N.V.</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DE CASUS DIE BLIJFT STAAN</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Marketing gebruikt het deelnemersbestand.</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Niemand heeft gecontroleerd of dat mag.</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Dat is geen kwaadwillendheid. Er is domweg geen moment in het proces waarop die vraag gesteld wordt, en er is niemand aan wie hij gesteld had moeten worden. Zolang dat zo blijft, komt het terug.</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PERSOONSGEGEVEN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Wanneer is het herleidbaar?</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Niet alleen wat het gegeven zegt, maar wat er met redelijke middelen mee te herleiden valt.</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3291840"/>
                <a:gridCol w="2011680"/>
                <a:gridCol w="557784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Gegeven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Persoonsgegeven?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Waarom</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Naam en geboortedatum</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Ja</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Direct identificerend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Deelnemernummer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Ja</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Herleidbaar met de sleuteltabel die de organisatie zelf heeft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Postcode plus huisnummer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Ja</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In Nederland vrijwel altijd tot één adres herleidbaar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Gemiddelde per regeling (4.000 deelnemers)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Nee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Niet tot een individu te herleiden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Gemiddelde per regeling (4 deelnemers)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Ja</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Bij een kleine groep is het gemiddelde wél herleidbaar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IP-adres uit portaallogs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Ja</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Herleidbaar in combinatie met andere gegevens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6" name="Text 3"/>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Aggregatie beschermt alleen bij voldoende groepsgrootte. Wie aggregeert, hanteert dus ook een minimale groepsomvang.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GRONDSLAG</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Zes grondslagen, kies er één</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Per verwerkingsdoel precies één. Niet combineren, en niet achteraf wisselen.</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651760"/>
                <a:gridCol w="3200400"/>
                <a:gridCol w="502920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Grondslag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Bij Meridiaan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Let op</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Toestemming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Aanmelding nieuwsbrief</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Moet vrij en intrekbaar zijn — bij een verplichte relatie zelden passend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Uitvoering overeenkomst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 pensioenadministratie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 meest gebruikte grondslag in deze sector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Wettelijke verplichting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Aanlevering aan de toezichthouder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 wet moet de verwerking daadwerkelijk voorschrijven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Vitaal belang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Zeldzaam hier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Alleen bij levensbedreigende situaties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Algemeen belang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Zelden bij een private uitvoerder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Vooral bij overheidstaken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Gerechtvaardigd belang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Fraudedetectie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Vraagt een vastgelegde afweging tegen het belang van de betrokkene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6" name="Text 3"/>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Een deelnemer kan zijn pensioenuitvoerder niet weglopen. Daarom is toestemming hier zelden werkelijk vrij.</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BEGINSELEN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Zes beginselen</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Ze gelden naast de grondslag, niet in plaats daarvan.</a:t>
            </a:r>
            <a:endParaRPr lang="en-US" sz="1600" dirty="0"/>
          </a:p>
        </p:txBody>
      </p:sp>
      <p:sp>
        <p:nvSpPr>
          <p:cNvPr id="5" name="Shape 3"/>
          <p:cNvSpPr/>
          <p:nvPr/>
        </p:nvSpPr>
        <p:spPr>
          <a:xfrm>
            <a:off x="640080" y="2148840"/>
            <a:ext cx="3456432" cy="1920240"/>
          </a:xfrm>
          <a:prstGeom prst="roundRect">
            <a:avLst>
              <a:gd name="adj" fmla="val 3810"/>
            </a:avLst>
          </a:prstGeom>
          <a:solidFill>
            <a:srgbClr val="F1F4F2"/>
          </a:solidFill>
          <a:ln w="12700">
            <a:solidFill>
              <a:srgbClr val="D5DED8"/>
            </a:solidFill>
            <a:prstDash val="solid"/>
          </a:ln>
        </p:spPr>
      </p:sp>
      <p:sp>
        <p:nvSpPr>
          <p:cNvPr id="6" name="Shape 4"/>
          <p:cNvSpPr/>
          <p:nvPr/>
        </p:nvSpPr>
        <p:spPr>
          <a:xfrm>
            <a:off x="859536" y="2368296"/>
            <a:ext cx="384048" cy="384048"/>
          </a:xfrm>
          <a:prstGeom prst="ellipse">
            <a:avLst/>
          </a:prstGeom>
          <a:solidFill>
            <a:srgbClr val="3F7D74"/>
          </a:solidFill>
          <a:ln w="12700">
            <a:solidFill>
              <a:srgbClr val="3F7D74"/>
            </a:solidFill>
            <a:prstDash val="solid"/>
          </a:ln>
        </p:spPr>
      </p:sp>
      <p:sp>
        <p:nvSpPr>
          <p:cNvPr id="7" name="Text 5"/>
          <p:cNvSpPr/>
          <p:nvPr/>
        </p:nvSpPr>
        <p:spPr>
          <a:xfrm>
            <a:off x="859536" y="2368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859536" y="2862072"/>
            <a:ext cx="3017520"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Doelbinding</a:t>
            </a:r>
            <a:endParaRPr lang="en-US" sz="1600" dirty="0"/>
          </a:p>
        </p:txBody>
      </p:sp>
      <p:sp>
        <p:nvSpPr>
          <p:cNvPr id="9" name="Text 7"/>
          <p:cNvSpPr/>
          <p:nvPr/>
        </p:nvSpPr>
        <p:spPr>
          <a:xfrm>
            <a:off x="859536" y="3282696"/>
            <a:ext cx="3017520" cy="60350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Verzameld voor een doel, niet zomaar gebruikt voor een ander.</a:t>
            </a:r>
            <a:endParaRPr lang="en-US" sz="1200" dirty="0"/>
          </a:p>
        </p:txBody>
      </p:sp>
      <p:sp>
        <p:nvSpPr>
          <p:cNvPr id="10" name="Shape 8"/>
          <p:cNvSpPr/>
          <p:nvPr/>
        </p:nvSpPr>
        <p:spPr>
          <a:xfrm>
            <a:off x="4352544" y="2148840"/>
            <a:ext cx="3456432" cy="1920240"/>
          </a:xfrm>
          <a:prstGeom prst="roundRect">
            <a:avLst>
              <a:gd name="adj" fmla="val 3810"/>
            </a:avLst>
          </a:prstGeom>
          <a:solidFill>
            <a:srgbClr val="F1F4F2"/>
          </a:solidFill>
          <a:ln w="12700">
            <a:solidFill>
              <a:srgbClr val="D5DED8"/>
            </a:solidFill>
            <a:prstDash val="solid"/>
          </a:ln>
        </p:spPr>
      </p:sp>
      <p:sp>
        <p:nvSpPr>
          <p:cNvPr id="11" name="Shape 9"/>
          <p:cNvSpPr/>
          <p:nvPr/>
        </p:nvSpPr>
        <p:spPr>
          <a:xfrm>
            <a:off x="4572000" y="2368296"/>
            <a:ext cx="384048" cy="384048"/>
          </a:xfrm>
          <a:prstGeom prst="ellipse">
            <a:avLst/>
          </a:prstGeom>
          <a:solidFill>
            <a:srgbClr val="3F7D74"/>
          </a:solidFill>
          <a:ln w="12700">
            <a:solidFill>
              <a:srgbClr val="3F7D74"/>
            </a:solidFill>
            <a:prstDash val="solid"/>
          </a:ln>
        </p:spPr>
      </p:sp>
      <p:sp>
        <p:nvSpPr>
          <p:cNvPr id="12" name="Text 10"/>
          <p:cNvSpPr/>
          <p:nvPr/>
        </p:nvSpPr>
        <p:spPr>
          <a:xfrm>
            <a:off x="4572000" y="2368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4572000" y="2862072"/>
            <a:ext cx="3017520"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Minimalisatie</a:t>
            </a:r>
            <a:endParaRPr lang="en-US" sz="1600" dirty="0"/>
          </a:p>
        </p:txBody>
      </p:sp>
      <p:sp>
        <p:nvSpPr>
          <p:cNvPr id="14" name="Text 12"/>
          <p:cNvSpPr/>
          <p:nvPr/>
        </p:nvSpPr>
        <p:spPr>
          <a:xfrm>
            <a:off x="4572000" y="3282696"/>
            <a:ext cx="3017520" cy="60350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Niet meer gegevens dan nodig voor dat doel.</a:t>
            </a:r>
            <a:endParaRPr lang="en-US" sz="1200" dirty="0"/>
          </a:p>
        </p:txBody>
      </p:sp>
      <p:sp>
        <p:nvSpPr>
          <p:cNvPr id="15" name="Shape 13"/>
          <p:cNvSpPr/>
          <p:nvPr/>
        </p:nvSpPr>
        <p:spPr>
          <a:xfrm>
            <a:off x="8065008" y="2148840"/>
            <a:ext cx="3456432" cy="1920240"/>
          </a:xfrm>
          <a:prstGeom prst="roundRect">
            <a:avLst>
              <a:gd name="adj" fmla="val 3810"/>
            </a:avLst>
          </a:prstGeom>
          <a:solidFill>
            <a:srgbClr val="F1F4F2"/>
          </a:solidFill>
          <a:ln w="12700">
            <a:solidFill>
              <a:srgbClr val="D5DED8"/>
            </a:solidFill>
            <a:prstDash val="solid"/>
          </a:ln>
        </p:spPr>
      </p:sp>
      <p:sp>
        <p:nvSpPr>
          <p:cNvPr id="16" name="Shape 14"/>
          <p:cNvSpPr/>
          <p:nvPr/>
        </p:nvSpPr>
        <p:spPr>
          <a:xfrm>
            <a:off x="8284464" y="2368296"/>
            <a:ext cx="384048" cy="384048"/>
          </a:xfrm>
          <a:prstGeom prst="ellipse">
            <a:avLst/>
          </a:prstGeom>
          <a:solidFill>
            <a:srgbClr val="3F7D74"/>
          </a:solidFill>
          <a:ln w="12700">
            <a:solidFill>
              <a:srgbClr val="3F7D74"/>
            </a:solidFill>
            <a:prstDash val="solid"/>
          </a:ln>
        </p:spPr>
      </p:sp>
      <p:sp>
        <p:nvSpPr>
          <p:cNvPr id="17" name="Text 15"/>
          <p:cNvSpPr/>
          <p:nvPr/>
        </p:nvSpPr>
        <p:spPr>
          <a:xfrm>
            <a:off x="8284464" y="2368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8284464" y="2862072"/>
            <a:ext cx="3017520"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Juistheid</a:t>
            </a:r>
            <a:endParaRPr lang="en-US" sz="1600" dirty="0"/>
          </a:p>
        </p:txBody>
      </p:sp>
      <p:sp>
        <p:nvSpPr>
          <p:cNvPr id="19" name="Text 17"/>
          <p:cNvSpPr/>
          <p:nvPr/>
        </p:nvSpPr>
        <p:spPr>
          <a:xfrm>
            <a:off x="8284464" y="3282696"/>
            <a:ext cx="3017520" cy="60350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Kloppend en actueel — hier grijpt deel 4 direct in.</a:t>
            </a:r>
            <a:endParaRPr lang="en-US" sz="1200" dirty="0"/>
          </a:p>
        </p:txBody>
      </p:sp>
      <p:sp>
        <p:nvSpPr>
          <p:cNvPr id="20" name="Shape 18"/>
          <p:cNvSpPr/>
          <p:nvPr/>
        </p:nvSpPr>
        <p:spPr>
          <a:xfrm>
            <a:off x="640080" y="4325112"/>
            <a:ext cx="3456432" cy="1920240"/>
          </a:xfrm>
          <a:prstGeom prst="roundRect">
            <a:avLst>
              <a:gd name="adj" fmla="val 3810"/>
            </a:avLst>
          </a:prstGeom>
          <a:solidFill>
            <a:srgbClr val="F1F4F2"/>
          </a:solidFill>
          <a:ln w="12700">
            <a:solidFill>
              <a:srgbClr val="D5DED8"/>
            </a:solidFill>
            <a:prstDash val="solid"/>
          </a:ln>
        </p:spPr>
      </p:sp>
      <p:sp>
        <p:nvSpPr>
          <p:cNvPr id="21" name="Shape 19"/>
          <p:cNvSpPr/>
          <p:nvPr/>
        </p:nvSpPr>
        <p:spPr>
          <a:xfrm>
            <a:off x="859536" y="4544568"/>
            <a:ext cx="384048" cy="384048"/>
          </a:xfrm>
          <a:prstGeom prst="ellipse">
            <a:avLst/>
          </a:prstGeom>
          <a:solidFill>
            <a:srgbClr val="3F7D74"/>
          </a:solidFill>
          <a:ln w="12700">
            <a:solidFill>
              <a:srgbClr val="3F7D74"/>
            </a:solidFill>
            <a:prstDash val="solid"/>
          </a:ln>
        </p:spPr>
      </p:sp>
      <p:sp>
        <p:nvSpPr>
          <p:cNvPr id="22" name="Text 20"/>
          <p:cNvSpPr/>
          <p:nvPr/>
        </p:nvSpPr>
        <p:spPr>
          <a:xfrm>
            <a:off x="859536" y="45445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859536" y="5038344"/>
            <a:ext cx="3017520"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Opslagbeperking</a:t>
            </a:r>
            <a:endParaRPr lang="en-US" sz="1600" dirty="0"/>
          </a:p>
        </p:txBody>
      </p:sp>
      <p:sp>
        <p:nvSpPr>
          <p:cNvPr id="24" name="Text 22"/>
          <p:cNvSpPr/>
          <p:nvPr/>
        </p:nvSpPr>
        <p:spPr>
          <a:xfrm>
            <a:off x="859536" y="5458968"/>
            <a:ext cx="3017520" cy="60350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Niet langer bewaren dan nodig. De vergeten fase uit deel 1.</a:t>
            </a:r>
            <a:endParaRPr lang="en-US" sz="1200" dirty="0"/>
          </a:p>
        </p:txBody>
      </p:sp>
      <p:sp>
        <p:nvSpPr>
          <p:cNvPr id="25" name="Shape 23"/>
          <p:cNvSpPr/>
          <p:nvPr/>
        </p:nvSpPr>
        <p:spPr>
          <a:xfrm>
            <a:off x="4352544" y="4325112"/>
            <a:ext cx="3456432" cy="1920240"/>
          </a:xfrm>
          <a:prstGeom prst="roundRect">
            <a:avLst>
              <a:gd name="adj" fmla="val 3810"/>
            </a:avLst>
          </a:prstGeom>
          <a:solidFill>
            <a:srgbClr val="F1F4F2"/>
          </a:solidFill>
          <a:ln w="12700">
            <a:solidFill>
              <a:srgbClr val="D5DED8"/>
            </a:solidFill>
            <a:prstDash val="solid"/>
          </a:ln>
        </p:spPr>
      </p:sp>
      <p:sp>
        <p:nvSpPr>
          <p:cNvPr id="26" name="Shape 24"/>
          <p:cNvSpPr/>
          <p:nvPr/>
        </p:nvSpPr>
        <p:spPr>
          <a:xfrm>
            <a:off x="4572000" y="4544568"/>
            <a:ext cx="384048" cy="384048"/>
          </a:xfrm>
          <a:prstGeom prst="ellipse">
            <a:avLst/>
          </a:prstGeom>
          <a:solidFill>
            <a:srgbClr val="3F7D74"/>
          </a:solidFill>
          <a:ln w="12700">
            <a:solidFill>
              <a:srgbClr val="3F7D74"/>
            </a:solidFill>
            <a:prstDash val="solid"/>
          </a:ln>
        </p:spPr>
      </p:sp>
      <p:sp>
        <p:nvSpPr>
          <p:cNvPr id="27" name="Text 25"/>
          <p:cNvSpPr/>
          <p:nvPr/>
        </p:nvSpPr>
        <p:spPr>
          <a:xfrm>
            <a:off x="4572000" y="45445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4572000" y="5038344"/>
            <a:ext cx="3017520"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Integriteit</a:t>
            </a:r>
            <a:endParaRPr lang="en-US" sz="1600" dirty="0"/>
          </a:p>
        </p:txBody>
      </p:sp>
      <p:sp>
        <p:nvSpPr>
          <p:cNvPr id="29" name="Text 27"/>
          <p:cNvSpPr/>
          <p:nvPr/>
        </p:nvSpPr>
        <p:spPr>
          <a:xfrm>
            <a:off x="4572000" y="5458968"/>
            <a:ext cx="3017520" cy="60350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Passend beschermd tegen verlies en onbevoegde toegang.</a:t>
            </a:r>
            <a:endParaRPr lang="en-US" sz="1200" dirty="0"/>
          </a:p>
        </p:txBody>
      </p:sp>
      <p:sp>
        <p:nvSpPr>
          <p:cNvPr id="30" name="Shape 28"/>
          <p:cNvSpPr/>
          <p:nvPr/>
        </p:nvSpPr>
        <p:spPr>
          <a:xfrm>
            <a:off x="8065008" y="4325112"/>
            <a:ext cx="3456432" cy="1920240"/>
          </a:xfrm>
          <a:prstGeom prst="roundRect">
            <a:avLst>
              <a:gd name="adj" fmla="val 3810"/>
            </a:avLst>
          </a:prstGeom>
          <a:solidFill>
            <a:srgbClr val="F1F4F2"/>
          </a:solidFill>
          <a:ln w="12700">
            <a:solidFill>
              <a:srgbClr val="D5DED8"/>
            </a:solidFill>
            <a:prstDash val="solid"/>
          </a:ln>
        </p:spPr>
      </p:sp>
      <p:sp>
        <p:nvSpPr>
          <p:cNvPr id="31" name="Shape 29"/>
          <p:cNvSpPr/>
          <p:nvPr/>
        </p:nvSpPr>
        <p:spPr>
          <a:xfrm>
            <a:off x="8284464" y="4544568"/>
            <a:ext cx="384048" cy="384048"/>
          </a:xfrm>
          <a:prstGeom prst="ellipse">
            <a:avLst/>
          </a:prstGeom>
          <a:solidFill>
            <a:srgbClr val="3F7D74"/>
          </a:solidFill>
          <a:ln w="12700">
            <a:solidFill>
              <a:srgbClr val="3F7D74"/>
            </a:solidFill>
            <a:prstDash val="solid"/>
          </a:ln>
        </p:spPr>
      </p:sp>
      <p:sp>
        <p:nvSpPr>
          <p:cNvPr id="32" name="Text 30"/>
          <p:cNvSpPr/>
          <p:nvPr/>
        </p:nvSpPr>
        <p:spPr>
          <a:xfrm>
            <a:off x="8284464" y="45445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1"/>
          <p:cNvSpPr/>
          <p:nvPr/>
        </p:nvSpPr>
        <p:spPr>
          <a:xfrm>
            <a:off x="8284464" y="5038344"/>
            <a:ext cx="3017520"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Verantwoording</a:t>
            </a:r>
            <a:endParaRPr lang="en-US" sz="1600" dirty="0"/>
          </a:p>
        </p:txBody>
      </p:sp>
      <p:sp>
        <p:nvSpPr>
          <p:cNvPr id="34" name="Text 32"/>
          <p:cNvSpPr/>
          <p:nvPr/>
        </p:nvSpPr>
        <p:spPr>
          <a:xfrm>
            <a:off x="8284464" y="5458968"/>
            <a:ext cx="3017520" cy="60350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Je moet kunnen aantónen dat je aan de andere vijf voldoet.</a:t>
            </a:r>
            <a:endParaRPr lang="en-US" sz="1200" dirty="0"/>
          </a:p>
        </p:txBody>
      </p:sp>
      <p:sp>
        <p:nvSpPr>
          <p:cNvPr id="35" name="Text 33"/>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"Het klopt wel" volstaat niet. De ketenvragen uit deel 3 en de kwaliteitsregels uit deel 4 zijn je bewijsmateriaal.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RECHTEN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Zes rechten — en waar ze technisch stuklopen</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De rechterkolom is jouw domein.</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011680"/>
                <a:gridCol w="3840480"/>
                <a:gridCol w="502920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Recht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Betekent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Waar het stukloopt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Inzage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Overzicht van wat er is vastgelegd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Gegevens verspreid over legacy, platform en gedeelde mappen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Rectificatie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Onjuiste gegevens corrigeren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Correctie in de bron werkt niet door in alle kopieën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Wissing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Verwijdering waar geen bewaarplicht geldt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Kopieën, back-ups en exports blijven achter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Beperking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Tijdelijk niet verder verwerken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Systemen kennen geen status "bevroren"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Overdraagbaarheid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Eigen gegevens in gangbaar formaat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Export bestaat niet of bevat afgeleide velden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Bezwaar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Verzet tegen een verwerking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Geen registratie van eerder bezwaar, dus het herhaalt zich</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6" name="Text 3"/>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Een organisatie die niet weet waar gegevens staan, kan geen inzageverzoek beantwoorden. Dat is een landschapsprobleem in juridische kleding.</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SECURITY</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Classificeren en toegang geven</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Wie alles maximaal beveiligt, maakt werken onmogelijk en krijgt schaduw-oplossingen terug.</a:t>
            </a:r>
            <a:endParaRPr lang="en-US" sz="1600" dirty="0"/>
          </a:p>
        </p:txBody>
      </p:sp>
      <p:sp>
        <p:nvSpPr>
          <p:cNvPr id="5" name="Text 3"/>
          <p:cNvSpPr/>
          <p:nvPr/>
        </p:nvSpPr>
        <p:spPr>
          <a:xfrm>
            <a:off x="640080" y="2148840"/>
            <a:ext cx="530352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Het CIA-drieluik</a:t>
            </a:r>
            <a:endParaRPr lang="en-US" sz="2000" dirty="0"/>
          </a:p>
        </p:txBody>
      </p:sp>
      <p:sp>
        <p:nvSpPr>
          <p:cNvPr id="6" name="Text 4"/>
          <p:cNvSpPr/>
          <p:nvPr/>
        </p:nvSpPr>
        <p:spPr>
          <a:xfrm>
            <a:off x="640080" y="2606040"/>
            <a:ext cx="530352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Vertrouwelijkheid: wie mag dit zien?</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Integriteit: kan het ongemerkt gewijzigd worden?</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Beschikbaarheid: wat als het er even niet is?</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Uit de classificatie volgt het toegangsregime</a:t>
            </a:r>
            <a:endParaRPr lang="en-US" sz="1400" dirty="0"/>
          </a:p>
        </p:txBody>
      </p:sp>
      <p:sp>
        <p:nvSpPr>
          <p:cNvPr id="7" name="Text 5"/>
          <p:cNvSpPr/>
          <p:nvPr/>
        </p:nvSpPr>
        <p:spPr>
          <a:xfrm>
            <a:off x="6309360" y="2148840"/>
            <a:ext cx="521208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Autorisatie in drie vragen</a:t>
            </a:r>
            <a:endParaRPr lang="en-US" sz="2000" dirty="0"/>
          </a:p>
        </p:txBody>
      </p:sp>
      <p:sp>
        <p:nvSpPr>
          <p:cNvPr id="8" name="Text 6"/>
          <p:cNvSpPr/>
          <p:nvPr/>
        </p:nvSpPr>
        <p:spPr>
          <a:xfrm>
            <a:off x="6309360" y="2606040"/>
            <a:ext cx="521208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Wie heeft nu toegang — en waarom?</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Wanneer is dat voor het laatst gecontroleerd?</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Wat gebeurt er bij een functiewijziging?</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Stapeling: rechten worden toegevoegd en zelden ingetrokken</a:t>
            </a:r>
            <a:endParaRPr lang="en-US" sz="1400" dirty="0"/>
          </a:p>
        </p:txBody>
      </p:sp>
      <p:sp>
        <p:nvSpPr>
          <p:cNvPr id="9" name="Text 7"/>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Need to know: toegang omdat je het voor je werk nodig hebt, niet omdat je functie hoog genoeg is. De moeilijkste regel om vol te houden.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HET ONDERSCHEID DAT ALLES BEPAALT</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Bestaat er ergens een sleuteltabel?</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Dan is het gepseudonimiseerd, niet anoniem.</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Pseudonimisering is omkeerbaar en blijft dus volledig onder de privacyregels vallen. Anonimisering is onomkeerbaar en valt eruit. Wat "geanonimiseerd" heet, is bijna altijd het eerste — en geboortejaar plus postcode plus regeling kan één persoon opleveren zonder dat er een naam in staat.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DATALEK</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De klok begint bij ontdekking</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Niet bij bevestiging. Dat is de meest gemaakte fout.</a:t>
            </a:r>
            <a:endParaRPr lang="en-US" sz="1600" dirty="0"/>
          </a:p>
        </p:txBody>
      </p:sp>
      <p:sp>
        <p:nvSpPr>
          <p:cNvPr id="5" name="Shape 3"/>
          <p:cNvSpPr/>
          <p:nvPr/>
        </p:nvSpPr>
        <p:spPr>
          <a:xfrm>
            <a:off x="640080" y="2377440"/>
            <a:ext cx="3456432" cy="2377440"/>
          </a:xfrm>
          <a:prstGeom prst="roundRect">
            <a:avLst>
              <a:gd name="adj" fmla="val 3077"/>
            </a:avLst>
          </a:prstGeom>
          <a:solidFill>
            <a:srgbClr val="F1F4F2"/>
          </a:solidFill>
          <a:ln w="12700">
            <a:solidFill>
              <a:srgbClr val="D5DED8"/>
            </a:solidFill>
            <a:prstDash val="solid"/>
          </a:ln>
        </p:spPr>
      </p:sp>
      <p:sp>
        <p:nvSpPr>
          <p:cNvPr id="6" name="Shape 4"/>
          <p:cNvSpPr/>
          <p:nvPr/>
        </p:nvSpPr>
        <p:spPr>
          <a:xfrm>
            <a:off x="859536" y="2596896"/>
            <a:ext cx="384048" cy="384048"/>
          </a:xfrm>
          <a:prstGeom prst="ellipse">
            <a:avLst/>
          </a:prstGeom>
          <a:solidFill>
            <a:srgbClr val="3F7D74"/>
          </a:solidFill>
          <a:ln w="12700">
            <a:solidFill>
              <a:srgbClr val="3F7D74"/>
            </a:solidFill>
            <a:prstDash val="solid"/>
          </a:ln>
        </p:spPr>
      </p:sp>
      <p:sp>
        <p:nvSpPr>
          <p:cNvPr id="7" name="Text 5"/>
          <p:cNvSpPr/>
          <p:nvPr/>
        </p:nvSpPr>
        <p:spPr>
          <a:xfrm>
            <a:off x="859536"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859536" y="3090672"/>
            <a:ext cx="3017520" cy="384048"/>
          </a:xfrm>
          <a:prstGeom prst="rect">
            <a:avLst/>
          </a:prstGeom>
          <a:noFill/>
          <a:ln/>
        </p:spPr>
        <p:txBody>
          <a:bodyPr wrap="square" lIns="0" tIns="0" rIns="0" bIns="0" rtlCol="0" anchor="t"/>
          <a:lstStyle/>
          <a:p>
            <a:pPr indent="0" marL="0">
              <a:buNone/>
            </a:pPr>
            <a:r>
              <a:rPr lang="en-US" sz="1900" b="1" dirty="0">
                <a:solidFill>
                  <a:srgbClr val="0E1A1C"/>
                </a:solidFill>
                <a:latin typeface="Cambria" pitchFamily="34" charset="0"/>
                <a:ea typeface="Cambria" pitchFamily="34" charset="-122"/>
                <a:cs typeface="Cambria" pitchFamily="34" charset="-120"/>
              </a:rPr>
              <a:t>Direct melden</a:t>
            </a:r>
            <a:endParaRPr lang="en-US" sz="1900" dirty="0"/>
          </a:p>
        </p:txBody>
      </p:sp>
      <p:sp>
        <p:nvSpPr>
          <p:cNvPr id="9" name="Text 7"/>
          <p:cNvSpPr/>
          <p:nvPr/>
        </p:nvSpPr>
        <p:spPr>
          <a:xfrm>
            <a:off x="859536" y="3511296"/>
            <a:ext cx="3017520" cy="1060704"/>
          </a:xfrm>
          <a:prstGeom prst="rect">
            <a:avLst/>
          </a:prstGeom>
          <a:noFill/>
          <a:ln/>
        </p:spPr>
        <p:txBody>
          <a:bodyPr wrap="square" lIns="0" tIns="0" rIns="0" bIns="0" rtlCol="0" anchor="t"/>
          <a:lstStyle/>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Via de vastgelegde interne route — vrijwel altijd de FG of de securityfunctie.</a:t>
            </a:r>
            <a:endParaRPr lang="en-US" sz="1300" dirty="0"/>
          </a:p>
        </p:txBody>
      </p:sp>
      <p:sp>
        <p:nvSpPr>
          <p:cNvPr id="10" name="Shape 8"/>
          <p:cNvSpPr/>
          <p:nvPr/>
        </p:nvSpPr>
        <p:spPr>
          <a:xfrm>
            <a:off x="4352544" y="2377440"/>
            <a:ext cx="3456432" cy="2377440"/>
          </a:xfrm>
          <a:prstGeom prst="roundRect">
            <a:avLst>
              <a:gd name="adj" fmla="val 3077"/>
            </a:avLst>
          </a:prstGeom>
          <a:solidFill>
            <a:srgbClr val="F1F4F2"/>
          </a:solidFill>
          <a:ln w="12700">
            <a:solidFill>
              <a:srgbClr val="D5DED8"/>
            </a:solidFill>
            <a:prstDash val="solid"/>
          </a:ln>
        </p:spPr>
      </p:sp>
      <p:sp>
        <p:nvSpPr>
          <p:cNvPr id="11" name="Shape 9"/>
          <p:cNvSpPr/>
          <p:nvPr/>
        </p:nvSpPr>
        <p:spPr>
          <a:xfrm>
            <a:off x="4572000" y="2596896"/>
            <a:ext cx="384048" cy="384048"/>
          </a:xfrm>
          <a:prstGeom prst="ellipse">
            <a:avLst/>
          </a:prstGeom>
          <a:solidFill>
            <a:srgbClr val="3F7D74"/>
          </a:solidFill>
          <a:ln w="12700">
            <a:solidFill>
              <a:srgbClr val="3F7D74"/>
            </a:solidFill>
            <a:prstDash val="solid"/>
          </a:ln>
        </p:spPr>
      </p:sp>
      <p:sp>
        <p:nvSpPr>
          <p:cNvPr id="12" name="Text 10"/>
          <p:cNvSpPr/>
          <p:nvPr/>
        </p:nvSpPr>
        <p:spPr>
          <a:xfrm>
            <a:off x="4572000"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4572000" y="3090672"/>
            <a:ext cx="3017520" cy="384048"/>
          </a:xfrm>
          <a:prstGeom prst="rect">
            <a:avLst/>
          </a:prstGeom>
          <a:noFill/>
          <a:ln/>
        </p:spPr>
        <p:txBody>
          <a:bodyPr wrap="square" lIns="0" tIns="0" rIns="0" bIns="0" rtlCol="0" anchor="t"/>
          <a:lstStyle/>
          <a:p>
            <a:pPr indent="0" marL="0">
              <a:buNone/>
            </a:pPr>
            <a:r>
              <a:rPr lang="en-US" sz="1900" b="1" dirty="0">
                <a:solidFill>
                  <a:srgbClr val="0E1A1C"/>
                </a:solidFill>
                <a:latin typeface="Cambria" pitchFamily="34" charset="0"/>
                <a:ea typeface="Cambria" pitchFamily="34" charset="-122"/>
                <a:cs typeface="Cambria" pitchFamily="34" charset="-120"/>
              </a:rPr>
              <a:t>Niets verwijderen</a:t>
            </a:r>
            <a:endParaRPr lang="en-US" sz="1900" dirty="0"/>
          </a:p>
        </p:txBody>
      </p:sp>
      <p:sp>
        <p:nvSpPr>
          <p:cNvPr id="14" name="Text 12"/>
          <p:cNvSpPr/>
          <p:nvPr/>
        </p:nvSpPr>
        <p:spPr>
          <a:xfrm>
            <a:off x="4572000" y="3511296"/>
            <a:ext cx="3017520" cy="1060704"/>
          </a:xfrm>
          <a:prstGeom prst="rect">
            <a:avLst/>
          </a:prstGeom>
          <a:noFill/>
          <a:ln/>
        </p:spPr>
        <p:txBody>
          <a:bodyPr wrap="square" lIns="0" tIns="0" rIns="0" bIns="0" rtlCol="0" anchor="t"/>
          <a:lstStyle/>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Verwijderen vernietigt bewijs en lost niets op.</a:t>
            </a:r>
            <a:endParaRPr lang="en-US" sz="1300" dirty="0"/>
          </a:p>
        </p:txBody>
      </p:sp>
      <p:sp>
        <p:nvSpPr>
          <p:cNvPr id="15" name="Shape 13"/>
          <p:cNvSpPr/>
          <p:nvPr/>
        </p:nvSpPr>
        <p:spPr>
          <a:xfrm>
            <a:off x="8065008" y="2377440"/>
            <a:ext cx="3456432" cy="2377440"/>
          </a:xfrm>
          <a:prstGeom prst="roundRect">
            <a:avLst>
              <a:gd name="adj" fmla="val 3077"/>
            </a:avLst>
          </a:prstGeom>
          <a:solidFill>
            <a:srgbClr val="F1F4F2"/>
          </a:solidFill>
          <a:ln w="12700">
            <a:solidFill>
              <a:srgbClr val="D5DED8"/>
            </a:solidFill>
            <a:prstDash val="solid"/>
          </a:ln>
        </p:spPr>
      </p:sp>
      <p:sp>
        <p:nvSpPr>
          <p:cNvPr id="16" name="Shape 14"/>
          <p:cNvSpPr/>
          <p:nvPr/>
        </p:nvSpPr>
        <p:spPr>
          <a:xfrm>
            <a:off x="8284464" y="2596896"/>
            <a:ext cx="384048" cy="384048"/>
          </a:xfrm>
          <a:prstGeom prst="ellipse">
            <a:avLst/>
          </a:prstGeom>
          <a:solidFill>
            <a:srgbClr val="3F7D74"/>
          </a:solidFill>
          <a:ln w="12700">
            <a:solidFill>
              <a:srgbClr val="3F7D74"/>
            </a:solidFill>
            <a:prstDash val="solid"/>
          </a:ln>
        </p:spPr>
      </p:sp>
      <p:sp>
        <p:nvSpPr>
          <p:cNvPr id="17" name="Text 15"/>
          <p:cNvSpPr/>
          <p:nvPr/>
        </p:nvSpPr>
        <p:spPr>
          <a:xfrm>
            <a:off x="8284464"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8284464" y="3090672"/>
            <a:ext cx="3017520" cy="384048"/>
          </a:xfrm>
          <a:prstGeom prst="rect">
            <a:avLst/>
          </a:prstGeom>
          <a:noFill/>
          <a:ln/>
        </p:spPr>
        <p:txBody>
          <a:bodyPr wrap="square" lIns="0" tIns="0" rIns="0" bIns="0" rtlCol="0" anchor="t"/>
          <a:lstStyle/>
          <a:p>
            <a:pPr indent="0" marL="0">
              <a:buNone/>
            </a:pPr>
            <a:r>
              <a:rPr lang="en-US" sz="1900" b="1" dirty="0">
                <a:solidFill>
                  <a:srgbClr val="0E1A1C"/>
                </a:solidFill>
                <a:latin typeface="Cambria" pitchFamily="34" charset="0"/>
                <a:ea typeface="Cambria" pitchFamily="34" charset="-122"/>
                <a:cs typeface="Cambria" pitchFamily="34" charset="-120"/>
              </a:rPr>
              <a:t>Niet zelf beoordelen</a:t>
            </a:r>
            <a:endParaRPr lang="en-US" sz="1900" dirty="0"/>
          </a:p>
        </p:txBody>
      </p:sp>
      <p:sp>
        <p:nvSpPr>
          <p:cNvPr id="19" name="Text 17"/>
          <p:cNvSpPr/>
          <p:nvPr/>
        </p:nvSpPr>
        <p:spPr>
          <a:xfrm>
            <a:off x="8284464" y="3511296"/>
            <a:ext cx="3017520" cy="1060704"/>
          </a:xfrm>
          <a:prstGeom prst="rect">
            <a:avLst/>
          </a:prstGeom>
          <a:noFill/>
          <a:ln/>
        </p:spPr>
        <p:txBody>
          <a:bodyPr wrap="square" lIns="0" tIns="0" rIns="0" bIns="0" rtlCol="0" anchor="t"/>
          <a:lstStyle/>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Of het ernstig genoeg is, is niet jouw rol. Intussen loopt de termijn door.</a:t>
            </a:r>
            <a:endParaRPr lang="en-US" sz="1300" dirty="0"/>
          </a:p>
        </p:txBody>
      </p:sp>
      <p:sp>
        <p:nvSpPr>
          <p:cNvPr id="20" name="Text 18"/>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Melden bij de AP in beginsel binnen 72 uur na ontdekking · betrokkenen informeren bij hoog risico · elk lek intern registreren, ook als melden niet hoeft.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ETHIEK</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Zou de deelnemer verbaasd zijn</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als hij dit wist?</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De AVG is een ondergrens, geen kompas. Vier vragen: zou de betrokkene verbaasd zijn · wie draagt het risico en wie heeft het voordeel · zou ik dit in de krant willen zien met de naam van mijn opdrachtgever · werkt dit systematisch nadelig uit voor een groep, ook al is dat niet de bedoeling?</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EXAMENLIJN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CDMP · Governance, Security en Ethiek</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Data Governance is een van de zwaarst wegende kennisgebieden.</a:t>
            </a:r>
            <a:endParaRPr lang="en-US" sz="1600" dirty="0"/>
          </a:p>
        </p:txBody>
      </p:sp>
      <p:sp>
        <p:nvSpPr>
          <p:cNvPr id="5" name="Text 3"/>
          <p:cNvSpPr/>
          <p:nvPr/>
        </p:nvSpPr>
        <p:spPr>
          <a:xfrm>
            <a:off x="640080" y="2286000"/>
            <a:ext cx="603504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Governance als besluitrechten; governance versus stewardship</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Classificatie en het CIA-drieluik; toegang op basis van noodzaak</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Pseudonimiseren versus anonimiseren en het gevolg voor de regels</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Data-ethiek als eigen onderwerp, niet als bijlage bij security</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Engels: decision rights, need to know, pseudonymization, data breach</a:t>
            </a:r>
            <a:endParaRPr lang="en-US" sz="1500" dirty="0"/>
          </a:p>
        </p:txBody>
      </p:sp>
      <p:sp>
        <p:nvSpPr>
          <p:cNvPr id="6" name="Shape 4"/>
          <p:cNvSpPr/>
          <p:nvPr/>
        </p:nvSpPr>
        <p:spPr>
          <a:xfrm>
            <a:off x="7223760" y="2148840"/>
            <a:ext cx="4297680" cy="2834640"/>
          </a:xfrm>
          <a:prstGeom prst="roundRect">
            <a:avLst>
              <a:gd name="adj" fmla="val 2581"/>
            </a:avLst>
          </a:prstGeom>
          <a:solidFill>
            <a:srgbClr val="F6F3EC"/>
          </a:solidFill>
          <a:ln w="12700">
            <a:solidFill>
              <a:srgbClr val="E2D9C4"/>
            </a:solidFill>
            <a:prstDash val="solid"/>
          </a:ln>
        </p:spPr>
      </p:sp>
      <p:sp>
        <p:nvSpPr>
          <p:cNvPr id="7" name="Text 5"/>
          <p:cNvSpPr/>
          <p:nvPr/>
        </p:nvSpPr>
        <p:spPr>
          <a:xfrm>
            <a:off x="7452360" y="2377440"/>
            <a:ext cx="3840480" cy="274320"/>
          </a:xfrm>
          <a:prstGeom prst="rect">
            <a:avLst/>
          </a:prstGeom>
          <a:noFill/>
          <a:ln/>
        </p:spPr>
        <p:txBody>
          <a:bodyPr wrap="square" lIns="0" tIns="0" rIns="0" bIns="0" rtlCol="0" anchor="ctr"/>
          <a:lstStyle/>
          <a:p>
            <a:pPr indent="0" marL="0">
              <a:buNone/>
            </a:pPr>
            <a:r>
              <a:rPr lang="en-US" sz="1100" b="1" spc="100" kern="0" dirty="0">
                <a:solidFill>
                  <a:srgbClr val="B0803A"/>
                </a:solidFill>
                <a:latin typeface="Calibri" pitchFamily="34" charset="0"/>
                <a:ea typeface="Calibri" pitchFamily="34" charset="-122"/>
                <a:cs typeface="Calibri" pitchFamily="34" charset="-120"/>
              </a:rPr>
              <a:t>VOORBEREIDING, GEEN VERVANGING</a:t>
            </a:r>
            <a:endParaRPr lang="en-US" sz="1100" dirty="0"/>
          </a:p>
        </p:txBody>
      </p:sp>
      <p:sp>
        <p:nvSpPr>
          <p:cNvPr id="8" name="Text 6"/>
          <p:cNvSpPr/>
          <p:nvPr/>
        </p:nvSpPr>
        <p:spPr>
          <a:xfrm>
            <a:off x="7452360" y="2743200"/>
            <a:ext cx="3840480" cy="2103120"/>
          </a:xfrm>
          <a:prstGeom prst="rect">
            <a:avLst/>
          </a:prstGeom>
          <a:noFill/>
          <a:ln/>
        </p:spPr>
        <p:txBody>
          <a:bodyPr wrap="square" lIns="0" tIns="0" rIns="0" bIns="0" rtlCol="0" anchor="t"/>
          <a:lstStyle/>
          <a:p>
            <a:pPr indent="0" marL="0">
              <a:lnSpc>
                <a:spcPts val="1800"/>
              </a:lnSpc>
              <a:buNone/>
            </a:pPr>
            <a:r>
              <a:rPr lang="en-US" sz="1250" dirty="0">
                <a:solidFill>
                  <a:srgbClr val="0E1A1C"/>
                </a:solidFill>
                <a:latin typeface="Calibri" pitchFamily="34" charset="0"/>
                <a:ea typeface="Calibri" pitchFamily="34" charset="-122"/>
                <a:cs typeface="Calibri" pitchFamily="34" charset="-120"/>
              </a:rPr>
              <a:t>Ductus is niet gelieerd aan of geaccrediteerd door DAMA International. Dit materiaal reproduceert het DMBOK niet en vervangt het niet.</a:t>
            </a:r>
            <a:endParaRPr lang="en-US" sz="1250" dirty="0"/>
          </a:p>
          <a:p>
            <a:pPr indent="0" marL="0">
              <a:lnSpc>
                <a:spcPts val="1800"/>
              </a:lnSpc>
              <a:buNone/>
            </a:pPr>
            <a:endParaRPr lang="en-US" sz="1250" dirty="0"/>
          </a:p>
          <a:p>
            <a:pPr indent="0" marL="0">
              <a:lnSpc>
                <a:spcPts val="1800"/>
              </a:lnSpc>
              <a:buNone/>
            </a:pPr>
            <a:r>
              <a:rPr lang="en-US" sz="1250" dirty="0">
                <a:solidFill>
                  <a:srgbClr val="0E1A1C"/>
                </a:solidFill>
                <a:latin typeface="Calibri" pitchFamily="34" charset="0"/>
                <a:ea typeface="Calibri" pitchFamily="34" charset="-122"/>
                <a:cs typeface="Calibri" pitchFamily="34" charset="-120"/>
              </a:rPr>
              <a:t>Schaf de DMBOK2 Revised Edition zelf aan — tijdens het examen is dat het enige toegestane hulpmiddel, in papier óf digitaal.</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AAN HET WERK</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Wat we vandaag doen</a:t>
            </a:r>
            <a:endParaRPr lang="en-US" sz="3400" dirty="0"/>
          </a:p>
        </p:txBody>
      </p:sp>
      <p:sp>
        <p:nvSpPr>
          <p:cNvPr id="4" name="Shape 2"/>
          <p:cNvSpPr/>
          <p:nvPr/>
        </p:nvSpPr>
        <p:spPr>
          <a:xfrm>
            <a:off x="640080" y="2377440"/>
            <a:ext cx="3456432" cy="2468880"/>
          </a:xfrm>
          <a:prstGeom prst="roundRect">
            <a:avLst>
              <a:gd name="adj" fmla="val 2963"/>
            </a:avLst>
          </a:prstGeom>
          <a:solidFill>
            <a:srgbClr val="17423F"/>
          </a:solidFill>
          <a:ln w="12700">
            <a:solidFill>
              <a:srgbClr val="2C5A56"/>
            </a:solidFill>
            <a:prstDash val="solid"/>
          </a:ln>
        </p:spPr>
      </p:sp>
      <p:sp>
        <p:nvSpPr>
          <p:cNvPr id="5" name="Shape 3"/>
          <p:cNvSpPr/>
          <p:nvPr/>
        </p:nvSpPr>
        <p:spPr>
          <a:xfrm>
            <a:off x="859536" y="2596896"/>
            <a:ext cx="384048" cy="384048"/>
          </a:xfrm>
          <a:prstGeom prst="ellipse">
            <a:avLst/>
          </a:prstGeom>
          <a:solidFill>
            <a:srgbClr val="3F7D74"/>
          </a:solidFill>
          <a:ln w="12700">
            <a:solidFill>
              <a:srgbClr val="3F7D74"/>
            </a:solidFill>
            <a:prstDash val="solid"/>
          </a:ln>
        </p:spPr>
      </p:sp>
      <p:sp>
        <p:nvSpPr>
          <p:cNvPr id="6" name="Text 4"/>
          <p:cNvSpPr/>
          <p:nvPr/>
        </p:nvSpPr>
        <p:spPr>
          <a:xfrm>
            <a:off x="859536"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7" name="Text 5"/>
          <p:cNvSpPr/>
          <p:nvPr/>
        </p:nvSpPr>
        <p:spPr>
          <a:xfrm>
            <a:off x="859536" y="3090672"/>
            <a:ext cx="3017520" cy="384048"/>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Mag marketing dit?</a:t>
            </a:r>
            <a:endParaRPr lang="en-US" sz="1900" dirty="0"/>
          </a:p>
        </p:txBody>
      </p:sp>
      <p:sp>
        <p:nvSpPr>
          <p:cNvPr id="8" name="Text 6"/>
          <p:cNvSpPr/>
          <p:nvPr/>
        </p:nvSpPr>
        <p:spPr>
          <a:xfrm>
            <a:off x="859536" y="3511296"/>
            <a:ext cx="3017520" cy="1152144"/>
          </a:xfrm>
          <a:prstGeom prst="rect">
            <a:avLst/>
          </a:prstGeom>
          <a:noFill/>
          <a:ln/>
        </p:spPr>
        <p:txBody>
          <a:bodyPr wrap="square" lIns="0" tIns="0" rIns="0" bIns="0" rtlCol="0" anchor="t"/>
          <a:lstStyle/>
          <a:p>
            <a:pPr indent="0" marL="0">
              <a:lnSpc>
                <a:spcPts val="1700"/>
              </a:lnSpc>
              <a:buNone/>
            </a:pPr>
            <a:r>
              <a:rPr lang="en-US" sz="1300" dirty="0">
                <a:solidFill>
                  <a:srgbClr val="7FA893"/>
                </a:solidFill>
                <a:latin typeface="Calibri" pitchFamily="34" charset="0"/>
                <a:ea typeface="Calibri" pitchFamily="34" charset="-122"/>
                <a:cs typeface="Calibri" pitchFamily="34" charset="-120"/>
              </a:rPr>
              <a:t>Beginselen, grondslag, ethiek — en een advies met een alternatief.</a:t>
            </a:r>
            <a:endParaRPr lang="en-US" sz="1300" dirty="0"/>
          </a:p>
          <a:p>
            <a:pPr indent="0" marL="0">
              <a:lnSpc>
                <a:spcPts val="1700"/>
              </a:lnSpc>
              <a:buNone/>
            </a:pPr>
            <a:r>
              <a:rPr lang="en-US" sz="1300" dirty="0">
                <a:solidFill>
                  <a:srgbClr val="7FA893"/>
                </a:solidFill>
                <a:latin typeface="Calibri" pitchFamily="34" charset="0"/>
                <a:ea typeface="Calibri" pitchFamily="34" charset="-122"/>
                <a:cs typeface="Calibri" pitchFamily="34" charset="-120"/>
              </a:rPr>
              <a:t>45 minuten.</a:t>
            </a:r>
            <a:endParaRPr lang="en-US" sz="1300" dirty="0"/>
          </a:p>
        </p:txBody>
      </p:sp>
      <p:sp>
        <p:nvSpPr>
          <p:cNvPr id="9" name="Shape 7"/>
          <p:cNvSpPr/>
          <p:nvPr/>
        </p:nvSpPr>
        <p:spPr>
          <a:xfrm>
            <a:off x="4352544" y="2377440"/>
            <a:ext cx="3456432" cy="2468880"/>
          </a:xfrm>
          <a:prstGeom prst="roundRect">
            <a:avLst>
              <a:gd name="adj" fmla="val 2963"/>
            </a:avLst>
          </a:prstGeom>
          <a:solidFill>
            <a:srgbClr val="17423F"/>
          </a:solidFill>
          <a:ln w="12700">
            <a:solidFill>
              <a:srgbClr val="2C5A56"/>
            </a:solidFill>
            <a:prstDash val="solid"/>
          </a:ln>
        </p:spPr>
      </p:sp>
      <p:sp>
        <p:nvSpPr>
          <p:cNvPr id="10" name="Shape 8"/>
          <p:cNvSpPr/>
          <p:nvPr/>
        </p:nvSpPr>
        <p:spPr>
          <a:xfrm>
            <a:off x="4572000" y="2596896"/>
            <a:ext cx="384048" cy="384048"/>
          </a:xfrm>
          <a:prstGeom prst="ellipse">
            <a:avLst/>
          </a:prstGeom>
          <a:solidFill>
            <a:srgbClr val="3F7D74"/>
          </a:solidFill>
          <a:ln w="12700">
            <a:solidFill>
              <a:srgbClr val="3F7D74"/>
            </a:solidFill>
            <a:prstDash val="solid"/>
          </a:ln>
        </p:spPr>
      </p:sp>
      <p:sp>
        <p:nvSpPr>
          <p:cNvPr id="11" name="Text 9"/>
          <p:cNvSpPr/>
          <p:nvPr/>
        </p:nvSpPr>
        <p:spPr>
          <a:xfrm>
            <a:off x="4572000"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2" name="Text 10"/>
          <p:cNvSpPr/>
          <p:nvPr/>
        </p:nvSpPr>
        <p:spPr>
          <a:xfrm>
            <a:off x="4572000" y="3090672"/>
            <a:ext cx="3017520" cy="384048"/>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Classificatie</a:t>
            </a:r>
            <a:endParaRPr lang="en-US" sz="1900" dirty="0"/>
          </a:p>
        </p:txBody>
      </p:sp>
      <p:sp>
        <p:nvSpPr>
          <p:cNvPr id="13" name="Text 11"/>
          <p:cNvSpPr/>
          <p:nvPr/>
        </p:nvSpPr>
        <p:spPr>
          <a:xfrm>
            <a:off x="4572000" y="3511296"/>
            <a:ext cx="3017520" cy="1152144"/>
          </a:xfrm>
          <a:prstGeom prst="rect">
            <a:avLst/>
          </a:prstGeom>
          <a:noFill/>
          <a:ln/>
        </p:spPr>
        <p:txBody>
          <a:bodyPr wrap="square" lIns="0" tIns="0" rIns="0" bIns="0" rtlCol="0" anchor="t"/>
          <a:lstStyle/>
          <a:p>
            <a:pPr indent="0" marL="0">
              <a:lnSpc>
                <a:spcPts val="1700"/>
              </a:lnSpc>
              <a:buNone/>
            </a:pPr>
            <a:r>
              <a:rPr lang="en-US" sz="1300" dirty="0">
                <a:solidFill>
                  <a:srgbClr val="7FA893"/>
                </a:solidFill>
                <a:latin typeface="Calibri" pitchFamily="34" charset="0"/>
                <a:ea typeface="Calibri" pitchFamily="34" charset="-122"/>
                <a:cs typeface="Calibri" pitchFamily="34" charset="-120"/>
              </a:rPr>
              <a:t>Vijf datasets, vijf toegangsregimes, en het stapelingsprobleem.</a:t>
            </a:r>
            <a:endParaRPr lang="en-US" sz="1300" dirty="0"/>
          </a:p>
          <a:p>
            <a:pPr indent="0" marL="0">
              <a:lnSpc>
                <a:spcPts val="1700"/>
              </a:lnSpc>
              <a:buNone/>
            </a:pPr>
            <a:r>
              <a:rPr lang="en-US" sz="1300" dirty="0">
                <a:solidFill>
                  <a:srgbClr val="7FA893"/>
                </a:solidFill>
                <a:latin typeface="Calibri" pitchFamily="34" charset="0"/>
                <a:ea typeface="Calibri" pitchFamily="34" charset="-122"/>
                <a:cs typeface="Calibri" pitchFamily="34" charset="-120"/>
              </a:rPr>
              <a:t>35 minuten.</a:t>
            </a:r>
            <a:endParaRPr lang="en-US" sz="1300" dirty="0"/>
          </a:p>
        </p:txBody>
      </p:sp>
      <p:sp>
        <p:nvSpPr>
          <p:cNvPr id="14" name="Shape 12"/>
          <p:cNvSpPr/>
          <p:nvPr/>
        </p:nvSpPr>
        <p:spPr>
          <a:xfrm>
            <a:off x="8065008" y="2377440"/>
            <a:ext cx="3456432" cy="2468880"/>
          </a:xfrm>
          <a:prstGeom prst="roundRect">
            <a:avLst>
              <a:gd name="adj" fmla="val 2963"/>
            </a:avLst>
          </a:prstGeom>
          <a:solidFill>
            <a:srgbClr val="17423F"/>
          </a:solidFill>
          <a:ln w="12700">
            <a:solidFill>
              <a:srgbClr val="2C5A56"/>
            </a:solidFill>
            <a:prstDash val="solid"/>
          </a:ln>
        </p:spPr>
      </p:sp>
      <p:sp>
        <p:nvSpPr>
          <p:cNvPr id="15" name="Shape 13"/>
          <p:cNvSpPr/>
          <p:nvPr/>
        </p:nvSpPr>
        <p:spPr>
          <a:xfrm>
            <a:off x="8284464" y="2596896"/>
            <a:ext cx="384048" cy="384048"/>
          </a:xfrm>
          <a:prstGeom prst="ellipse">
            <a:avLst/>
          </a:prstGeom>
          <a:solidFill>
            <a:srgbClr val="3F7D74"/>
          </a:solidFill>
          <a:ln w="12700">
            <a:solidFill>
              <a:srgbClr val="3F7D74"/>
            </a:solidFill>
            <a:prstDash val="solid"/>
          </a:ln>
        </p:spPr>
      </p:sp>
      <p:sp>
        <p:nvSpPr>
          <p:cNvPr id="16" name="Text 14"/>
          <p:cNvSpPr/>
          <p:nvPr/>
        </p:nvSpPr>
        <p:spPr>
          <a:xfrm>
            <a:off x="8284464"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5"/>
          <p:cNvSpPr/>
          <p:nvPr/>
        </p:nvSpPr>
        <p:spPr>
          <a:xfrm>
            <a:off x="8284464" y="3090672"/>
            <a:ext cx="3017520" cy="384048"/>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Datalek</a:t>
            </a:r>
            <a:endParaRPr lang="en-US" sz="1900" dirty="0"/>
          </a:p>
        </p:txBody>
      </p:sp>
      <p:sp>
        <p:nvSpPr>
          <p:cNvPr id="18" name="Text 16"/>
          <p:cNvSpPr/>
          <p:nvPr/>
        </p:nvSpPr>
        <p:spPr>
          <a:xfrm>
            <a:off x="8284464" y="3511296"/>
            <a:ext cx="3017520" cy="1152144"/>
          </a:xfrm>
          <a:prstGeom prst="rect">
            <a:avLst/>
          </a:prstGeom>
          <a:noFill/>
          <a:ln/>
        </p:spPr>
        <p:txBody>
          <a:bodyPr wrap="square" lIns="0" tIns="0" rIns="0" bIns="0" rtlCol="0" anchor="t"/>
          <a:lstStyle/>
          <a:p>
            <a:pPr indent="0" marL="0">
              <a:lnSpc>
                <a:spcPts val="1700"/>
              </a:lnSpc>
              <a:buNone/>
            </a:pPr>
            <a:r>
              <a:rPr lang="en-US" sz="1300" dirty="0">
                <a:solidFill>
                  <a:srgbClr val="7FA893"/>
                </a:solidFill>
                <a:latin typeface="Calibri" pitchFamily="34" charset="0"/>
                <a:ea typeface="Calibri" pitchFamily="34" charset="-122"/>
                <a:cs typeface="Calibri" pitchFamily="34" charset="-120"/>
              </a:rPr>
              <a:t>Drie ronden onder tijdsdruk. Wat doe je, en wat vooral niet?</a:t>
            </a:r>
            <a:endParaRPr lang="en-US" sz="1300" dirty="0"/>
          </a:p>
          <a:p>
            <a:pPr indent="0" marL="0">
              <a:lnSpc>
                <a:spcPts val="1700"/>
              </a:lnSpc>
              <a:buNone/>
            </a:pPr>
            <a:r>
              <a:rPr lang="en-US" sz="1300" dirty="0">
                <a:solidFill>
                  <a:srgbClr val="7FA893"/>
                </a:solidFill>
                <a:latin typeface="Calibri" pitchFamily="34" charset="0"/>
                <a:ea typeface="Calibri" pitchFamily="34" charset="-122"/>
                <a:cs typeface="Calibri" pitchFamily="34" charset="-120"/>
              </a:rPr>
              <a:t>30 minuten.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Governance, privacy en security</dc:title>
  <dc:subject>PptxGenJS Presentation</dc:subject>
  <dc:creator>Ductus B.V.</dc:creator>
  <cp:lastModifiedBy>Ductus B.V.</cp:lastModifiedBy>
  <cp:revision>1</cp:revision>
  <dcterms:created xsi:type="dcterms:W3CDTF">2026-08-05T10:35:01Z</dcterms:created>
  <dcterms:modified xsi:type="dcterms:W3CDTF">2026-08-05T10:35:01Z</dcterms:modified>
</cp:coreProperties>
</file>