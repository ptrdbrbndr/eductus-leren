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met de vier definities van "actieve deelnemer" uit deel 1. Waar hadden die vastgelegd moeten worden? Dat is het onderwerp van vandaag.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haalt de spanning weg bij deelnemers zonder technische achtergrond. Ze hoeven vandaag niets te kunnen wat ze nog nooit gedaan hebben.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waar in de eigen organisatie documenten liggen zonder bewaartermijn. Iedereen kent zo'n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"partner" uitvechten. Als attribuut werkt het tot de scheiding, en dan is de ex-partner onvindbaar.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buitenlandscenario is de kern van opdracht 3: geen BSN betekent geen sleutel, tenzij je hem niet als sleutel gebruikt.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het inzicht dat opdracht 4 moet opleveren. Loop rond en stel die vraag bij elk tweetal.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regel reciteren is minder waard dan het probleem herkennen. Vraag bij elke vorm: welke fout kan er nu niet meer ontstaan?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CDM is het enige artefact waarin een bestuurder en een ontwikkelaar dezelfde taal spreken. Daarom hoort er geen techniek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Koppel dit expliciet aan deel 16, waar het besluitrecht over definities wordt belegd. Model en governance grijpen hier in elkaar.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versus reference is een klassiek verwarpaar op het examen. Laat het onderscheid hardop formuleren.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het blijvende gereedschap uit dit deel. Laat deelnemers de acht vragen overschrijven op een losse kaart.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Deel 12 verdiept dit richting het specialistexamen, met Data Vault, dimensioneel modelleren en historisatie.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7, de modelreview met zes fouten, plus de zelftoets van twaalf 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1 · FUNDAMENT · DEEL 2</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Databasics en</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modelleren</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Een datamodel is geen technisch document. Het is de vastlegging van wat een organisatie bedoelt.</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3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HET UITGANGSPUNT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Vandaag leer je modellen lezen.</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Niet bouwen.</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In je werk kom je vaker een bestaand model tegen dan een leeg vel. De juiste acht vragen stellen bij het model van iemand anders is waardevoller dan zelf een middelmatig model tekenen. Bouwen komt in deel 12.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STRUCTUUR</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Drie soorten data</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De indeling lijkt academisch en bepaalt in de praktijk wie er iets mee kan.</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194560"/>
                <a:gridCol w="2834640"/>
                <a:gridCol w="2926080"/>
                <a:gridCol w="292608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Soort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Kenmerk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Meridiaan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Gevolg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4864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Gestructureerd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Vaste velden, vooraf gedefinieerd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Polisadministratie, premiebetalingen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Goed te valideren; structuurwijziging is duur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Semi-gestructureerd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Wel structuur, niet vooraf vastgelegd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JSON van het portaal, logbestanden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Flexibel; betekenis moet elders vastliggen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4864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Ongestructureerd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Geen veldstructuur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Correspondentie, gescande stukken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Slecht doorzoekbaar; valt buiten governance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scheidingsstukken van een deelnemer liggen als PDF in een gedeelde map. Daar loopt de eerste AVG-vraag op stuk.</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HET BOUWMATERIAAL</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Vier begrippen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Ze klinken eenvoudig en worden in gesprekken voortdurend door elkaar gebruikt.</a:t>
            </a:r>
            <a:endParaRPr lang="en-US" sz="1600" dirty="0"/>
          </a:p>
        </p:txBody>
      </p:sp>
      <p:sp>
        <p:nvSpPr>
          <p:cNvPr id="5" name="Shape 3"/>
          <p:cNvSpPr/>
          <p:nvPr/>
        </p:nvSpPr>
        <p:spPr>
          <a:xfrm>
            <a:off x="640080" y="2286000"/>
            <a:ext cx="2528316" cy="2651760"/>
          </a:xfrm>
          <a:prstGeom prst="roundRect">
            <a:avLst>
              <a:gd name="adj" fmla="val 2893"/>
            </a:avLst>
          </a:prstGeom>
          <a:solidFill>
            <a:srgbClr val="F1F4F2"/>
          </a:solidFill>
          <a:ln w="12700">
            <a:solidFill>
              <a:srgbClr val="D5DED8"/>
            </a:solidFill>
            <a:prstDash val="solid"/>
          </a:ln>
        </p:spPr>
      </p:sp>
      <p:sp>
        <p:nvSpPr>
          <p:cNvPr id="6" name="Shape 4"/>
          <p:cNvSpPr/>
          <p:nvPr/>
        </p:nvSpPr>
        <p:spPr>
          <a:xfrm>
            <a:off x="859536" y="2505456"/>
            <a:ext cx="384048" cy="384048"/>
          </a:xfrm>
          <a:prstGeom prst="ellipse">
            <a:avLst/>
          </a:prstGeom>
          <a:solidFill>
            <a:srgbClr val="3F7D74"/>
          </a:solidFill>
          <a:ln w="12700">
            <a:solidFill>
              <a:srgbClr val="3F7D74"/>
            </a:solidFill>
            <a:prstDash val="solid"/>
          </a:ln>
        </p:spPr>
      </p:sp>
      <p:sp>
        <p:nvSpPr>
          <p:cNvPr id="7" name="Text 5"/>
          <p:cNvSpPr/>
          <p:nvPr/>
        </p:nvSpPr>
        <p:spPr>
          <a:xfrm>
            <a:off x="859536"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59536" y="2999232"/>
            <a:ext cx="2089404"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Entiteit</a:t>
            </a:r>
            <a:endParaRPr lang="en-US" sz="1700" dirty="0"/>
          </a:p>
        </p:txBody>
      </p:sp>
      <p:sp>
        <p:nvSpPr>
          <p:cNvPr id="9" name="Text 7"/>
          <p:cNvSpPr/>
          <p:nvPr/>
        </p:nvSpPr>
        <p:spPr>
          <a:xfrm>
            <a:off x="859536"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Een soort ding waarover we gegevens vastleggen.</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Deelnemer, Werkgever, Polis</a:t>
            </a:r>
            <a:endParaRPr lang="en-US" sz="1200" dirty="0"/>
          </a:p>
        </p:txBody>
      </p:sp>
      <p:sp>
        <p:nvSpPr>
          <p:cNvPr id="10" name="Shape 8"/>
          <p:cNvSpPr/>
          <p:nvPr/>
        </p:nvSpPr>
        <p:spPr>
          <a:xfrm>
            <a:off x="3424428" y="2286000"/>
            <a:ext cx="2528316" cy="2651760"/>
          </a:xfrm>
          <a:prstGeom prst="roundRect">
            <a:avLst>
              <a:gd name="adj" fmla="val 2893"/>
            </a:avLst>
          </a:prstGeom>
          <a:solidFill>
            <a:srgbClr val="F1F4F2"/>
          </a:solidFill>
          <a:ln w="12700">
            <a:solidFill>
              <a:srgbClr val="D5DED8"/>
            </a:solidFill>
            <a:prstDash val="solid"/>
          </a:ln>
        </p:spPr>
      </p:sp>
      <p:sp>
        <p:nvSpPr>
          <p:cNvPr id="11" name="Shape 9"/>
          <p:cNvSpPr/>
          <p:nvPr/>
        </p:nvSpPr>
        <p:spPr>
          <a:xfrm>
            <a:off x="3643884" y="2505456"/>
            <a:ext cx="384048" cy="384048"/>
          </a:xfrm>
          <a:prstGeom prst="ellipse">
            <a:avLst/>
          </a:prstGeom>
          <a:solidFill>
            <a:srgbClr val="3F7D74"/>
          </a:solidFill>
          <a:ln w="12700">
            <a:solidFill>
              <a:srgbClr val="3F7D74"/>
            </a:solidFill>
            <a:prstDash val="solid"/>
          </a:ln>
        </p:spPr>
      </p:sp>
      <p:sp>
        <p:nvSpPr>
          <p:cNvPr id="12" name="Text 10"/>
          <p:cNvSpPr/>
          <p:nvPr/>
        </p:nvSpPr>
        <p:spPr>
          <a:xfrm>
            <a:off x="3643884"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643884" y="2999232"/>
            <a:ext cx="2089404"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Attribuut</a:t>
            </a:r>
            <a:endParaRPr lang="en-US" sz="1700" dirty="0"/>
          </a:p>
        </p:txBody>
      </p:sp>
      <p:sp>
        <p:nvSpPr>
          <p:cNvPr id="14" name="Text 12"/>
          <p:cNvSpPr/>
          <p:nvPr/>
        </p:nvSpPr>
        <p:spPr>
          <a:xfrm>
            <a:off x="3643884"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Een eigenschap van die entiteit.</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Geboortedatum, ingangsdatum</a:t>
            </a:r>
            <a:endParaRPr lang="en-US" sz="1200" dirty="0"/>
          </a:p>
        </p:txBody>
      </p:sp>
      <p:sp>
        <p:nvSpPr>
          <p:cNvPr id="15" name="Shape 13"/>
          <p:cNvSpPr/>
          <p:nvPr/>
        </p:nvSpPr>
        <p:spPr>
          <a:xfrm>
            <a:off x="6208776" y="2286000"/>
            <a:ext cx="2528316" cy="2651760"/>
          </a:xfrm>
          <a:prstGeom prst="roundRect">
            <a:avLst>
              <a:gd name="adj" fmla="val 2893"/>
            </a:avLst>
          </a:prstGeom>
          <a:solidFill>
            <a:srgbClr val="F1F4F2"/>
          </a:solidFill>
          <a:ln w="12700">
            <a:solidFill>
              <a:srgbClr val="D5DED8"/>
            </a:solidFill>
            <a:prstDash val="solid"/>
          </a:ln>
        </p:spPr>
      </p:sp>
      <p:sp>
        <p:nvSpPr>
          <p:cNvPr id="16" name="Shape 14"/>
          <p:cNvSpPr/>
          <p:nvPr/>
        </p:nvSpPr>
        <p:spPr>
          <a:xfrm>
            <a:off x="6428232" y="2505456"/>
            <a:ext cx="384048" cy="384048"/>
          </a:xfrm>
          <a:prstGeom prst="ellipse">
            <a:avLst/>
          </a:prstGeom>
          <a:solidFill>
            <a:srgbClr val="3F7D74"/>
          </a:solidFill>
          <a:ln w="12700">
            <a:solidFill>
              <a:srgbClr val="3F7D74"/>
            </a:solidFill>
            <a:prstDash val="solid"/>
          </a:ln>
        </p:spPr>
      </p:sp>
      <p:sp>
        <p:nvSpPr>
          <p:cNvPr id="17" name="Text 15"/>
          <p:cNvSpPr/>
          <p:nvPr/>
        </p:nvSpPr>
        <p:spPr>
          <a:xfrm>
            <a:off x="6428232"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428232" y="2999232"/>
            <a:ext cx="2089404"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Instantie</a:t>
            </a:r>
            <a:endParaRPr lang="en-US" sz="1700" dirty="0"/>
          </a:p>
        </p:txBody>
      </p:sp>
      <p:sp>
        <p:nvSpPr>
          <p:cNvPr id="19" name="Text 17"/>
          <p:cNvSpPr/>
          <p:nvPr/>
        </p:nvSpPr>
        <p:spPr>
          <a:xfrm>
            <a:off x="6428232"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Eén concreet exemplaar.</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Deelnemer 4472913</a:t>
            </a:r>
            <a:endParaRPr lang="en-US" sz="1200" dirty="0"/>
          </a:p>
        </p:txBody>
      </p:sp>
      <p:sp>
        <p:nvSpPr>
          <p:cNvPr id="20" name="Shape 18"/>
          <p:cNvSpPr/>
          <p:nvPr/>
        </p:nvSpPr>
        <p:spPr>
          <a:xfrm>
            <a:off x="8993124" y="2286000"/>
            <a:ext cx="2528316" cy="2651760"/>
          </a:xfrm>
          <a:prstGeom prst="roundRect">
            <a:avLst>
              <a:gd name="adj" fmla="val 2893"/>
            </a:avLst>
          </a:prstGeom>
          <a:solidFill>
            <a:srgbClr val="F1F4F2"/>
          </a:solidFill>
          <a:ln w="12700">
            <a:solidFill>
              <a:srgbClr val="D5DED8"/>
            </a:solidFill>
            <a:prstDash val="solid"/>
          </a:ln>
        </p:spPr>
      </p:sp>
      <p:sp>
        <p:nvSpPr>
          <p:cNvPr id="21" name="Shape 19"/>
          <p:cNvSpPr/>
          <p:nvPr/>
        </p:nvSpPr>
        <p:spPr>
          <a:xfrm>
            <a:off x="9212580" y="2505456"/>
            <a:ext cx="384048" cy="384048"/>
          </a:xfrm>
          <a:prstGeom prst="ellipse">
            <a:avLst/>
          </a:prstGeom>
          <a:solidFill>
            <a:srgbClr val="3F7D74"/>
          </a:solidFill>
          <a:ln w="12700">
            <a:solidFill>
              <a:srgbClr val="3F7D74"/>
            </a:solidFill>
            <a:prstDash val="solid"/>
          </a:ln>
        </p:spPr>
      </p:sp>
      <p:sp>
        <p:nvSpPr>
          <p:cNvPr id="22" name="Text 20"/>
          <p:cNvSpPr/>
          <p:nvPr/>
        </p:nvSpPr>
        <p:spPr>
          <a:xfrm>
            <a:off x="9212580"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9212580" y="2999232"/>
            <a:ext cx="2089404"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Relatie</a:t>
            </a:r>
            <a:endParaRPr lang="en-US" sz="1700" dirty="0"/>
          </a:p>
        </p:txBody>
      </p:sp>
      <p:sp>
        <p:nvSpPr>
          <p:cNvPr id="24" name="Text 22"/>
          <p:cNvSpPr/>
          <p:nvPr/>
        </p:nvSpPr>
        <p:spPr>
          <a:xfrm>
            <a:off x="9212580"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Een betekenisvol verband.</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Een Deelnemer werkt bij een Werkgever</a:t>
            </a:r>
            <a:endParaRPr lang="en-US" sz="1200" dirty="0"/>
          </a:p>
        </p:txBody>
      </p:sp>
      <p:sp>
        <p:nvSpPr>
          <p:cNvPr id="25" name="Text 2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Vuistregel: meer dan één eigenschap én meer dan één exemplaar, dan is het een entiteit. Anders waarschijnlijk een attribuut.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SLEUTELS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Vier soorten, één afweging</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Zonder sleutel weet je niet of twee regels over dezelfde deelnemer gaan.</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1828800"/>
                <a:gridCol w="3108960"/>
                <a:gridCol w="2743200"/>
                <a:gridCol w="320040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het 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Voorbeeld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Let op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Natuurlijk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Bestaand gegeven dat uniek 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Burgerservicenummer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Verandert soms; vaak een persoonsgegeven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Surrogaat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Betekenisloos nummer van het systeem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DeelnemerID 4472913</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Stabiel, maar zonder betekenis daarbuiten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Samengesteld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Meerdere attributen samen uniek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Polisnummer + regelnummer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Wordt onhandig zodra het complexer wordt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Vreemd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Verwijzing naar een andere entiteit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WerkgeverID in Polis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Verwijzing moet altijd geldig blijven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Praktijkregel: surrogaat als identificatie in het systeem, natuurlijke sleutel als attribuut met een eigen uniciteitsregel.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ONTDEKKING VAN VANDAAG</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Een koppelentiteit is geen technisch trucje.</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Het is meestal een vergeten begrip.</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Tussen Deelnemer en Regeling zit Deelname — met een ingangsdatum, een einddatum en een opbouwpercentage. Stel bij elke koppelentiteit de vraag: welke eigenschappen horen bij de relatie zelf, en niet bij een van de twee kanten?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NORMALISEREN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Elk feit precies één keer</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Het doel is niet netheid maar het voorkomen van tegenstrijdigheid.</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1280160"/>
                <a:gridCol w="4754880"/>
                <a:gridCol w="4846320"/>
              </a:tblGrid>
              <a:tr h="6858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Vorm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Regel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Meridiaan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6858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1NF</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Elk veld bevat één waarde, geen herhalende groepen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 regelingen uit één komma-veld halen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6858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2NF</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Elk niet-sleutelattribuut hangt van de héle sleutel af</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Deelnemernaam hangt van de deelnemer af, niet van deelnemer-én-regeling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6858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3NF</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Geen niet-sleutelattribuut hangt van een ander niet-sleutelattribuut af</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Werkgeveradres verhuist naar een eigen entiteit Werkgever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Zonder 3NF krijgt dezelfde werkgever bij elke deelnemer een eigen adres — en dus drie verschillende na een verhuizing.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ABSTRACTIE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Drie niveaus, drie publieken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Wie de niveaus door elkaar haalt, praat over kolomtypes met iemand die wil weten wat een deelnemer is.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011680"/>
                <a:gridCol w="2926080"/>
                <a:gridCol w="3566160"/>
                <a:gridCol w="237744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Niveau</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Publiek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Bevat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Bevat níét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4864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Conceptueel</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Business, bestuur, toezichthouder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Entiteiten, relaties, definities in bedrijfstaal</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Attributen, sleutels, techniek</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Logisch</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Analisten, architecten, stewards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Alle attributen, sleutels, kardinaliteit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Platformkeuzes, indexen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4864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Fysiek</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Ontwikkelaars en beheerders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Tabellen, kolomtypes, indexen, partities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Betekenis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VERBINDING MET DEEL 1</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Zonder conceptueel model bestaat er geen plek</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waar de definitie gezaghebbend staat.</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Vier concurrerende definities van "actieve deelnemer" is dan geen ongeluk maar het te verwachten resultaat. Dat is geen modelleringsprobleem — het is het ontbreken van de plek waar het besluit landt.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FUNCTIE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Vier soorten data naar gebruik</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103120"/>
                <a:gridCol w="3017520"/>
                <a:gridCol w="2743200"/>
                <a:gridCol w="301752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Soort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het 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Voorbeeld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Kenmerk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Masterdata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kernobjecten van de organisatie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Deelnemer, Werkgever, Product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Weinig wijzigingen, veel gebruikers, hoge impact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Referentiedata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Toegestane waarden en classificaties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Landcodes, soort dienstverband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Vaak extern bepaald; beheer wordt vergeten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Transactiedata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Vastlegging van gebeurtenissen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Premiebetaling, mutatie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Groot volume, verwijst naar masterdata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Metadata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 over data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Definitie, herkomst, eigenaar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Onzichtbaar tot je hem nodig hebt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GEREEDSCHAP</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Acht vragen bij elk model</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Stel ze en je vindt in vrijwel elk model iets wat niemand had opgemerkt.</a:t>
            </a:r>
            <a:endParaRPr lang="en-US" sz="1600" dirty="0"/>
          </a:p>
        </p:txBody>
      </p:sp>
      <p:sp>
        <p:nvSpPr>
          <p:cNvPr id="5" name="Text 3"/>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Over opzet</a:t>
            </a:r>
            <a:endParaRPr lang="en-US" sz="2000" dirty="0"/>
          </a:p>
        </p:txBody>
      </p:sp>
      <p:sp>
        <p:nvSpPr>
          <p:cNvPr id="6" name="Text 4"/>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Op welk niveau is dit model — en weet de maker dat?</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Staat er bij elke entiteit een definitie in bedrijfstaal?</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Welke entiteit heeft geen sleutel, of een sleutel die kan wijzigen?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Welke relatie is verplicht terwijl de praktijk uitzonderingen kent?</a:t>
            </a:r>
            <a:endParaRPr lang="en-US" sz="1400" dirty="0"/>
          </a:p>
        </p:txBody>
      </p:sp>
      <p:sp>
        <p:nvSpPr>
          <p:cNvPr id="7" name="Text 5"/>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Over inhoud</a:t>
            </a:r>
            <a:endParaRPr lang="en-US" sz="2000" dirty="0"/>
          </a:p>
        </p:txBody>
      </p:sp>
      <p:sp>
        <p:nvSpPr>
          <p:cNvPr id="8" name="Text 6"/>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Waar zit een veel-op-veel, en wat is de vergeten betekenis?</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Welk attribuut staat bij de verkeerde entiteit?</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Welke van de vier functiesoorten mis ik?</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Kan ik zien hoe het vorig jaar was?</a:t>
            </a:r>
            <a:endParaRPr lang="en-US" sz="1400" dirty="0"/>
          </a:p>
        </p:txBody>
      </p:sp>
      <p:sp>
        <p:nvSpPr>
          <p:cNvPr id="9" name="Text 7"/>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De laatste is de meest onderschatte: modellen leggen het heden vast, terwijl een pensioenuitvoerder het verleden moet kunnen reconstrueren.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CDMP · Data Modeling &amp; Design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Een van de zwaarst wegende kennisgebieden op het Fundamentals-examen.</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drie abstractieniveaus en per niveau het publiek</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Normaalvormen tot 3NF — de regel én het opgeloste probleem</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Kardinaliteit en optionaliteit los van elkaar lezen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Master, reference, transaction en metadata onderscheiden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entity, cardinality, surrogate key, normalization</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2528316"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Sleutels</a:t>
            </a:r>
            <a:endParaRPr lang="en-US" sz="1800" dirty="0"/>
          </a:p>
        </p:txBody>
      </p:sp>
      <p:sp>
        <p:nvSpPr>
          <p:cNvPr id="8" name="Text 6"/>
          <p:cNvSpPr/>
          <p:nvPr/>
        </p:nvSpPr>
        <p:spPr>
          <a:xfrm>
            <a:off x="859536"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Natuurlijk of surrogaat — en wat er breekt bij buitenlandse deelnemers.</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30 minuten.</a:t>
            </a:r>
            <a:endParaRPr lang="en-US" sz="1200" dirty="0"/>
          </a:p>
        </p:txBody>
      </p:sp>
      <p:sp>
        <p:nvSpPr>
          <p:cNvPr id="9" name="Shape 7"/>
          <p:cNvSpPr/>
          <p:nvPr/>
        </p:nvSpPr>
        <p:spPr>
          <a:xfrm>
            <a:off x="3424428" y="2377440"/>
            <a:ext cx="2528316"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3643884"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3643884"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Relaties</a:t>
            </a:r>
            <a:endParaRPr lang="en-US" sz="1800" dirty="0"/>
          </a:p>
        </p:txBody>
      </p:sp>
      <p:sp>
        <p:nvSpPr>
          <p:cNvPr id="13" name="Text 11"/>
          <p:cNvSpPr/>
          <p:nvPr/>
        </p:nvSpPr>
        <p:spPr>
          <a:xfrm>
            <a:off x="3643884"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Kardinaliteit, optionaliteit en de vergeten koppelentiteit.</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35 minuten.</a:t>
            </a:r>
            <a:endParaRPr lang="en-US" sz="1200" dirty="0"/>
          </a:p>
        </p:txBody>
      </p:sp>
      <p:sp>
        <p:nvSpPr>
          <p:cNvPr id="14" name="Shape 12"/>
          <p:cNvSpPr/>
          <p:nvPr/>
        </p:nvSpPr>
        <p:spPr>
          <a:xfrm>
            <a:off x="6208776" y="2377440"/>
            <a:ext cx="2528316"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6428232"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6428232"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Normaliseren</a:t>
            </a:r>
            <a:endParaRPr lang="en-US" sz="1800" dirty="0"/>
          </a:p>
        </p:txBody>
      </p:sp>
      <p:sp>
        <p:nvSpPr>
          <p:cNvPr id="18" name="Text 16"/>
          <p:cNvSpPr/>
          <p:nvPr/>
        </p:nvSpPr>
        <p:spPr>
          <a:xfrm>
            <a:off x="6428232"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Van platte tabel naar 3NF, met het probleem per stap.</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45 minuten.</a:t>
            </a:r>
            <a:endParaRPr lang="en-US" sz="1200" dirty="0"/>
          </a:p>
        </p:txBody>
      </p:sp>
      <p:sp>
        <p:nvSpPr>
          <p:cNvPr id="19" name="Shape 17"/>
          <p:cNvSpPr/>
          <p:nvPr/>
        </p:nvSpPr>
        <p:spPr>
          <a:xfrm>
            <a:off x="8993124" y="2377440"/>
            <a:ext cx="2528316" cy="2468880"/>
          </a:xfrm>
          <a:prstGeom prst="roundRect">
            <a:avLst>
              <a:gd name="adj" fmla="val 2963"/>
            </a:avLst>
          </a:prstGeom>
          <a:solidFill>
            <a:srgbClr val="17423F"/>
          </a:solidFill>
          <a:ln w="12700">
            <a:solidFill>
              <a:srgbClr val="2C5A56"/>
            </a:solidFill>
            <a:prstDash val="solid"/>
          </a:ln>
        </p:spPr>
      </p:sp>
      <p:sp>
        <p:nvSpPr>
          <p:cNvPr id="20" name="Shape 18"/>
          <p:cNvSpPr/>
          <p:nvPr/>
        </p:nvSpPr>
        <p:spPr>
          <a:xfrm>
            <a:off x="9212580" y="259689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9212580"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CDM tekenen</a:t>
            </a:r>
            <a:endParaRPr lang="en-US" sz="1800" dirty="0"/>
          </a:p>
        </p:txBody>
      </p:sp>
      <p:sp>
        <p:nvSpPr>
          <p:cNvPr id="23" name="Text 21"/>
          <p:cNvSpPr/>
          <p:nvPr/>
        </p:nvSpPr>
        <p:spPr>
          <a:xfrm>
            <a:off x="9212580"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Acht entiteiten, definities, geen techniek.</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40 minuten.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Databasics en modelleren</dc:title>
  <dc:subject>PptxGenJS Presentation</dc:subject>
  <dc:creator>Ductus B.V.</dc:creator>
  <cp:lastModifiedBy>Ductus B.V.</cp:lastModifiedBy>
  <cp:revision>1</cp:revision>
  <dcterms:created xsi:type="dcterms:W3CDTF">2026-08-05T10:35:00Z</dcterms:created>
  <dcterms:modified xsi:type="dcterms:W3CDTF">2026-08-05T10:35:00Z</dcterms:modified>
</cp:coreProperties>
</file>