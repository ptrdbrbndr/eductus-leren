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met de drie deelnemersaantallen uit de casus. Niemand kan slecht tellen; toch verschillen ze. Waar zit dat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Gebruik vraag (f) uit opdracht 1. "Hoeveel deelnemers hadden we vorig jaar op 1 januari" is in het bronsysteem principieel onbeantwoordbaar.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Graaf is de minst bekende vorm en bij een pensioenuitvoerder juist relevant: scheidingen, nabestaanden, ex-partners.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drie afwijkende aantallen zijn in laag vier ontstaan met een oorzaak in laag twee. Dat werkt opdracht 7 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de brug tussen deel 1, deel 2 en dit deel. De definitie hoort in het CDM, het besluitrecht erover in deel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Platformkeuzes zijn zelden de oorzaak van datachaos. Dat is een nuttige boodschap voor deelnemers die in een migratie zitten.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Dwing bij opdracht 5 af dat herkomst in de argumentatie zit. Dat is het argument dat bij een toezichthouder telt.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Vraag wie er weleens een realtime dashboard heeft gebouwd voor een maandelijks overleg. Er gaan handen omhoog.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 onderscheid is een klassieke examenvraag. Twee systemen kunnen perfect gekoppeld zijn en toch langs elkaar heen praten.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Een analist die deze drie vragen stelt vóór de storing, levert meer waarde dan tien dashboards.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deelnemers deze acht vragen op een losse kaart overschrijven, net als de acht modelvragen uit deel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Samen wegen deze drie gebieden substantieel mee. Deel 12 en 13 verdiepen het dimensionele modelleren en de lineage.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Huiswerk: opdracht 7 — waar ontstaat het verschil tussen de drie deelnemersaantallen — plus de zelftoets van twaalf vragen.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828800"/>
            <a:ext cx="9144000" cy="365760"/>
          </a:xfrm>
          <a:prstGeom prst="rect">
            <a:avLst/>
          </a:prstGeom>
          <a:noFill/>
          <a:ln/>
        </p:spPr>
        <p:txBody>
          <a:bodyPr wrap="square" lIns="0" tIns="0" rIns="0" bIns="0" rtlCol="0" anchor="ctr"/>
          <a:lstStyle/>
          <a:p>
            <a:pPr indent="0" marL="0">
              <a:buNone/>
            </a:pPr>
            <a:r>
              <a:rPr lang="en-US" sz="1300" b="1" spc="400" kern="0" dirty="0">
                <a:solidFill>
                  <a:srgbClr val="7FA893"/>
                </a:solidFill>
                <a:latin typeface="Calibri" pitchFamily="34" charset="0"/>
                <a:ea typeface="Calibri" pitchFamily="34" charset="-122"/>
                <a:cs typeface="Calibri" pitchFamily="34" charset="-120"/>
              </a:rPr>
              <a:t>NIVEAU 1 · FUNDAMENT · DEEL 3</a:t>
            </a:r>
            <a:endParaRPr lang="en-US" sz="1300" dirty="0"/>
          </a:p>
        </p:txBody>
      </p:sp>
      <p:sp>
        <p:nvSpPr>
          <p:cNvPr id="3" name="Text 1"/>
          <p:cNvSpPr/>
          <p:nvPr/>
        </p:nvSpPr>
        <p:spPr>
          <a:xfrm>
            <a:off x="640080" y="2286000"/>
            <a:ext cx="10058400" cy="1828800"/>
          </a:xfrm>
          <a:prstGeom prst="rect">
            <a:avLst/>
          </a:prstGeom>
          <a:noFill/>
          <a:ln/>
        </p:spPr>
        <p:txBody>
          <a:bodyPr wrap="square" lIns="0" tIns="0" rIns="0" bIns="0" rtlCol="0" anchor="ctr"/>
          <a:lstStyle/>
          <a:p>
            <a:pPr indent="0" marL="0">
              <a:lnSpc>
                <a:spcPts val="5400"/>
              </a:lnSpc>
              <a:buNone/>
            </a:pPr>
            <a:r>
              <a:rPr lang="en-US" sz="4600" b="1" dirty="0">
                <a:solidFill>
                  <a:srgbClr val="FFFFFF"/>
                </a:solidFill>
                <a:latin typeface="Cambria" pitchFamily="34" charset="0"/>
                <a:ea typeface="Cambria" pitchFamily="34" charset="-122"/>
                <a:cs typeface="Cambria" pitchFamily="34" charset="-120"/>
              </a:rPr>
              <a:t>Opslag, operations</a:t>
            </a:r>
            <a:endParaRPr lang="en-US" sz="4600" dirty="0"/>
          </a:p>
          <a:p>
            <a:pPr indent="0" marL="0">
              <a:lnSpc>
                <a:spcPts val="5400"/>
              </a:lnSpc>
              <a:buNone/>
            </a:pPr>
            <a:r>
              <a:rPr lang="en-US" sz="4600" b="1" dirty="0">
                <a:solidFill>
                  <a:srgbClr val="FFFFFF"/>
                </a:solidFill>
                <a:latin typeface="Cambria" pitchFamily="34" charset="0"/>
                <a:ea typeface="Cambria" pitchFamily="34" charset="-122"/>
                <a:cs typeface="Cambria" pitchFamily="34" charset="-120"/>
              </a:rPr>
              <a:t>en datastromen</a:t>
            </a:r>
            <a:endParaRPr lang="en-US" sz="4600" dirty="0"/>
          </a:p>
        </p:txBody>
      </p:sp>
      <p:sp>
        <p:nvSpPr>
          <p:cNvPr id="4" name="Text 2"/>
          <p:cNvSpPr/>
          <p:nvPr/>
        </p:nvSpPr>
        <p:spPr>
          <a:xfrm>
            <a:off x="640080" y="4297680"/>
            <a:ext cx="8961120" cy="548640"/>
          </a:xfrm>
          <a:prstGeom prst="rect">
            <a:avLst/>
          </a:prstGeom>
          <a:noFill/>
          <a:ln/>
        </p:spPr>
        <p:txBody>
          <a:bodyPr wrap="square" lIns="0" tIns="0" rIns="0" bIns="0" rtlCol="0" anchor="ctr"/>
          <a:lstStyle/>
          <a:p>
            <a:pPr indent="0" marL="0">
              <a:buNone/>
            </a:pPr>
            <a:r>
              <a:rPr lang="en-US" sz="1700" dirty="0">
                <a:solidFill>
                  <a:srgbClr val="7FA893"/>
                </a:solidFill>
                <a:latin typeface="Calibri" pitchFamily="34" charset="0"/>
                <a:ea typeface="Calibri" pitchFamily="34" charset="-122"/>
                <a:cs typeface="Calibri" pitchFamily="34" charset="-120"/>
              </a:rPr>
              <a:t>In deel 2 stond data stil. Vandaag gaat hij bewegen — en onderweg ontstaat het verschil.</a:t>
            </a:r>
            <a:endParaRPr lang="en-US" sz="1700" dirty="0"/>
          </a:p>
        </p:txBody>
      </p:sp>
      <p:sp>
        <p:nvSpPr>
          <p:cNvPr id="5" name="Text 3"/>
          <p:cNvSpPr/>
          <p:nvPr/>
        </p:nvSpPr>
        <p:spPr>
          <a:xfrm>
            <a:off x="640080" y="6035040"/>
            <a:ext cx="10058400" cy="365760"/>
          </a:xfrm>
          <a:prstGeom prst="rect">
            <a:avLst/>
          </a:prstGeom>
          <a:noFill/>
          <a:ln/>
        </p:spPr>
        <p:txBody>
          <a:bodyPr wrap="square" lIns="0" tIns="0" rIns="0" bIns="0" rtlCol="0" anchor="ctr"/>
          <a:lstStyle/>
          <a:p>
            <a:pPr indent="0" marL="0">
              <a:buNone/>
            </a:pPr>
            <a:r>
              <a:rPr lang="en-US" sz="1200" dirty="0">
                <a:solidFill>
                  <a:srgbClr val="8FAFA5"/>
                </a:solidFill>
                <a:latin typeface="Calibri" pitchFamily="34" charset="0"/>
                <a:ea typeface="Calibri" pitchFamily="34" charset="-122"/>
                <a:cs typeface="Calibri" pitchFamily="34" charset="-120"/>
              </a:rPr>
              <a:t>Ductus B.V.  ·  3 uur klassikaal  ·  Casus Meridiaan Pensioen N.V.</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TWEE WERELDEN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Operationeel of analytisch</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Tegengestelde eisen. Wie het onderscheid niet maakt, stelt onbeantwoordbare vragen.</a:t>
            </a:r>
            <a:endParaRPr lang="en-US" sz="1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194560"/>
                <a:gridCol w="4389120"/>
                <a:gridCol w="4297680"/>
              </a:tblGrid>
              <a:tr h="457200">
                <a:tc>
                  <a:txBody>
                    <a:bodyPr/>
                    <a:lstStyle/>
                    <a:p>
                      <a:pPr indent="0" marL="0">
                        <a:buNone/>
                      </a:pP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Operationeel (OLTP)</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Analytisch (OLAP)</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57200">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Doel</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Het werk van vandaag ondersteunen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Sturen, verantwoorden, analyseren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Handeling</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Eén polis muteren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Alle polissen van drie jaar optellen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57200">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Optimalisatie</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Snel schrijven, consistentie bewaken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Snel lezen over grote volumes</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Historie</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Meestal alleen de huidige stand</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Juist het verloop over tijd</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57200">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Bij Meridiaan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De polisadministratie</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Het cloud-dataplatform</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Vraag bij elk rapportageverzoek: gaat dit over de stand van nu, of over de stand van toen?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OPSLAG</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Zes vormen, één afweging</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De keuze is geen mode maar een afweging tussen structuur en flexibiliteit.</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1737360"/>
                <a:gridCol w="3200400"/>
                <a:gridCol w="3017520"/>
                <a:gridCol w="292608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Vorm</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Sterk in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Bij Meridiaan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Zwak in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38404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Relationeel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Vaste structuur, consistentie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 polisadministratie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Snel wijzigende structuur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Document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Wisselende structuur per record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Berichten uit het portaal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Consistentie afdwingen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38404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Kolom</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Optellen over enorme volumes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Het analytische platform</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Losse records muteren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Key-value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Zeer snel opzoeken op één sleutel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Sessiegegevens portaal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Alles behalve opzoeken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38404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Graaf</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Verbanden en netwerken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Deelnemer, partner, werkgever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Grote aggregaties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Object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Grote bestanden goedkoop bewaren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Gescande formulieren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Bevragen op inhoud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
        <p:nvSpPr>
          <p:cNvPr id="6" name="Text 3"/>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Praktijkregel: begin relationeel tenzij er een aanwijsbare reden is. Die reden is volume, vorm van bevraging, of structuur die per record verschilt.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DE KETEN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Vier lagen</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De namen verschillen per organisatie. De functies niet.</a:t>
            </a:r>
            <a:endParaRPr lang="en-US" sz="1600" dirty="0"/>
          </a:p>
        </p:txBody>
      </p:sp>
      <p:sp>
        <p:nvSpPr>
          <p:cNvPr id="5" name="Shape 3"/>
          <p:cNvSpPr/>
          <p:nvPr/>
        </p:nvSpPr>
        <p:spPr>
          <a:xfrm>
            <a:off x="640080" y="2286000"/>
            <a:ext cx="2528316" cy="2651760"/>
          </a:xfrm>
          <a:prstGeom prst="roundRect">
            <a:avLst>
              <a:gd name="adj" fmla="val 2893"/>
            </a:avLst>
          </a:prstGeom>
          <a:solidFill>
            <a:srgbClr val="F1F4F2"/>
          </a:solidFill>
          <a:ln w="12700">
            <a:solidFill>
              <a:srgbClr val="D5DED8"/>
            </a:solidFill>
            <a:prstDash val="solid"/>
          </a:ln>
        </p:spPr>
      </p:sp>
      <p:sp>
        <p:nvSpPr>
          <p:cNvPr id="6" name="Shape 4"/>
          <p:cNvSpPr/>
          <p:nvPr/>
        </p:nvSpPr>
        <p:spPr>
          <a:xfrm>
            <a:off x="859536" y="2505456"/>
            <a:ext cx="384048" cy="384048"/>
          </a:xfrm>
          <a:prstGeom prst="ellipse">
            <a:avLst/>
          </a:prstGeom>
          <a:solidFill>
            <a:srgbClr val="3F7D74"/>
          </a:solidFill>
          <a:ln w="12700">
            <a:solidFill>
              <a:srgbClr val="3F7D74"/>
            </a:solidFill>
            <a:prstDash val="solid"/>
          </a:ln>
        </p:spPr>
      </p:sp>
      <p:sp>
        <p:nvSpPr>
          <p:cNvPr id="7" name="Text 5"/>
          <p:cNvSpPr/>
          <p:nvPr/>
        </p:nvSpPr>
        <p:spPr>
          <a:xfrm>
            <a:off x="859536" y="2505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859536" y="2999232"/>
            <a:ext cx="2089404"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Bronsystemen</a:t>
            </a:r>
            <a:endParaRPr lang="en-US" sz="1600" dirty="0"/>
          </a:p>
        </p:txBody>
      </p:sp>
      <p:sp>
        <p:nvSpPr>
          <p:cNvPr id="9" name="Text 7"/>
          <p:cNvSpPr/>
          <p:nvPr/>
        </p:nvSpPr>
        <p:spPr>
          <a:xfrm>
            <a:off x="859536" y="3419856"/>
            <a:ext cx="2089404" cy="1335024"/>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Data ontstaat en wordt operationeel beheerd.</a:t>
            </a:r>
            <a:endParaRPr lang="en-US" sz="1200" dirty="0"/>
          </a:p>
          <a:p>
            <a:pPr indent="0" marL="0">
              <a:lnSpc>
                <a:spcPts val="1700"/>
              </a:lnSpc>
              <a:buNone/>
            </a:pPr>
            <a:endParaRPr lang="en-US" sz="1200" dirty="0"/>
          </a:p>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Risico: invoerfouten en onbekende wijzigingen.</a:t>
            </a:r>
            <a:endParaRPr lang="en-US" sz="1200" dirty="0"/>
          </a:p>
        </p:txBody>
      </p:sp>
      <p:sp>
        <p:nvSpPr>
          <p:cNvPr id="10" name="Shape 8"/>
          <p:cNvSpPr/>
          <p:nvPr/>
        </p:nvSpPr>
        <p:spPr>
          <a:xfrm>
            <a:off x="3424428" y="2286000"/>
            <a:ext cx="2528316" cy="2651760"/>
          </a:xfrm>
          <a:prstGeom prst="roundRect">
            <a:avLst>
              <a:gd name="adj" fmla="val 2893"/>
            </a:avLst>
          </a:prstGeom>
          <a:solidFill>
            <a:srgbClr val="F1F4F2"/>
          </a:solidFill>
          <a:ln w="12700">
            <a:solidFill>
              <a:srgbClr val="D5DED8"/>
            </a:solidFill>
            <a:prstDash val="solid"/>
          </a:ln>
        </p:spPr>
      </p:sp>
      <p:sp>
        <p:nvSpPr>
          <p:cNvPr id="11" name="Shape 9"/>
          <p:cNvSpPr/>
          <p:nvPr/>
        </p:nvSpPr>
        <p:spPr>
          <a:xfrm>
            <a:off x="3643884" y="2505456"/>
            <a:ext cx="384048" cy="384048"/>
          </a:xfrm>
          <a:prstGeom prst="ellipse">
            <a:avLst/>
          </a:prstGeom>
          <a:solidFill>
            <a:srgbClr val="3F7D74"/>
          </a:solidFill>
          <a:ln w="12700">
            <a:solidFill>
              <a:srgbClr val="3F7D74"/>
            </a:solidFill>
            <a:prstDash val="solid"/>
          </a:ln>
        </p:spPr>
      </p:sp>
      <p:sp>
        <p:nvSpPr>
          <p:cNvPr id="12" name="Text 10"/>
          <p:cNvSpPr/>
          <p:nvPr/>
        </p:nvSpPr>
        <p:spPr>
          <a:xfrm>
            <a:off x="3643884" y="2505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3643884" y="2999232"/>
            <a:ext cx="2089404"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Integratie</a:t>
            </a:r>
            <a:endParaRPr lang="en-US" sz="1600" dirty="0"/>
          </a:p>
        </p:txBody>
      </p:sp>
      <p:sp>
        <p:nvSpPr>
          <p:cNvPr id="14" name="Text 12"/>
          <p:cNvSpPr/>
          <p:nvPr/>
        </p:nvSpPr>
        <p:spPr>
          <a:xfrm>
            <a:off x="3643884" y="3419856"/>
            <a:ext cx="2089404" cy="1335024"/>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Ophalen, combineren, omzetten.</a:t>
            </a:r>
            <a:endParaRPr lang="en-US" sz="1200" dirty="0"/>
          </a:p>
          <a:p>
            <a:pPr indent="0" marL="0">
              <a:lnSpc>
                <a:spcPts val="1700"/>
              </a:lnSpc>
              <a:buNone/>
            </a:pPr>
            <a:endParaRPr lang="en-US" sz="1200" dirty="0"/>
          </a:p>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Risico: transformaties die betekenis veranderen.</a:t>
            </a:r>
            <a:endParaRPr lang="en-US" sz="1200" dirty="0"/>
          </a:p>
        </p:txBody>
      </p:sp>
      <p:sp>
        <p:nvSpPr>
          <p:cNvPr id="15" name="Shape 13"/>
          <p:cNvSpPr/>
          <p:nvPr/>
        </p:nvSpPr>
        <p:spPr>
          <a:xfrm>
            <a:off x="6208776" y="2286000"/>
            <a:ext cx="2528316" cy="2651760"/>
          </a:xfrm>
          <a:prstGeom prst="roundRect">
            <a:avLst>
              <a:gd name="adj" fmla="val 2893"/>
            </a:avLst>
          </a:prstGeom>
          <a:solidFill>
            <a:srgbClr val="F1F4F2"/>
          </a:solidFill>
          <a:ln w="12700">
            <a:solidFill>
              <a:srgbClr val="D5DED8"/>
            </a:solidFill>
            <a:prstDash val="solid"/>
          </a:ln>
        </p:spPr>
      </p:sp>
      <p:sp>
        <p:nvSpPr>
          <p:cNvPr id="16" name="Shape 14"/>
          <p:cNvSpPr/>
          <p:nvPr/>
        </p:nvSpPr>
        <p:spPr>
          <a:xfrm>
            <a:off x="6428232" y="2505456"/>
            <a:ext cx="384048" cy="384048"/>
          </a:xfrm>
          <a:prstGeom prst="ellipse">
            <a:avLst/>
          </a:prstGeom>
          <a:solidFill>
            <a:srgbClr val="3F7D74"/>
          </a:solidFill>
          <a:ln w="12700">
            <a:solidFill>
              <a:srgbClr val="3F7D74"/>
            </a:solidFill>
            <a:prstDash val="solid"/>
          </a:ln>
        </p:spPr>
      </p:sp>
      <p:sp>
        <p:nvSpPr>
          <p:cNvPr id="17" name="Text 15"/>
          <p:cNvSpPr/>
          <p:nvPr/>
        </p:nvSpPr>
        <p:spPr>
          <a:xfrm>
            <a:off x="6428232" y="2505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6428232" y="2999232"/>
            <a:ext cx="2089404"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Analytische opslag</a:t>
            </a:r>
            <a:endParaRPr lang="en-US" sz="1600" dirty="0"/>
          </a:p>
        </p:txBody>
      </p:sp>
      <p:sp>
        <p:nvSpPr>
          <p:cNvPr id="19" name="Text 17"/>
          <p:cNvSpPr/>
          <p:nvPr/>
        </p:nvSpPr>
        <p:spPr>
          <a:xfrm>
            <a:off x="6428232" y="3419856"/>
            <a:ext cx="2089404" cy="1335024"/>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Bewaren in een bevraagbare vorm.</a:t>
            </a:r>
            <a:endParaRPr lang="en-US" sz="1200" dirty="0"/>
          </a:p>
          <a:p>
            <a:pPr indent="0" marL="0">
              <a:lnSpc>
                <a:spcPts val="1700"/>
              </a:lnSpc>
              <a:buNone/>
            </a:pPr>
            <a:endParaRPr lang="en-US" sz="1200" dirty="0"/>
          </a:p>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Risico: meerdere waarheden naast elkaar.</a:t>
            </a:r>
            <a:endParaRPr lang="en-US" sz="1200" dirty="0"/>
          </a:p>
        </p:txBody>
      </p:sp>
      <p:sp>
        <p:nvSpPr>
          <p:cNvPr id="20" name="Shape 18"/>
          <p:cNvSpPr/>
          <p:nvPr/>
        </p:nvSpPr>
        <p:spPr>
          <a:xfrm>
            <a:off x="8993124" y="2286000"/>
            <a:ext cx="2528316" cy="2651760"/>
          </a:xfrm>
          <a:prstGeom prst="roundRect">
            <a:avLst>
              <a:gd name="adj" fmla="val 2893"/>
            </a:avLst>
          </a:prstGeom>
          <a:solidFill>
            <a:srgbClr val="F1F4F2"/>
          </a:solidFill>
          <a:ln w="12700">
            <a:solidFill>
              <a:srgbClr val="D5DED8"/>
            </a:solidFill>
            <a:prstDash val="solid"/>
          </a:ln>
        </p:spPr>
      </p:sp>
      <p:sp>
        <p:nvSpPr>
          <p:cNvPr id="21" name="Shape 19"/>
          <p:cNvSpPr/>
          <p:nvPr/>
        </p:nvSpPr>
        <p:spPr>
          <a:xfrm>
            <a:off x="9212580" y="2505456"/>
            <a:ext cx="384048" cy="384048"/>
          </a:xfrm>
          <a:prstGeom prst="ellipse">
            <a:avLst/>
          </a:prstGeom>
          <a:solidFill>
            <a:srgbClr val="3F7D74"/>
          </a:solidFill>
          <a:ln w="12700">
            <a:solidFill>
              <a:srgbClr val="3F7D74"/>
            </a:solidFill>
            <a:prstDash val="solid"/>
          </a:ln>
        </p:spPr>
      </p:sp>
      <p:sp>
        <p:nvSpPr>
          <p:cNvPr id="22" name="Text 20"/>
          <p:cNvSpPr/>
          <p:nvPr/>
        </p:nvSpPr>
        <p:spPr>
          <a:xfrm>
            <a:off x="9212580" y="2505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9212580" y="2999232"/>
            <a:ext cx="2089404"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Consumptie</a:t>
            </a:r>
            <a:endParaRPr lang="en-US" sz="1600" dirty="0"/>
          </a:p>
        </p:txBody>
      </p:sp>
      <p:sp>
        <p:nvSpPr>
          <p:cNvPr id="24" name="Text 22"/>
          <p:cNvSpPr/>
          <p:nvPr/>
        </p:nvSpPr>
        <p:spPr>
          <a:xfrm>
            <a:off x="9212580" y="3419856"/>
            <a:ext cx="2089404" cy="1335024"/>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Rapportages, dashboards, uitlevering.</a:t>
            </a:r>
            <a:endParaRPr lang="en-US" sz="1200" dirty="0"/>
          </a:p>
          <a:p>
            <a:pPr indent="0" marL="0">
              <a:lnSpc>
                <a:spcPts val="1700"/>
              </a:lnSpc>
              <a:buNone/>
            </a:pPr>
            <a:endParaRPr lang="en-US" sz="1200" dirty="0"/>
          </a:p>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Risico: ieder zijn eigen berekening.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DE DIAGNOSE</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Drie afdelingen, drie aantallen.</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Niemand telt verkeerd.</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Elke rapportagebouwer past zijn eigen filter toe op wat "actief" betekent, op zijn eigen peildatum, met records die onderweg zijn weggevallen. Het is een keten- en definitieprobleem, geen rekenfout — en dus lost een nieuwe query het niet op.</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ANALYTISCHE OPSLAG</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Warehouse, lake, lakehouse</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194560"/>
                <a:gridCol w="3017520"/>
                <a:gridCol w="3017520"/>
                <a:gridCol w="2651760"/>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Vorm</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Kern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Sterkte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Valkuil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566928">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Datawarehouse</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Gestructureerde, gemodelleerde opslag</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Betrouwbaar en uitlegbaar</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Traag aan te passen; nieuwe bron kost weken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Data lake</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Ruwe data in oorspronkelijke vorm</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Alles is er, ook wat je nog niet nodig hebt</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Wordt een moeras zonder metadata en eigenaarschap</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566928">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Lakehouse</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Ruwe opslag met gestructureerde laag erop</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Flexibel én bevraagbaar</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Vereist discipline die veel organisaties missen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Het verschil tussen een lake en een moeras is niet de technologie maar het bestaan van metadata en eigenaarschap.</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HOE DATA ZICH VERPLAATST</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ETL of ELT</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De verschuiving komt doordat opslag goedkoop werd en rekenkracht schaalbaar.</a:t>
            </a:r>
            <a:endParaRPr lang="en-US" sz="1600" dirty="0"/>
          </a:p>
        </p:txBody>
      </p:sp>
      <p:sp>
        <p:nvSpPr>
          <p:cNvPr id="5" name="Text 3"/>
          <p:cNvSpPr/>
          <p:nvPr/>
        </p:nvSpPr>
        <p:spPr>
          <a:xfrm>
            <a:off x="640080" y="2148840"/>
            <a:ext cx="530352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ETL</a:t>
            </a:r>
            <a:endParaRPr lang="en-US" sz="2000" dirty="0"/>
          </a:p>
        </p:txBody>
      </p:sp>
      <p:sp>
        <p:nvSpPr>
          <p:cNvPr id="6" name="Text 4"/>
          <p:cNvSpPr/>
          <p:nvPr/>
        </p:nvSpPr>
        <p:spPr>
          <a:xfrm>
            <a:off x="640080" y="2606040"/>
            <a:ext cx="530352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Ophalen, omzetten, dan pas wegschrijven</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Alleen wat nodig is wordt bewaard</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Wat onderweg is weggegooid, is weg</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Transformatielogica zit in het integratieplatform</a:t>
            </a:r>
            <a:endParaRPr lang="en-US" sz="1400" dirty="0"/>
          </a:p>
        </p:txBody>
      </p:sp>
      <p:sp>
        <p:nvSpPr>
          <p:cNvPr id="7" name="Text 5"/>
          <p:cNvSpPr/>
          <p:nvPr/>
        </p:nvSpPr>
        <p:spPr>
          <a:xfrm>
            <a:off x="6309360" y="2148840"/>
            <a:ext cx="521208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ELT</a:t>
            </a:r>
            <a:endParaRPr lang="en-US" sz="2000" dirty="0"/>
          </a:p>
        </p:txBody>
      </p:sp>
      <p:sp>
        <p:nvSpPr>
          <p:cNvPr id="8" name="Text 6"/>
          <p:cNvSpPr/>
          <p:nvPr/>
        </p:nvSpPr>
        <p:spPr>
          <a:xfrm>
            <a:off x="6309360" y="2606040"/>
            <a:ext cx="521208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Ophalen, wegschrijven, dan pas omzetten</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De ruwe data blijft beschikbaar voor later</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Meer opslag en meer discipline nodig</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Herkomst is beter te volgen — relevant bij een DNB-bevinding</a:t>
            </a:r>
            <a:endParaRPr lang="en-US" sz="1400" dirty="0"/>
          </a:p>
        </p:txBody>
      </p:sp>
      <p:sp>
        <p:nvSpPr>
          <p:cNvPr id="9" name="Text 7"/>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Batch is de standaardkeuze · streaming als er een besluit sneller door valt · change data capture is vaak de verstandige middenweg.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DE VRAAG DIE JE ALTIJD STELT</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Welk besluit wordt er sneller genomen</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doordat het realtime is?</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In verreweg de meeste gevallen luidt het eerlijke antwoord "geen", en is een nachtelijke verwerking ruim voldoende. Realtime kost geld en beheerlast. Laat dat een bewuste keuze zijn in plaats van een reflex.</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INTEGRATIE</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Vijf patronen, vijf risico's</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468880"/>
                <a:gridCol w="4206240"/>
                <a:gridCol w="4206240"/>
              </a:tblGrid>
              <a:tr h="42062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Patroon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Wanneer passend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Risico</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Bestandsuitwisseling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Periodieke levering aan een externe partij</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Niemand merkt een uitgebleven bestand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Databasereplicatie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Rapportage zonder het bronsysteem te belasten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 kopie wordt behandeld als bron van waarheid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API</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Actuele gegevens op het moment dat je ze nodig hebt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Afhankelijkheid van beschikbaarheid; versiebeheer vergeten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Bericht of event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Meerdere afnemers moeten iets weten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Volgorde en dubbele verwerking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Datavirtualisatie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Bevragen zonder kopiëren, over meerdere bronnen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Prestaties en belasting van de bron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Integratie is de techniek waarmee data zich verplaatst. Interoperabiliteit is de afspraak waardoor beide partijen hetzelfde bedoelen.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OPERATIONS</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Drie businessbeslissingen die IT nu invult</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Ze worden aan jou gevraagd, meestal op een ongelegen moment.</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1554480"/>
                <a:gridCol w="4480560"/>
                <a:gridCol w="4846320"/>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Begrip</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Betekenis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 vraag die erachter zit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566928">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RTO</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Hoe lang mag het duren voor een systeem weer werkt?</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Hoeveel uur kan dit proces stilliggen voor het echt schaadt?</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RPO</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Hoeveel data mag je bij een storing kwijtraken?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Kunnen wij een halve dag aan mutaties opnieuw invoeren — en wie doet dat?</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566928">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Retentie</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Hoe lang bewaren we het en wanneer verwijderen we het?</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Wat is het doel waarvoor we dit nog bewaren?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Eén uniforme waarde voor alles is voor kritieke processen te licht en voor de rest te duur.</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GEREEDSCHAP</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Acht vragen bij elke ketenplaat</a:t>
            </a:r>
            <a:endParaRPr lang="en-US" sz="3400" dirty="0"/>
          </a:p>
        </p:txBody>
      </p:sp>
      <p:sp>
        <p:nvSpPr>
          <p:cNvPr id="4" name="Text 2"/>
          <p:cNvSpPr/>
          <p:nvPr/>
        </p:nvSpPr>
        <p:spPr>
          <a:xfrm>
            <a:off x="640080" y="2148840"/>
            <a:ext cx="530352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Over de route</a:t>
            </a:r>
            <a:endParaRPr lang="en-US" sz="2000" dirty="0"/>
          </a:p>
        </p:txBody>
      </p:sp>
      <p:sp>
        <p:nvSpPr>
          <p:cNvPr id="5" name="Text 3"/>
          <p:cNvSpPr/>
          <p:nvPr/>
        </p:nvSpPr>
        <p:spPr>
          <a:xfrm>
            <a:off x="640080" y="2606040"/>
            <a:ext cx="530352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Welk systeem is de aangewezen bron van waarheid?</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Hoe vaak wordt het ververst — hoe oud is dit getal?</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Waar wordt onderweg gefilterd, omgerekend of samengevoegd?</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Wie merkt het als een verwerking niet draait?</a:t>
            </a:r>
            <a:endParaRPr lang="en-US" sz="1400" dirty="0"/>
          </a:p>
        </p:txBody>
      </p:sp>
      <p:sp>
        <p:nvSpPr>
          <p:cNvPr id="6" name="Text 4"/>
          <p:cNvSpPr/>
          <p:nvPr/>
        </p:nvSpPr>
        <p:spPr>
          <a:xfrm>
            <a:off x="6309360" y="2148840"/>
            <a:ext cx="521208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Over wat je niet ziet</a:t>
            </a:r>
            <a:endParaRPr lang="en-US" sz="2000" dirty="0"/>
          </a:p>
        </p:txBody>
      </p:sp>
      <p:sp>
        <p:nvSpPr>
          <p:cNvPr id="7" name="Text 5"/>
          <p:cNvSpPr/>
          <p:nvPr/>
        </p:nvSpPr>
        <p:spPr>
          <a:xfrm>
            <a:off x="6309360" y="2606040"/>
            <a:ext cx="521208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Wat gebeurt er met records die de transformatie niet overleven?</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Hoeveel kopieën bestaan er, en welke is leidend?</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Kan ik terugredeneren van rapport naar bron?</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Wie wordt gewaarschuwd als het bronsysteem verandert?</a:t>
            </a:r>
            <a:endParaRPr lang="en-US" sz="1400" dirty="0"/>
          </a:p>
        </p:txBody>
      </p:sp>
      <p:sp>
        <p:nvSpPr>
          <p:cNvPr id="8" name="Text 6"/>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De vijfde is de meest onderschatte: weggevallen records verdwijnen geruisloos naar een logbestand dat niemand leest.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EXAMENLIJN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Drie kennisgebieden tegelijk</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Storage &amp; Operations · Integration &amp; Interoperability · Data Warehousing &amp; BI.</a:t>
            </a:r>
            <a:endParaRPr lang="en-US" sz="1600" dirty="0"/>
          </a:p>
        </p:txBody>
      </p:sp>
      <p:sp>
        <p:nvSpPr>
          <p:cNvPr id="5" name="Text 3"/>
          <p:cNvSpPr/>
          <p:nvPr/>
        </p:nvSpPr>
        <p:spPr>
          <a:xfrm>
            <a:off x="640080" y="2286000"/>
            <a:ext cx="603504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OLTP versus OLAP en waarom dat tot andere modellen leidt</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ETL versus ELT, en het gevolg voor herkomst</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De integratiepatronen bij naam, met hun risico</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Integratie versus interoperabiliteit — klassieke examenvraag</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Engels: source system, staging, latency, change data capture</a:t>
            </a:r>
            <a:endParaRPr lang="en-US" sz="1500" dirty="0"/>
          </a:p>
        </p:txBody>
      </p:sp>
      <p:sp>
        <p:nvSpPr>
          <p:cNvPr id="6" name="Shape 4"/>
          <p:cNvSpPr/>
          <p:nvPr/>
        </p:nvSpPr>
        <p:spPr>
          <a:xfrm>
            <a:off x="7223760" y="2148840"/>
            <a:ext cx="4297680" cy="2834640"/>
          </a:xfrm>
          <a:prstGeom prst="roundRect">
            <a:avLst>
              <a:gd name="adj" fmla="val 2581"/>
            </a:avLst>
          </a:prstGeom>
          <a:solidFill>
            <a:srgbClr val="F6F3EC"/>
          </a:solidFill>
          <a:ln w="12700">
            <a:solidFill>
              <a:srgbClr val="E2D9C4"/>
            </a:solidFill>
            <a:prstDash val="solid"/>
          </a:ln>
        </p:spPr>
      </p:sp>
      <p:sp>
        <p:nvSpPr>
          <p:cNvPr id="7" name="Text 5"/>
          <p:cNvSpPr/>
          <p:nvPr/>
        </p:nvSpPr>
        <p:spPr>
          <a:xfrm>
            <a:off x="7452360" y="2377440"/>
            <a:ext cx="3840480" cy="274320"/>
          </a:xfrm>
          <a:prstGeom prst="rect">
            <a:avLst/>
          </a:prstGeom>
          <a:noFill/>
          <a:ln/>
        </p:spPr>
        <p:txBody>
          <a:bodyPr wrap="square" lIns="0" tIns="0" rIns="0" bIns="0" rtlCol="0" anchor="ctr"/>
          <a:lstStyle/>
          <a:p>
            <a:pPr indent="0" marL="0">
              <a:buNone/>
            </a:pPr>
            <a:r>
              <a:rPr lang="en-US" sz="1100" b="1" spc="100" kern="0" dirty="0">
                <a:solidFill>
                  <a:srgbClr val="B0803A"/>
                </a:solidFill>
                <a:latin typeface="Calibri" pitchFamily="34" charset="0"/>
                <a:ea typeface="Calibri" pitchFamily="34" charset="-122"/>
                <a:cs typeface="Calibri" pitchFamily="34" charset="-120"/>
              </a:rPr>
              <a:t>VOORBEREIDING, GEEN VERVANGING</a:t>
            </a:r>
            <a:endParaRPr lang="en-US" sz="1100" dirty="0"/>
          </a:p>
        </p:txBody>
      </p:sp>
      <p:sp>
        <p:nvSpPr>
          <p:cNvPr id="8" name="Text 6"/>
          <p:cNvSpPr/>
          <p:nvPr/>
        </p:nvSpPr>
        <p:spPr>
          <a:xfrm>
            <a:off x="7452360" y="2743200"/>
            <a:ext cx="3840480" cy="2103120"/>
          </a:xfrm>
          <a:prstGeom prst="rect">
            <a:avLst/>
          </a:prstGeom>
          <a:noFill/>
          <a:ln/>
        </p:spPr>
        <p:txBody>
          <a:bodyPr wrap="square" lIns="0" tIns="0" rIns="0" bIns="0" rtlCol="0" anchor="t"/>
          <a:lstStyle/>
          <a:p>
            <a:pPr indent="0" marL="0">
              <a:lnSpc>
                <a:spcPts val="1800"/>
              </a:lnSpc>
              <a:buNone/>
            </a:pPr>
            <a:r>
              <a:rPr lang="en-US" sz="1250" dirty="0">
                <a:solidFill>
                  <a:srgbClr val="0E1A1C"/>
                </a:solidFill>
                <a:latin typeface="Calibri" pitchFamily="34" charset="0"/>
                <a:ea typeface="Calibri" pitchFamily="34" charset="-122"/>
                <a:cs typeface="Calibri" pitchFamily="34" charset="-120"/>
              </a:rPr>
              <a:t>Ductus is niet gelieerd aan of geaccrediteerd door DAMA International. Dit materiaal reproduceert het DMBOK niet en vervangt het niet.</a:t>
            </a:r>
            <a:endParaRPr lang="en-US" sz="1250" dirty="0"/>
          </a:p>
          <a:p>
            <a:pPr indent="0" marL="0">
              <a:lnSpc>
                <a:spcPts val="1800"/>
              </a:lnSpc>
              <a:buNone/>
            </a:pPr>
            <a:endParaRPr lang="en-US" sz="1250" dirty="0"/>
          </a:p>
          <a:p>
            <a:pPr indent="0" marL="0">
              <a:lnSpc>
                <a:spcPts val="1800"/>
              </a:lnSpc>
              <a:buNone/>
            </a:pPr>
            <a:r>
              <a:rPr lang="en-US" sz="1250" dirty="0">
                <a:solidFill>
                  <a:srgbClr val="0E1A1C"/>
                </a:solidFill>
                <a:latin typeface="Calibri" pitchFamily="34" charset="0"/>
                <a:ea typeface="Calibri" pitchFamily="34" charset="-122"/>
                <a:cs typeface="Calibri" pitchFamily="34" charset="-120"/>
              </a:rPr>
              <a:t>Schaf de DMBOK2 Revised Edition zelf aan — tijdens het examen is dat het enige toegestane hulpmiddel, in papier óf digitaal.</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AAN HET WERK</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Wat we vandaag doen</a:t>
            </a:r>
            <a:endParaRPr lang="en-US" sz="3400" dirty="0"/>
          </a:p>
        </p:txBody>
      </p:sp>
      <p:sp>
        <p:nvSpPr>
          <p:cNvPr id="4" name="Shape 2"/>
          <p:cNvSpPr/>
          <p:nvPr/>
        </p:nvSpPr>
        <p:spPr>
          <a:xfrm>
            <a:off x="640080" y="2377440"/>
            <a:ext cx="2528316" cy="2468880"/>
          </a:xfrm>
          <a:prstGeom prst="roundRect">
            <a:avLst>
              <a:gd name="adj" fmla="val 2963"/>
            </a:avLst>
          </a:prstGeom>
          <a:solidFill>
            <a:srgbClr val="17423F"/>
          </a:solidFill>
          <a:ln w="12700">
            <a:solidFill>
              <a:srgbClr val="2C5A56"/>
            </a:solidFill>
            <a:prstDash val="solid"/>
          </a:ln>
        </p:spPr>
      </p:sp>
      <p:sp>
        <p:nvSpPr>
          <p:cNvPr id="5" name="Shape 3"/>
          <p:cNvSpPr/>
          <p:nvPr/>
        </p:nvSpPr>
        <p:spPr>
          <a:xfrm>
            <a:off x="859536" y="2596896"/>
            <a:ext cx="384048" cy="384048"/>
          </a:xfrm>
          <a:prstGeom prst="ellipse">
            <a:avLst/>
          </a:prstGeom>
          <a:solidFill>
            <a:srgbClr val="3F7D74"/>
          </a:solidFill>
          <a:ln w="12700">
            <a:solidFill>
              <a:srgbClr val="3F7D74"/>
            </a:solidFill>
            <a:prstDash val="solid"/>
          </a:ln>
        </p:spPr>
      </p:sp>
      <p:sp>
        <p:nvSpPr>
          <p:cNvPr id="6" name="Text 4"/>
          <p:cNvSpPr/>
          <p:nvPr/>
        </p:nvSpPr>
        <p:spPr>
          <a:xfrm>
            <a:off x="859536"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7" name="Text 5"/>
          <p:cNvSpPr/>
          <p:nvPr/>
        </p:nvSpPr>
        <p:spPr>
          <a:xfrm>
            <a:off x="859536"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Ketenplaat</a:t>
            </a:r>
            <a:endParaRPr lang="en-US" sz="1800" dirty="0"/>
          </a:p>
        </p:txBody>
      </p:sp>
      <p:sp>
        <p:nvSpPr>
          <p:cNvPr id="8" name="Text 6"/>
          <p:cNvSpPr/>
          <p:nvPr/>
        </p:nvSpPr>
        <p:spPr>
          <a:xfrm>
            <a:off x="859536"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Eén getal uit je eigen werk terugvolgen tot de bron.</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45 minuten, individueel.</a:t>
            </a:r>
            <a:endParaRPr lang="en-US" sz="1200" dirty="0"/>
          </a:p>
        </p:txBody>
      </p:sp>
      <p:sp>
        <p:nvSpPr>
          <p:cNvPr id="9" name="Shape 7"/>
          <p:cNvSpPr/>
          <p:nvPr/>
        </p:nvSpPr>
        <p:spPr>
          <a:xfrm>
            <a:off x="3424428" y="2377440"/>
            <a:ext cx="2528316" cy="2468880"/>
          </a:xfrm>
          <a:prstGeom prst="roundRect">
            <a:avLst>
              <a:gd name="adj" fmla="val 2963"/>
            </a:avLst>
          </a:prstGeom>
          <a:solidFill>
            <a:srgbClr val="17423F"/>
          </a:solidFill>
          <a:ln w="12700">
            <a:solidFill>
              <a:srgbClr val="2C5A56"/>
            </a:solidFill>
            <a:prstDash val="solid"/>
          </a:ln>
        </p:spPr>
      </p:sp>
      <p:sp>
        <p:nvSpPr>
          <p:cNvPr id="10" name="Shape 8"/>
          <p:cNvSpPr/>
          <p:nvPr/>
        </p:nvSpPr>
        <p:spPr>
          <a:xfrm>
            <a:off x="3643884" y="2596896"/>
            <a:ext cx="384048" cy="384048"/>
          </a:xfrm>
          <a:prstGeom prst="ellipse">
            <a:avLst/>
          </a:prstGeom>
          <a:solidFill>
            <a:srgbClr val="3F7D74"/>
          </a:solidFill>
          <a:ln w="12700">
            <a:solidFill>
              <a:srgbClr val="3F7D74"/>
            </a:solidFill>
            <a:prstDash val="solid"/>
          </a:ln>
        </p:spPr>
      </p:sp>
      <p:sp>
        <p:nvSpPr>
          <p:cNvPr id="11" name="Text 9"/>
          <p:cNvSpPr/>
          <p:nvPr/>
        </p:nvSpPr>
        <p:spPr>
          <a:xfrm>
            <a:off x="3643884"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2" name="Text 10"/>
          <p:cNvSpPr/>
          <p:nvPr/>
        </p:nvSpPr>
        <p:spPr>
          <a:xfrm>
            <a:off x="3643884"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Patronen</a:t>
            </a:r>
            <a:endParaRPr lang="en-US" sz="1800" dirty="0"/>
          </a:p>
        </p:txBody>
      </p:sp>
      <p:sp>
        <p:nvSpPr>
          <p:cNvPr id="13" name="Text 11"/>
          <p:cNvSpPr/>
          <p:nvPr/>
        </p:nvSpPr>
        <p:spPr>
          <a:xfrm>
            <a:off x="3643884"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Vijf scenario’s, vijf keuzes, vijf risico’s.</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35 minuten, in tweetallen.</a:t>
            </a:r>
            <a:endParaRPr lang="en-US" sz="1200" dirty="0"/>
          </a:p>
        </p:txBody>
      </p:sp>
      <p:sp>
        <p:nvSpPr>
          <p:cNvPr id="14" name="Shape 12"/>
          <p:cNvSpPr/>
          <p:nvPr/>
        </p:nvSpPr>
        <p:spPr>
          <a:xfrm>
            <a:off x="6208776" y="2377440"/>
            <a:ext cx="2528316" cy="2468880"/>
          </a:xfrm>
          <a:prstGeom prst="roundRect">
            <a:avLst>
              <a:gd name="adj" fmla="val 2963"/>
            </a:avLst>
          </a:prstGeom>
          <a:solidFill>
            <a:srgbClr val="17423F"/>
          </a:solidFill>
          <a:ln w="12700">
            <a:solidFill>
              <a:srgbClr val="2C5A56"/>
            </a:solidFill>
            <a:prstDash val="solid"/>
          </a:ln>
        </p:spPr>
      </p:sp>
      <p:sp>
        <p:nvSpPr>
          <p:cNvPr id="15" name="Shape 13"/>
          <p:cNvSpPr/>
          <p:nvPr/>
        </p:nvSpPr>
        <p:spPr>
          <a:xfrm>
            <a:off x="6428232" y="2596896"/>
            <a:ext cx="384048" cy="384048"/>
          </a:xfrm>
          <a:prstGeom prst="ellipse">
            <a:avLst/>
          </a:prstGeom>
          <a:solidFill>
            <a:srgbClr val="3F7D74"/>
          </a:solidFill>
          <a:ln w="12700">
            <a:solidFill>
              <a:srgbClr val="3F7D74"/>
            </a:solidFill>
            <a:prstDash val="solid"/>
          </a:ln>
        </p:spPr>
      </p:sp>
      <p:sp>
        <p:nvSpPr>
          <p:cNvPr id="16" name="Text 14"/>
          <p:cNvSpPr/>
          <p:nvPr/>
        </p:nvSpPr>
        <p:spPr>
          <a:xfrm>
            <a:off x="6428232"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5"/>
          <p:cNvSpPr/>
          <p:nvPr/>
        </p:nvSpPr>
        <p:spPr>
          <a:xfrm>
            <a:off x="6428232"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ETL of ELT</a:t>
            </a:r>
            <a:endParaRPr lang="en-US" sz="1800" dirty="0"/>
          </a:p>
        </p:txBody>
      </p:sp>
      <p:sp>
        <p:nvSpPr>
          <p:cNvPr id="18" name="Text 16"/>
          <p:cNvSpPr/>
          <p:nvPr/>
        </p:nvSpPr>
        <p:spPr>
          <a:xfrm>
            <a:off x="6428232"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Een keuze onderbouwen richting een toezichthouder.</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30 minuten.</a:t>
            </a:r>
            <a:endParaRPr lang="en-US" sz="1200" dirty="0"/>
          </a:p>
        </p:txBody>
      </p:sp>
      <p:sp>
        <p:nvSpPr>
          <p:cNvPr id="19" name="Shape 17"/>
          <p:cNvSpPr/>
          <p:nvPr/>
        </p:nvSpPr>
        <p:spPr>
          <a:xfrm>
            <a:off x="8993124" y="2377440"/>
            <a:ext cx="2528316" cy="2468880"/>
          </a:xfrm>
          <a:prstGeom prst="roundRect">
            <a:avLst>
              <a:gd name="adj" fmla="val 2963"/>
            </a:avLst>
          </a:prstGeom>
          <a:solidFill>
            <a:srgbClr val="17423F"/>
          </a:solidFill>
          <a:ln w="12700">
            <a:solidFill>
              <a:srgbClr val="2C5A56"/>
            </a:solidFill>
            <a:prstDash val="solid"/>
          </a:ln>
        </p:spPr>
      </p:sp>
      <p:sp>
        <p:nvSpPr>
          <p:cNvPr id="20" name="Shape 18"/>
          <p:cNvSpPr/>
          <p:nvPr/>
        </p:nvSpPr>
        <p:spPr>
          <a:xfrm>
            <a:off x="9212580" y="2596896"/>
            <a:ext cx="384048" cy="384048"/>
          </a:xfrm>
          <a:prstGeom prst="ellipse">
            <a:avLst/>
          </a:prstGeom>
          <a:solidFill>
            <a:srgbClr val="3F7D74"/>
          </a:solidFill>
          <a:ln w="12700">
            <a:solidFill>
              <a:srgbClr val="3F7D74"/>
            </a:solidFill>
            <a:prstDash val="solid"/>
          </a:ln>
        </p:spPr>
      </p:sp>
      <p:sp>
        <p:nvSpPr>
          <p:cNvPr id="21" name="Text 19"/>
          <p:cNvSpPr/>
          <p:nvPr/>
        </p:nvSpPr>
        <p:spPr>
          <a:xfrm>
            <a:off x="9212580"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2" name="Text 20"/>
          <p:cNvSpPr/>
          <p:nvPr/>
        </p:nvSpPr>
        <p:spPr>
          <a:xfrm>
            <a:off x="9212580"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RTO en RPO</a:t>
            </a:r>
            <a:endParaRPr lang="en-US" sz="1800" dirty="0"/>
          </a:p>
        </p:txBody>
      </p:sp>
      <p:sp>
        <p:nvSpPr>
          <p:cNvPr id="23" name="Text 21"/>
          <p:cNvSpPr/>
          <p:nvPr/>
        </p:nvSpPr>
        <p:spPr>
          <a:xfrm>
            <a:off x="9212580"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Drie processen, drie businessvragen.</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30 minuten.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Opslag, operations en datastromen</dc:title>
  <dc:subject>PptxGenJS Presentation</dc:subject>
  <dc:creator>Ductus B.V.</dc:creator>
  <cp:lastModifiedBy>Ductus B.V.</cp:lastModifiedBy>
  <cp:revision>1</cp:revision>
  <dcterms:created xsi:type="dcterms:W3CDTF">2026-08-05T10:35:01Z</dcterms:created>
  <dcterms:modified xsi:type="dcterms:W3CDTF">2026-08-05T10:35:01Z</dcterms:modified>
</cp:coreProperties>
</file>