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een overclaimende zin uit een echte rapportage en laat de groep hem stap voor stap afzwakken tot hij klopt.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voorkomt de klassieke oplevering waarbij je een correct getal levert en een teleurgestelde opdrachtgever krijgt.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Tien minuten vragen stellen bespaart regelmatig dagen werk. Dit is de meest waardevolle gewoonte uit dit deel.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verschil tussen WHERE en HAVING is geen stijlkwestie maar een volgordekwestie. Laat het hardop uitleggen.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Koppel expliciet naar deel 3 — de drie afwijkende aantallen — en naar de weeskinderen uit het profileringsrapport van deel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hoeveel rapportages in de zaal op een inner join draaien waarvan niemand de weggevallen rijen heeft geteld.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scheve verdelingen: rapporteer beide en benoem het verschil. Dat is eerlijker dan kiezen.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tien hoogste aanspraken in de oefendatabase zijn categorie 3. Laat ze dat zelf ontdekken bij opdracht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verbindt deel 4 met deel 5: een kwaliteitsprobleem wordt hier een analytisch probleem.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twee formuleringen naast elkaar zetten: "het portaal verhoogt de bijstorting" versus "beide hangen samen; leeftijd en inkomen zijn niet uitgesloten".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opdracht 7 en het belangrijkste blijvende gewoontepunt uit dit deel.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Deel 18 en 19 verdiepen dit tot de CBDA-lijn; deel 28 gaat naar causale inferentie.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de verantwoording bij je eigen analyse — plus de zelftoets van twaalf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1 · FUNDAMENT · DEEL 5</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Fundamenten van</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data-analyse</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Analyseren is niet moeilijk. Weten wat je hebt aangetoond — en vooral wat niet — is dat wel.</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4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VIER TYPEN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Welke vraag stel je eigenlijk?</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meeste vragen zijn beschrijvend gesteld en diagnostisch bedoeld.</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03120"/>
                <a:gridCol w="3017520"/>
                <a:gridCol w="3108960"/>
                <a:gridCol w="265176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Techniek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Valkuil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Beschrijvend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is er gebeurd?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Tellen, sommeren, groeperen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Wordt verward met verklaren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Diagnostisch</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Waarom is het gebeurd?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Uitsplitsen, vergelijken, correleren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Correlatie voor oorzaak aanzien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Voorspellend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gaat er waarschijnlijk gebeuren?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Extrapolatie, regressie, classificatie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Aannemen dat het verleden zich herhaalt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Voorschrijvend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moeten we doen?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Optimalisatie, simulatie, scenario’s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besluit als rekenuitkomst presenteren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"Hoeveel deelnemers stroomden uit" is beschrijvend. Wat de manager wil weten is waarom. Benoem dat verschil vóór je begint.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VRAAG VÓÓR DE ANALYSE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Welke uitkomst zou uw besluit veranderen?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Leidt elk denkbaar antwoord tot hetzelfde besluit, dan hoeft de analyse niet. En vaak blijkt het besluit al genomen en dient de analyse als onderbouwing achteraf. Dat is nuttige informatie — beter vooraf dan achteraf.</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SQL</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bouwstenen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Genoeg voor het overgrote deel van het werk.</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4023360"/>
                <a:gridCol w="48463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Onderdeel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Voorbeeld op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SELECT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Kiest welke kolommen je terugkrijgt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SELECT deelnemer_id, status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FROM en JOIN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Bepaalt uit welke tabellen en hoe verbonden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FROM deelnemer JOIN werkgever ON ...</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Filtert rijen vóór het groeperen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WHERE status = 'actief'</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GROUP BY</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Vat rijen samen per waarde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GROUP BY werkgever_id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HAVING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Filtert de samengevatte groepen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HAVING COUNT(*) &gt; 50</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ORDER BY</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Sorteert het eindresultaat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ORDER BY aantal DESC</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Uitvoeringsvolgorde: FROM → JOIN → WHERE → GROUP BY → HAVING → SELECT → ORDER BY. Daaruit volgt waarom WHERE niet op een berekende kolom kan filteren.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BELANGRIJKSTE SLIDE VAN VANDAAG</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Een inner join gooit records weg</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zonder foutmelding.</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Bij Meridiaan verwijzen 340 deelnemers naar een werkgever die na een fusie niet meer bestaat. Een inner join laat ze stilzwijgend vallen. Het aantal dat je rapporteert is 340 te laag, en niets in het resultaat wijst daarop.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JOINS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Twee soorten, één controle</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ze doen</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INNER JOIN: alleen rijen die aan beide kanten voorkomen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LEFT JOIN: alle rijen links, aangevuld waar rechts een match is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Gebruik LEFT als je wilt zien wat géén match heeft</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De controle die je altijd doet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Tel je bronrijen vóór de join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Tel je resultaatrijen erna</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Wijkt het af? Zoek uit welke rijen verdwenen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Doe dit ook als je zeker weet dat het klopt — juist dan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STATISTIEK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centrummaten, drie verhalen</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03120"/>
                <a:gridCol w="3017520"/>
                <a:gridCol w="2834640"/>
                <a:gridCol w="292608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Gevoelig voor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Gebruik als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Gemiddelde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Som gedeeld door aantal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Uitschieters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verdeling redelijk symmetrisch is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Mediaan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middelste waarde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Nauwelijks iets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verdeling scheef is of uitschieters kent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Modus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meest voorkomende waarde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Niets, maar kan ontbreken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Je met categorieën werkt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Pensioenopbouw is scheef verdeeld. Het gemiddelde ligt ruim boven wat de meeste deelnemers krijgen — technisch correct, verkeerd beeld.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UITBIJTERS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vragen voordat je iets verwijdert</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reflex om een uitbijter weg te halen is bijna altijd verkeerd.</a:t>
            </a:r>
            <a:endParaRPr lang="en-US" sz="1600" dirty="0"/>
          </a:p>
        </p:txBody>
      </p:sp>
      <p:sp>
        <p:nvSpPr>
          <p:cNvPr id="5" name="Shape 3"/>
          <p:cNvSpPr/>
          <p:nvPr/>
        </p:nvSpPr>
        <p:spPr>
          <a:xfrm>
            <a:off x="640080" y="2331720"/>
            <a:ext cx="3456432" cy="2560320"/>
          </a:xfrm>
          <a:prstGeom prst="roundRect">
            <a:avLst>
              <a:gd name="adj" fmla="val 2857"/>
            </a:avLst>
          </a:prstGeom>
          <a:solidFill>
            <a:srgbClr val="F1F4F2"/>
          </a:solidFill>
          <a:ln w="12700">
            <a:solidFill>
              <a:srgbClr val="D5DED8"/>
            </a:solidFill>
            <a:prstDash val="solid"/>
          </a:ln>
        </p:spPr>
      </p:sp>
      <p:sp>
        <p:nvSpPr>
          <p:cNvPr id="6" name="Shape 4"/>
          <p:cNvSpPr/>
          <p:nvPr/>
        </p:nvSpPr>
        <p:spPr>
          <a:xfrm>
            <a:off x="859536" y="255117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Invoerfout?</a:t>
            </a:r>
            <a:endParaRPr lang="en-US" sz="1900" dirty="0"/>
          </a:p>
        </p:txBody>
      </p:sp>
      <p:sp>
        <p:nvSpPr>
          <p:cNvPr id="9" name="Text 7"/>
          <p:cNvSpPr/>
          <p:nvPr/>
        </p:nvSpPr>
        <p:spPr>
          <a:xfrm>
            <a:off x="859536"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Geboortedatum in 1900. Dan hoort hij eruit — én er hoort een kwaliteitsregel bij, zoals in deel 4.</a:t>
            </a:r>
            <a:endParaRPr lang="en-US" sz="1300" dirty="0"/>
          </a:p>
        </p:txBody>
      </p:sp>
      <p:sp>
        <p:nvSpPr>
          <p:cNvPr id="10" name="Shape 8"/>
          <p:cNvSpPr/>
          <p:nvPr/>
        </p:nvSpPr>
        <p:spPr>
          <a:xfrm>
            <a:off x="4352544" y="2331720"/>
            <a:ext cx="3456432" cy="2560320"/>
          </a:xfrm>
          <a:prstGeom prst="roundRect">
            <a:avLst>
              <a:gd name="adj" fmla="val 2857"/>
            </a:avLst>
          </a:prstGeom>
          <a:solidFill>
            <a:srgbClr val="F1F4F2"/>
          </a:solidFill>
          <a:ln w="12700">
            <a:solidFill>
              <a:srgbClr val="D5DED8"/>
            </a:solidFill>
            <a:prstDash val="solid"/>
          </a:ln>
        </p:spPr>
      </p:sp>
      <p:sp>
        <p:nvSpPr>
          <p:cNvPr id="11" name="Shape 9"/>
          <p:cNvSpPr/>
          <p:nvPr/>
        </p:nvSpPr>
        <p:spPr>
          <a:xfrm>
            <a:off x="4572000" y="2551176"/>
            <a:ext cx="384048" cy="384048"/>
          </a:xfrm>
          <a:prstGeom prst="ellipse">
            <a:avLst/>
          </a:prstGeom>
          <a:solidFill>
            <a:srgbClr val="3F7D74"/>
          </a:solidFill>
          <a:ln w="12700">
            <a:solidFill>
              <a:srgbClr val="3F7D74"/>
            </a:solidFill>
            <a:prstDash val="solid"/>
          </a:ln>
        </p:spPr>
      </p:sp>
      <p:sp>
        <p:nvSpPr>
          <p:cNvPr id="12" name="Text 10"/>
          <p:cNvSpPr/>
          <p:nvPr/>
        </p:nvSpPr>
        <p:spPr>
          <a:xfrm>
            <a:off x="4572000"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72000"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Echt maar zeldzaam?</a:t>
            </a:r>
            <a:endParaRPr lang="en-US" sz="1900" dirty="0"/>
          </a:p>
        </p:txBody>
      </p:sp>
      <p:sp>
        <p:nvSpPr>
          <p:cNvPr id="14" name="Text 12"/>
          <p:cNvSpPr/>
          <p:nvPr/>
        </p:nvSpPr>
        <p:spPr>
          <a:xfrm>
            <a:off x="4572000"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Dan hoort hij erin, want hij is waar. Rapporteer mediaan naast gemiddelde.</a:t>
            </a:r>
            <a:endParaRPr lang="en-US" sz="1300" dirty="0"/>
          </a:p>
        </p:txBody>
      </p:sp>
      <p:sp>
        <p:nvSpPr>
          <p:cNvPr id="15" name="Shape 13"/>
          <p:cNvSpPr/>
          <p:nvPr/>
        </p:nvSpPr>
        <p:spPr>
          <a:xfrm>
            <a:off x="8065008" y="2331720"/>
            <a:ext cx="3456432" cy="2560320"/>
          </a:xfrm>
          <a:prstGeom prst="roundRect">
            <a:avLst>
              <a:gd name="adj" fmla="val 2857"/>
            </a:avLst>
          </a:prstGeom>
          <a:solidFill>
            <a:srgbClr val="F1F4F2"/>
          </a:solidFill>
          <a:ln w="12700">
            <a:solidFill>
              <a:srgbClr val="D5DED8"/>
            </a:solidFill>
            <a:prstDash val="solid"/>
          </a:ln>
        </p:spPr>
      </p:sp>
      <p:sp>
        <p:nvSpPr>
          <p:cNvPr id="16" name="Shape 14"/>
          <p:cNvSpPr/>
          <p:nvPr/>
        </p:nvSpPr>
        <p:spPr>
          <a:xfrm>
            <a:off x="8284464" y="2551176"/>
            <a:ext cx="384048" cy="384048"/>
          </a:xfrm>
          <a:prstGeom prst="ellipse">
            <a:avLst/>
          </a:prstGeom>
          <a:solidFill>
            <a:srgbClr val="3F7D74"/>
          </a:solidFill>
          <a:ln w="12700">
            <a:solidFill>
              <a:srgbClr val="3F7D74"/>
            </a:solidFill>
            <a:prstDash val="solid"/>
          </a:ln>
        </p:spPr>
      </p:sp>
      <p:sp>
        <p:nvSpPr>
          <p:cNvPr id="17" name="Text 15"/>
          <p:cNvSpPr/>
          <p:nvPr/>
        </p:nvSpPr>
        <p:spPr>
          <a:xfrm>
            <a:off x="8284464"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284464"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Andere populatie?</a:t>
            </a:r>
            <a:endParaRPr lang="en-US" sz="1900" dirty="0"/>
          </a:p>
        </p:txBody>
      </p:sp>
      <p:sp>
        <p:nvSpPr>
          <p:cNvPr id="19" name="Text 17"/>
          <p:cNvSpPr/>
          <p:nvPr/>
        </p:nvSpPr>
        <p:spPr>
          <a:xfrm>
            <a:off x="8284464"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Directeuren met een aanvullende regeling horen in een aparte analyse, niet in dezelfde berekening.</a:t>
            </a:r>
            <a:endParaRPr lang="en-US" sz="1300" dirty="0"/>
          </a:p>
        </p:txBody>
      </p:sp>
      <p:sp>
        <p:nvSpPr>
          <p:cNvPr id="20" name="Text 18"/>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Wat je nooit doet: verwijderen omdat de grafiek er dan mooier uitziet. Documenteer elke verwijdering met reden.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BIAS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Wie ontbreekt er in je data?</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vraag is niet hoe groot de ontbrekende groep is, maar of hij verschilt van de rest.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377440"/>
                <a:gridCol w="4206240"/>
                <a:gridCol w="429768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er gebeurt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0292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Selectiebias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groep die je bekijkt is niet representatief</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Alleen deelnemers die het portaal gebruiken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Overlevingsbias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Wie eruit gevallen is, telt niet meer mee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Tevredenheid meten onder wie niet vertrok</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0292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Non-respons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Wie niet reageert verschilt van wie wel reageert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Enquête ingevuld door de meest betrokkenen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4,2% van de deelnemers heeft geen e-mailadres en ontbreekt dus in elke digitale meting. Dat is bijna zeker geen willekeurige 4,2%.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CORRELATIE EN CAUSALITEIT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Vier verklaringen. Drie worden routinematig genegeerd.</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A veroorzaakt B · B veroorzaakt A · C veroorzaakt beide · toeval. Portaalgebruikers storten vaker bij — maar leeftijd en inkomen verklaren beide gedragingen. Kun je zo’n derde factor bedenken, dan mag je geen oorzakelijke uitspraak doen.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VERANTWOORDING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Een halve pagina die je beschermt</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Maakt je werk reproduceerbaar wanneer iemand er over een half jaar op terugkomt.</a:t>
            </a:r>
            <a:endParaRPr lang="en-US" sz="1600" dirty="0"/>
          </a:p>
        </p:txBody>
      </p:sp>
      <p:sp>
        <p:nvSpPr>
          <p:cNvPr id="5" name="Text 3"/>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erin hoort</a:t>
            </a:r>
            <a:endParaRPr lang="en-US" sz="2000" dirty="0"/>
          </a:p>
        </p:txBody>
      </p:sp>
      <p:sp>
        <p:nvSpPr>
          <p:cNvPr id="6" name="Text 4"/>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vraag zoals jij hem begreep, en het besluit waarvoor hij dient</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Bron, peildatum en moment van ophalen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filters, en hoeveel rijen daardoor afvielen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aannames die je moest doen</a:t>
            </a:r>
            <a:endParaRPr lang="en-US" sz="1400" dirty="0"/>
          </a:p>
        </p:txBody>
      </p:sp>
      <p:sp>
        <p:nvSpPr>
          <p:cNvPr id="7" name="Text 5"/>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De zin die niemand schrijft</a:t>
            </a:r>
            <a:endParaRPr lang="en-US" sz="2000" dirty="0"/>
          </a:p>
        </p:txBody>
      </p:sp>
      <p:sp>
        <p:nvSpPr>
          <p:cNvPr id="8" name="Text 6"/>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"Wat deze analyse níét aantoont"</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Maak hem concreet, niet algemeen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"Deelnemers zonder e-mailadres zitten niet in deze meting"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"Dit toont samenhang, geen oorzaak"</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 · Big Data &amp; Data Science</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Plus de SQL- en statistiekbasis voor wie de optionele PL-300 overweegt.</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vier analysetypen bij naam en het onderscheid</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Samenhang versus oorzaak — getoetst via scenario’s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rol van de analist binnen het datamanagementlandschap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Brondatakwaliteit als voorwaarde voor bruikbare analyse</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descriptive, sampling bias, confounding variable, outlier</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SQL</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Acht vragen op de oefendatabase, plus één verklaarde foutmelding.</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70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De join</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340 verdwenen deelnemers vinden en verklaren.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35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Gemiddelde</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Dezelfde data, twee verhalen. Welk vertel je?</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40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Confounder</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Portaal en bijstorting — vier verklaringen, twee formuleringen.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35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Fundamenten van data-analyse</dc:title>
  <dc:subject>PptxGenJS Presentation</dc:subject>
  <dc:creator>Ductus B.V.</dc:creator>
  <cp:lastModifiedBy>Ductus B.V.</cp:lastModifiedBy>
  <cp:revision>1</cp:revision>
  <dcterms:created xsi:type="dcterms:W3CDTF">2026-08-05T10:35:01Z</dcterms:created>
  <dcterms:modified xsi:type="dcterms:W3CDTF">2026-08-05T10:35:01Z</dcterms:modified>
</cp:coreProperties>
</file>