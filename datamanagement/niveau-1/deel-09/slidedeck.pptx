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Vraag wie denkt dat open boek een geruststelling is. Reken daarna voor wat vijf opzoekmomenten kosten.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de belangrijkste boodschap van de dag en hij moet er vroeg in. De rest van het deel bouwt erop.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extra tijd moet je aanvragen, niet aannemen. Dat wordt structureel vergeten.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Opdracht 1 laat ze de rekensom maken: gewicht maal verwacht puntverlies. De top vier verrast bijna altijd.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discipline zit in ronde één. Drie momenten van "toch even opzoeken" kosten de laatste tien vragen.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 is toegestaan aan tabbladen en aantekeningen verschilt en kan wijzigen. Laat ze het uitzoeken en de bron noteren.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Bij een verschil tussen jouw praktijk en het DMBOK wint het boek. Dat is voor ervaren deelnemers de lastigste gewoonte.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oefening waarbij de buurman de vraag zonder opties voorleest, is de kern van opdracht 5. Sla hem niet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Deze tien zijn de directe opbrengst van delen 1 tot en met 8. Ze komen alle tien in de diagnostische mix terug.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go/no-go-besluit in opdracht 7 draait op consistentie, niet op de hoogste score ooit.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Wie boven de 75 zit, kan in deel 10 al nadenken over de Practitioner-route. Dat is niveau 2, delen 11 tot en met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Huiswerk: proefexamen 2 na minimaal drie dagen, het go/no-go-besluit, en de diagnostische mix van twaalf vragen.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828800"/>
            <a:ext cx="9144000" cy="365760"/>
          </a:xfrm>
          <a:prstGeom prst="rect">
            <a:avLst/>
          </a:prstGeom>
          <a:noFill/>
          <a:ln/>
        </p:spPr>
        <p:txBody>
          <a:bodyPr wrap="square" lIns="0" tIns="0" rIns="0" bIns="0" rtlCol="0" anchor="ctr"/>
          <a:lstStyle/>
          <a:p>
            <a:pPr indent="0" marL="0">
              <a:buNone/>
            </a:pPr>
            <a:r>
              <a:rPr lang="en-US" sz="1300" b="1" spc="400" kern="0" dirty="0">
                <a:solidFill>
                  <a:srgbClr val="7FA893"/>
                </a:solidFill>
                <a:latin typeface="Calibri" pitchFamily="34" charset="0"/>
                <a:ea typeface="Calibri" pitchFamily="34" charset="-122"/>
                <a:cs typeface="Calibri" pitchFamily="34" charset="-120"/>
              </a:rPr>
              <a:t>NIVEAU 1 · FUNDAMENT · DEEL 9</a:t>
            </a:r>
            <a:endParaRPr lang="en-US" sz="1300" dirty="0"/>
          </a:p>
        </p:txBody>
      </p:sp>
      <p:sp>
        <p:nvSpPr>
          <p:cNvPr id="3" name="Text 1"/>
          <p:cNvSpPr/>
          <p:nvPr/>
        </p:nvSpPr>
        <p:spPr>
          <a:xfrm>
            <a:off x="640080" y="2286000"/>
            <a:ext cx="10058400" cy="1828800"/>
          </a:xfrm>
          <a:prstGeom prst="rect">
            <a:avLst/>
          </a:prstGeom>
          <a:noFill/>
          <a:ln/>
        </p:spPr>
        <p:txBody>
          <a:bodyPr wrap="square" lIns="0" tIns="0" rIns="0" bIns="0" rtlCol="0" anchor="ctr"/>
          <a:lstStyle/>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Examentraining</a:t>
            </a:r>
            <a:endParaRPr lang="en-US" sz="4600" dirty="0"/>
          </a:p>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Fundamentals</a:t>
            </a:r>
            <a:endParaRPr lang="en-US" sz="4600" dirty="0"/>
          </a:p>
        </p:txBody>
      </p:sp>
      <p:sp>
        <p:nvSpPr>
          <p:cNvPr id="4" name="Text 2"/>
          <p:cNvSpPr/>
          <p:nvPr/>
        </p:nvSpPr>
        <p:spPr>
          <a:xfrm>
            <a:off x="640080" y="4297680"/>
            <a:ext cx="8961120" cy="548640"/>
          </a:xfrm>
          <a:prstGeom prst="rect">
            <a:avLst/>
          </a:prstGeom>
          <a:noFill/>
          <a:ln/>
        </p:spPr>
        <p:txBody>
          <a:bodyPr wrap="square" lIns="0" tIns="0" rIns="0" bIns="0" rtlCol="0" anchor="ctr"/>
          <a:lstStyle/>
          <a:p>
            <a:pPr indent="0" marL="0">
              <a:buNone/>
            </a:pPr>
            <a:r>
              <a:rPr lang="en-US" sz="1700" dirty="0">
                <a:solidFill>
                  <a:srgbClr val="7FA893"/>
                </a:solidFill>
                <a:latin typeface="Calibri" pitchFamily="34" charset="0"/>
                <a:ea typeface="Calibri" pitchFamily="34" charset="-122"/>
                <a:cs typeface="Calibri" pitchFamily="34" charset="-120"/>
              </a:rPr>
              <a:t>Je kent de stof. Dit deel gaat over niet verliezen op vragen die je beheerst.</a:t>
            </a:r>
            <a:endParaRPr lang="en-US" sz="1700" dirty="0"/>
          </a:p>
        </p:txBody>
      </p:sp>
      <p:sp>
        <p:nvSpPr>
          <p:cNvPr id="5" name="Text 3"/>
          <p:cNvSpPr/>
          <p:nvPr/>
        </p:nvSpPr>
        <p:spPr>
          <a:xfrm>
            <a:off x="640080" y="6035040"/>
            <a:ext cx="10058400" cy="365760"/>
          </a:xfrm>
          <a:prstGeom prst="rect">
            <a:avLst/>
          </a:prstGeom>
          <a:noFill/>
          <a:ln/>
        </p:spPr>
        <p:txBody>
          <a:bodyPr wrap="square" lIns="0" tIns="0" rIns="0" bIns="0" rtlCol="0" anchor="ctr"/>
          <a:lstStyle/>
          <a:p>
            <a:pPr indent="0" marL="0">
              <a:buNone/>
            </a:pPr>
            <a:r>
              <a:rPr lang="en-US" sz="1200" dirty="0">
                <a:solidFill>
                  <a:srgbClr val="8FAFA5"/>
                </a:solidFill>
                <a:latin typeface="Calibri" pitchFamily="34" charset="0"/>
                <a:ea typeface="Calibri" pitchFamily="34" charset="-122"/>
                <a:cs typeface="Calibri" pitchFamily="34" charset="-120"/>
              </a:rPr>
              <a:t>Ductus B.V.  ·  4 uur klassikaal  ·  Casus Meridiaan Pensioen N.V.</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DE VALSTRIK</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Open boek klinkt als een geruststelling.</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Het is een valstrik.</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Wie denkt dat hij het opzoekt, komt tijd tekort. Het boek is er voor de vijf tot tien vragen waarbij je twijfelt, niet voor de honderd. De meeste mensen die het niet halen, komen niet aan de laatste twintig vragen toe.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DE OPZET</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Hoe het examen zich gedraagt</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194560"/>
                <a:gridCol w="868680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Onderwerp</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Wat je moet weten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5720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Vorm</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100 meerkeuzevragen, online geproctord</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Tijd</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90 minuten — extra tijd beschikbaar voor niet-moedertaalsprekers, mits aangevraagd</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5720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Hulpmiddel</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Uitsluitend DMBOK2 Revised Edition — papier óf digitaal, niet beide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Kosten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Circa $311 per poging</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5720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Geldigheid</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Drie jaar, daarna hercertificering</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Uitkomst</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60–69% Associate · 70–79% Practitioner · 80%+ Master</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Eén examen voor alle drie de niveaus: je schrijft je in voor Fundamentals en de score bepaalt de uitkomst. Controleer alle gegevens op cdmp.info vóór inschrijving.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RENDEMENT</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Waar je studietijd het meeste oplevert</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Zes gebieden zijn samen ruwweg de helft van het examen.</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4206240"/>
                <a:gridCol w="3108960"/>
                <a:gridCol w="3566160"/>
              </a:tblGrid>
              <a:tr h="42062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Gebied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Indicatief gewicht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Behandeld in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20624">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Data Governance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 11%</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Deel 7</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Data Modeling &amp; Design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 11%</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Deel 2</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20624">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Data Quality</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 11%</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Deel 4</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Metadata Management</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 11%</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Deel 8</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20624">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Reference &amp; Master Data</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 10%</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Deel 8</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Data Warehousing &amp; BI</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 10%</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Deel 3 en 6</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6" name="Text 3"/>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Studeer waar het gewicht zit, niet waar het ongemak zit. Wegingen zijn indicatief — controleer de actuele opgave.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TEMPO</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Drie ronden in negentig minuten</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100 vragen betekent 54 seconden per vraag. Dat is genoeg — mits je niet blijft hangen.</a:t>
            </a:r>
            <a:endParaRPr lang="en-US" sz="1600" dirty="0"/>
          </a:p>
        </p:txBody>
      </p:sp>
      <p:sp>
        <p:nvSpPr>
          <p:cNvPr id="5" name="Shape 3"/>
          <p:cNvSpPr/>
          <p:nvPr/>
        </p:nvSpPr>
        <p:spPr>
          <a:xfrm>
            <a:off x="640080" y="2331720"/>
            <a:ext cx="3456432" cy="2560320"/>
          </a:xfrm>
          <a:prstGeom prst="roundRect">
            <a:avLst>
              <a:gd name="adj" fmla="val 2857"/>
            </a:avLst>
          </a:prstGeom>
          <a:solidFill>
            <a:srgbClr val="F1F4F2"/>
          </a:solidFill>
          <a:ln w="12700">
            <a:solidFill>
              <a:srgbClr val="D5DED8"/>
            </a:solidFill>
            <a:prstDash val="solid"/>
          </a:ln>
        </p:spPr>
      </p:sp>
      <p:sp>
        <p:nvSpPr>
          <p:cNvPr id="6" name="Shape 4"/>
          <p:cNvSpPr/>
          <p:nvPr/>
        </p:nvSpPr>
        <p:spPr>
          <a:xfrm>
            <a:off x="859536" y="2551176"/>
            <a:ext cx="384048" cy="384048"/>
          </a:xfrm>
          <a:prstGeom prst="ellipse">
            <a:avLst/>
          </a:prstGeom>
          <a:solidFill>
            <a:srgbClr val="3F7D74"/>
          </a:solidFill>
          <a:ln w="12700">
            <a:solidFill>
              <a:srgbClr val="3F7D74"/>
            </a:solidFill>
            <a:prstDash val="solid"/>
          </a:ln>
        </p:spPr>
      </p:sp>
      <p:sp>
        <p:nvSpPr>
          <p:cNvPr id="7" name="Text 5"/>
          <p:cNvSpPr/>
          <p:nvPr/>
        </p:nvSpPr>
        <p:spPr>
          <a:xfrm>
            <a:off x="859536" y="2551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859536" y="3044952"/>
            <a:ext cx="3017520" cy="384048"/>
          </a:xfrm>
          <a:prstGeom prst="rect">
            <a:avLst/>
          </a:prstGeom>
          <a:noFill/>
          <a:ln/>
        </p:spPr>
        <p:txBody>
          <a:bodyPr wrap="square" lIns="0" tIns="0" rIns="0" bIns="0" rtlCol="0" anchor="t"/>
          <a:lstStyle/>
          <a:p>
            <a:pPr indent="0" marL="0">
              <a:buNone/>
            </a:pPr>
            <a:r>
              <a:rPr lang="en-US" sz="1900" b="1" dirty="0">
                <a:solidFill>
                  <a:srgbClr val="0E1A1C"/>
                </a:solidFill>
                <a:latin typeface="Cambria" pitchFamily="34" charset="0"/>
                <a:ea typeface="Cambria" pitchFamily="34" charset="-122"/>
                <a:cs typeface="Cambria" pitchFamily="34" charset="-120"/>
              </a:rPr>
              <a:t>± 60 minuten</a:t>
            </a:r>
            <a:endParaRPr lang="en-US" sz="1900" dirty="0"/>
          </a:p>
        </p:txBody>
      </p:sp>
      <p:sp>
        <p:nvSpPr>
          <p:cNvPr id="9" name="Text 7"/>
          <p:cNvSpPr/>
          <p:nvPr/>
        </p:nvSpPr>
        <p:spPr>
          <a:xfrm>
            <a:off x="859536" y="3465576"/>
            <a:ext cx="3017520" cy="1243584"/>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Alles wat je direct weet. Twijfel je langer dan 30 seconden: markeren en doorgaan. Niet opzoeken, niet piekeren.</a:t>
            </a:r>
            <a:endParaRPr lang="en-US" sz="1300" dirty="0"/>
          </a:p>
        </p:txBody>
      </p:sp>
      <p:sp>
        <p:nvSpPr>
          <p:cNvPr id="10" name="Shape 8"/>
          <p:cNvSpPr/>
          <p:nvPr/>
        </p:nvSpPr>
        <p:spPr>
          <a:xfrm>
            <a:off x="4352544" y="2331720"/>
            <a:ext cx="3456432" cy="2560320"/>
          </a:xfrm>
          <a:prstGeom prst="roundRect">
            <a:avLst>
              <a:gd name="adj" fmla="val 2857"/>
            </a:avLst>
          </a:prstGeom>
          <a:solidFill>
            <a:srgbClr val="F1F4F2"/>
          </a:solidFill>
          <a:ln w="12700">
            <a:solidFill>
              <a:srgbClr val="D5DED8"/>
            </a:solidFill>
            <a:prstDash val="solid"/>
          </a:ln>
        </p:spPr>
      </p:sp>
      <p:sp>
        <p:nvSpPr>
          <p:cNvPr id="11" name="Shape 9"/>
          <p:cNvSpPr/>
          <p:nvPr/>
        </p:nvSpPr>
        <p:spPr>
          <a:xfrm>
            <a:off x="4572000" y="2551176"/>
            <a:ext cx="384048" cy="384048"/>
          </a:xfrm>
          <a:prstGeom prst="ellipse">
            <a:avLst/>
          </a:prstGeom>
          <a:solidFill>
            <a:srgbClr val="3F7D74"/>
          </a:solidFill>
          <a:ln w="12700">
            <a:solidFill>
              <a:srgbClr val="3F7D74"/>
            </a:solidFill>
            <a:prstDash val="solid"/>
          </a:ln>
        </p:spPr>
      </p:sp>
      <p:sp>
        <p:nvSpPr>
          <p:cNvPr id="12" name="Text 10"/>
          <p:cNvSpPr/>
          <p:nvPr/>
        </p:nvSpPr>
        <p:spPr>
          <a:xfrm>
            <a:off x="4572000" y="2551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4572000" y="3044952"/>
            <a:ext cx="3017520" cy="384048"/>
          </a:xfrm>
          <a:prstGeom prst="rect">
            <a:avLst/>
          </a:prstGeom>
          <a:noFill/>
          <a:ln/>
        </p:spPr>
        <p:txBody>
          <a:bodyPr wrap="square" lIns="0" tIns="0" rIns="0" bIns="0" rtlCol="0" anchor="t"/>
          <a:lstStyle/>
          <a:p>
            <a:pPr indent="0" marL="0">
              <a:buNone/>
            </a:pPr>
            <a:r>
              <a:rPr lang="en-US" sz="1900" b="1" dirty="0">
                <a:solidFill>
                  <a:srgbClr val="0E1A1C"/>
                </a:solidFill>
                <a:latin typeface="Cambria" pitchFamily="34" charset="0"/>
                <a:ea typeface="Cambria" pitchFamily="34" charset="-122"/>
                <a:cs typeface="Cambria" pitchFamily="34" charset="-120"/>
              </a:rPr>
              <a:t>± 20 minuten</a:t>
            </a:r>
            <a:endParaRPr lang="en-US" sz="1900" dirty="0"/>
          </a:p>
        </p:txBody>
      </p:sp>
      <p:sp>
        <p:nvSpPr>
          <p:cNvPr id="14" name="Text 12"/>
          <p:cNvSpPr/>
          <p:nvPr/>
        </p:nvSpPr>
        <p:spPr>
          <a:xfrm>
            <a:off x="4572000" y="3465576"/>
            <a:ext cx="3017520" cy="1243584"/>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De gemarkeerde vragen. Nu mag je nadenken, en bij hooguit vijf tot tien opzoeken.</a:t>
            </a:r>
            <a:endParaRPr lang="en-US" sz="1300" dirty="0"/>
          </a:p>
        </p:txBody>
      </p:sp>
      <p:sp>
        <p:nvSpPr>
          <p:cNvPr id="15" name="Shape 13"/>
          <p:cNvSpPr/>
          <p:nvPr/>
        </p:nvSpPr>
        <p:spPr>
          <a:xfrm>
            <a:off x="8065008" y="2331720"/>
            <a:ext cx="3456432" cy="2560320"/>
          </a:xfrm>
          <a:prstGeom prst="roundRect">
            <a:avLst>
              <a:gd name="adj" fmla="val 2857"/>
            </a:avLst>
          </a:prstGeom>
          <a:solidFill>
            <a:srgbClr val="F1F4F2"/>
          </a:solidFill>
          <a:ln w="12700">
            <a:solidFill>
              <a:srgbClr val="D5DED8"/>
            </a:solidFill>
            <a:prstDash val="solid"/>
          </a:ln>
        </p:spPr>
      </p:sp>
      <p:sp>
        <p:nvSpPr>
          <p:cNvPr id="16" name="Shape 14"/>
          <p:cNvSpPr/>
          <p:nvPr/>
        </p:nvSpPr>
        <p:spPr>
          <a:xfrm>
            <a:off x="8284464" y="2551176"/>
            <a:ext cx="384048" cy="384048"/>
          </a:xfrm>
          <a:prstGeom prst="ellipse">
            <a:avLst/>
          </a:prstGeom>
          <a:solidFill>
            <a:srgbClr val="3F7D74"/>
          </a:solidFill>
          <a:ln w="12700">
            <a:solidFill>
              <a:srgbClr val="3F7D74"/>
            </a:solidFill>
            <a:prstDash val="solid"/>
          </a:ln>
        </p:spPr>
      </p:sp>
      <p:sp>
        <p:nvSpPr>
          <p:cNvPr id="17" name="Text 15"/>
          <p:cNvSpPr/>
          <p:nvPr/>
        </p:nvSpPr>
        <p:spPr>
          <a:xfrm>
            <a:off x="8284464" y="2551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8284464" y="3044952"/>
            <a:ext cx="3017520" cy="384048"/>
          </a:xfrm>
          <a:prstGeom prst="rect">
            <a:avLst/>
          </a:prstGeom>
          <a:noFill/>
          <a:ln/>
        </p:spPr>
        <p:txBody>
          <a:bodyPr wrap="square" lIns="0" tIns="0" rIns="0" bIns="0" rtlCol="0" anchor="t"/>
          <a:lstStyle/>
          <a:p>
            <a:pPr indent="0" marL="0">
              <a:buNone/>
            </a:pPr>
            <a:r>
              <a:rPr lang="en-US" sz="1900" b="1" dirty="0">
                <a:solidFill>
                  <a:srgbClr val="0E1A1C"/>
                </a:solidFill>
                <a:latin typeface="Cambria" pitchFamily="34" charset="0"/>
                <a:ea typeface="Cambria" pitchFamily="34" charset="-122"/>
                <a:cs typeface="Cambria" pitchFamily="34" charset="-120"/>
              </a:rPr>
              <a:t>± 10 minuten</a:t>
            </a:r>
            <a:endParaRPr lang="en-US" sz="1900" dirty="0"/>
          </a:p>
        </p:txBody>
      </p:sp>
      <p:sp>
        <p:nvSpPr>
          <p:cNvPr id="19" name="Text 17"/>
          <p:cNvSpPr/>
          <p:nvPr/>
        </p:nvSpPr>
        <p:spPr>
          <a:xfrm>
            <a:off x="8284464" y="3465576"/>
            <a:ext cx="3017520" cy="1243584"/>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Controleer of alles is ingevuld. Nooit een vraag openlaten — er is geen aftrek voor fout.</a:t>
            </a:r>
            <a:endParaRPr lang="en-US" sz="1300" dirty="0"/>
          </a:p>
        </p:txBody>
      </p:sp>
      <p:sp>
        <p:nvSpPr>
          <p:cNvPr id="20" name="Text 18"/>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IJkpunt: bij vraag 50 hoor je rond de 45 minuten te zitten. Zit je op 60, dan is dat een tempoprobleem — en dat is beter oplosbaar dan een kennisprobleem.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HET BOEK</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Papier of digitaal — kies vooraf</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011680"/>
                <a:gridCol w="4480560"/>
                <a:gridCol w="4389120"/>
              </a:tblGrid>
              <a:tr h="502920">
                <a:tc>
                  <a:txBody>
                    <a:bodyPr/>
                    <a:lstStyle/>
                    <a:p>
                      <a:pPr indent="0" marL="0">
                        <a:buNone/>
                      </a:pP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Papier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Digitaal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50292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Voordeel</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Snel bladeren, tabbladen, ruimtelijk geheugen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Zoeken op woord, geen fysiek gedoe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Nadeel</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Zwaar, en je moet weten waar je moet zijn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Zoekresultaten leiden af; scrollen kost tijd</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502920">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Voorbereiding</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Tabbladen per hoofdstuk, en oefenen met opzoeken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Oefenen met zoektermen die je echt gaat gebruiken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Klok tien willekeurige begrippen. Onder de 30 seconden is bruikbaar; boven de anderhalve minuut is je boek een last in plaats van een hulpmiddel.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VRAAGTYPEN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Vier typen, vier aanpakken</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194560"/>
                <a:gridCol w="3291840"/>
                <a:gridCol w="539496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Herken je aan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Aanpak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50292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Definitievraag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Vraagt wat een begrip betekent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Weet je het: direct antwoorden. Twijfel: dit is het type om op te zoeken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Scenariovraag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Schetst een situatie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Bepaal eerst het kennisgebied; dat sluit meestal twee opties uit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50292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Best of meest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"best", "most likely", "primary"</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Meerdere zijn juist — zoek het antwoord dat het meest direct op de vraag ingaat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Negatieve vraag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NOT, EXCEPT, LEAST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Twee keer lezen. Draai om: welke drie zijn wél waar?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
        <p:nvSpPr>
          <p:cNvPr id="5" name="Text 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Afleiders: het absolute antwoord ("altijd", "nooit") · het te specifieke · het juiste antwoord op een andere vraag · wat in jouw praktijk gebruikelijk is.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DE GEWOONTE DIE HET MEESTE OPLEVERT</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Formuleer je eigen antwoord</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vóórdat je de opties leest.</a:t>
            </a:r>
            <a:endParaRPr lang="en-US" sz="3200" dirty="0"/>
          </a:p>
        </p:txBody>
      </p:sp>
      <p:sp>
        <p:nvSpPr>
          <p:cNvPr id="4" name="Text 2"/>
          <p:cNvSpPr/>
          <p:nvPr/>
        </p:nvSpPr>
        <p:spPr>
          <a:xfrm>
            <a:off x="640080" y="4160520"/>
            <a:ext cx="9052560" cy="128016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Wie eerst de opties leest, wordt gestuurd door de afleiders. Dat kost twee seconden per vraag en levert er meer op. In opdracht 5 doen we het een keer andersom — en dan merk je pas hoe sterk die sturing is.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VERWARPAREN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Tien paren waar de punten weglekken</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Toets jezelf door ze te produceren, niet door ze te herkennen.</a:t>
            </a:r>
            <a:endParaRPr lang="en-US" sz="1600" dirty="0"/>
          </a:p>
        </p:txBody>
      </p:sp>
      <p:sp>
        <p:nvSpPr>
          <p:cNvPr id="5" name="Text 3"/>
          <p:cNvSpPr/>
          <p:nvPr/>
        </p:nvSpPr>
        <p:spPr>
          <a:xfrm>
            <a:off x="640080" y="2148840"/>
            <a:ext cx="530352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Inhoud</a:t>
            </a:r>
            <a:endParaRPr lang="en-US" sz="2000" dirty="0"/>
          </a:p>
        </p:txBody>
      </p:sp>
      <p:sp>
        <p:nvSpPr>
          <p:cNvPr id="6" name="Text 4"/>
          <p:cNvSpPr/>
          <p:nvPr/>
        </p:nvSpPr>
        <p:spPr>
          <a:xfrm>
            <a:off x="640080" y="2606040"/>
            <a:ext cx="530352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Master data versus reference data</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Validity versus accuracy</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Conceptueel versus logisch model</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OLTP versus OLAP</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Metric versus KPI</a:t>
            </a:r>
            <a:endParaRPr lang="en-US" sz="1500" dirty="0"/>
          </a:p>
        </p:txBody>
      </p:sp>
      <p:sp>
        <p:nvSpPr>
          <p:cNvPr id="7" name="Text 5"/>
          <p:cNvSpPr/>
          <p:nvPr/>
        </p:nvSpPr>
        <p:spPr>
          <a:xfrm>
            <a:off x="6309360" y="2148840"/>
            <a:ext cx="521208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Rollen en regels</a:t>
            </a:r>
            <a:endParaRPr lang="en-US" sz="2000" dirty="0"/>
          </a:p>
        </p:txBody>
      </p:sp>
      <p:sp>
        <p:nvSpPr>
          <p:cNvPr id="8" name="Text 6"/>
          <p:cNvSpPr/>
          <p:nvPr/>
        </p:nvSpPr>
        <p:spPr>
          <a:xfrm>
            <a:off x="6309360" y="2606040"/>
            <a:ext cx="521208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Data owner versus data custodian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Governance versus stewardship</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Pseudonimiseren versus anonimiseren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Integratie versus interoperabiliteit</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Beleid versus standaard versus richtlijn</a:t>
            </a:r>
            <a:endParaRPr lang="en-US" sz="1500" dirty="0"/>
          </a:p>
        </p:txBody>
      </p:sp>
      <p:sp>
        <p:nvSpPr>
          <p:cNvPr id="9" name="Text 7"/>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Schrijf van elk paar beide definities op zonder boek en laat een medecursist beoordelen of het onderscheid scherp is.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DE LAATSTE WEEK</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Wat je doet en wat je laat</a:t>
            </a:r>
            <a:endParaRPr lang="en-US" sz="3400" dirty="0"/>
          </a:p>
        </p:txBody>
      </p:sp>
      <p:sp>
        <p:nvSpPr>
          <p:cNvPr id="4" name="Text 2"/>
          <p:cNvSpPr/>
          <p:nvPr/>
        </p:nvSpPr>
        <p:spPr>
          <a:xfrm>
            <a:off x="640080" y="2148840"/>
            <a:ext cx="530352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Wel</a:t>
            </a:r>
            <a:endParaRPr lang="en-US" sz="2000" dirty="0"/>
          </a:p>
        </p:txBody>
      </p:sp>
      <p:sp>
        <p:nvSpPr>
          <p:cNvPr id="5" name="Text 3"/>
          <p:cNvSpPr/>
          <p:nvPr/>
        </p:nvSpPr>
        <p:spPr>
          <a:xfrm>
            <a:off x="640080" y="2606040"/>
            <a:ext cx="530352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Twee volledige proefexamens, met een dag ertussen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De verwarparen dagelijks kort doornemen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Opzoeken oefenen tot je onder de 30 seconden zit</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Proctoring testen, ID klaarleggen, ruimte reserveren</a:t>
            </a:r>
            <a:endParaRPr lang="en-US" sz="1500" dirty="0"/>
          </a:p>
        </p:txBody>
      </p:sp>
      <p:sp>
        <p:nvSpPr>
          <p:cNvPr id="6" name="Text 4"/>
          <p:cNvSpPr/>
          <p:nvPr/>
        </p:nvSpPr>
        <p:spPr>
          <a:xfrm>
            <a:off x="6309360" y="2148840"/>
            <a:ext cx="521208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Niet</a:t>
            </a:r>
            <a:endParaRPr lang="en-US" sz="2000" dirty="0"/>
          </a:p>
        </p:txBody>
      </p:sp>
      <p:sp>
        <p:nvSpPr>
          <p:cNvPr id="7" name="Text 5"/>
          <p:cNvSpPr/>
          <p:nvPr/>
        </p:nvSpPr>
        <p:spPr>
          <a:xfrm>
            <a:off x="6309360" y="2606040"/>
            <a:ext cx="521208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Nieuwe stof beginnen — dat verdringt wat je al wist</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De dag ervoor nog een proefexamen doen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Je boek op de examendag nog herinrichten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Inschrijven op grond van één score van 62 procent</a:t>
            </a:r>
            <a:endParaRPr lang="en-US" sz="1500" dirty="0"/>
          </a:p>
        </p:txBody>
      </p:sp>
      <p:sp>
        <p:nvSpPr>
          <p:cNvPr id="8" name="Text 6"/>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Marge telt: wie consistent boven de 65 zit, heeft ruimte voor een tegenvallende dag. Wie precies op 60 zit, heeft die niet.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EXAMENLIJN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0E1A1C"/>
                </a:solidFill>
                <a:latin typeface="Cambria" pitchFamily="34" charset="0"/>
                <a:ea typeface="Cambria" pitchFamily="34" charset="-122"/>
                <a:cs typeface="Cambria" pitchFamily="34" charset="-120"/>
              </a:rPr>
              <a:t>Na afloop</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indent="0" marL="0">
              <a:buNone/>
            </a:pPr>
            <a:r>
              <a:rPr lang="en-US" sz="1600" dirty="0">
                <a:solidFill>
                  <a:srgbClr val="5F7375"/>
                </a:solidFill>
                <a:latin typeface="Calibri" pitchFamily="34" charset="0"/>
                <a:ea typeface="Calibri" pitchFamily="34" charset="-122"/>
                <a:cs typeface="Calibri" pitchFamily="34" charset="-120"/>
              </a:rPr>
              <a:t>Het scorerapport is de beste basis voor je plan richting niveau 2.</a:t>
            </a:r>
            <a:endParaRPr lang="en-US" sz="1600" dirty="0"/>
          </a:p>
        </p:txBody>
      </p:sp>
      <p:sp>
        <p:nvSpPr>
          <p:cNvPr id="5" name="Text 3"/>
          <p:cNvSpPr/>
          <p:nvPr/>
        </p:nvSpPr>
        <p:spPr>
          <a:xfrm>
            <a:off x="640080" y="2286000"/>
            <a:ext cx="6035040"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Je krijgt een verdeling over de kennisgebieden — bewaar hem</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60–69%: Associate. 70%+ opent de route naar Practitioner</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Practitioner vraagt daarnaast twee specialistexamens en ervaring</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Zak je: herkans gericht op grond van het scorerapport</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Elk geslaagd examen is drie jaar geldig — zet meteen een herinnering</a:t>
            </a:r>
            <a:endParaRPr lang="en-US" sz="1500" dirty="0"/>
          </a:p>
        </p:txBody>
      </p:sp>
      <p:sp>
        <p:nvSpPr>
          <p:cNvPr id="6" name="Shape 4"/>
          <p:cNvSpPr/>
          <p:nvPr/>
        </p:nvSpPr>
        <p:spPr>
          <a:xfrm>
            <a:off x="7223760" y="2148840"/>
            <a:ext cx="4297680" cy="2834640"/>
          </a:xfrm>
          <a:prstGeom prst="roundRect">
            <a:avLst>
              <a:gd name="adj" fmla="val 2581"/>
            </a:avLst>
          </a:prstGeom>
          <a:solidFill>
            <a:srgbClr val="F6F3EC"/>
          </a:solidFill>
          <a:ln w="12700">
            <a:solidFill>
              <a:srgbClr val="E2D9C4"/>
            </a:solidFill>
            <a:prstDash val="solid"/>
          </a:ln>
        </p:spPr>
      </p:sp>
      <p:sp>
        <p:nvSpPr>
          <p:cNvPr id="7" name="Text 5"/>
          <p:cNvSpPr/>
          <p:nvPr/>
        </p:nvSpPr>
        <p:spPr>
          <a:xfrm>
            <a:off x="7452360" y="2377440"/>
            <a:ext cx="3840480" cy="274320"/>
          </a:xfrm>
          <a:prstGeom prst="rect">
            <a:avLst/>
          </a:prstGeom>
          <a:noFill/>
          <a:ln/>
        </p:spPr>
        <p:txBody>
          <a:bodyPr wrap="square" lIns="0" tIns="0" rIns="0" bIns="0" rtlCol="0" anchor="ctr"/>
          <a:lstStyle/>
          <a:p>
            <a:pPr indent="0" marL="0">
              <a:buNone/>
            </a:pPr>
            <a:r>
              <a:rPr lang="en-US" sz="1100" b="1" spc="100" kern="0" dirty="0">
                <a:solidFill>
                  <a:srgbClr val="B0803A"/>
                </a:solidFill>
                <a:latin typeface="Calibri" pitchFamily="34" charset="0"/>
                <a:ea typeface="Calibri" pitchFamily="34" charset="-122"/>
                <a:cs typeface="Calibri" pitchFamily="34" charset="-120"/>
              </a:rPr>
              <a:t>VOORBEREIDING, GEEN VERVANGING</a:t>
            </a:r>
            <a:endParaRPr lang="en-US" sz="1100" dirty="0"/>
          </a:p>
        </p:txBody>
      </p:sp>
      <p:sp>
        <p:nvSpPr>
          <p:cNvPr id="8" name="Text 6"/>
          <p:cNvSpPr/>
          <p:nvPr/>
        </p:nvSpPr>
        <p:spPr>
          <a:xfrm>
            <a:off x="7452360" y="2743200"/>
            <a:ext cx="3840480" cy="2103120"/>
          </a:xfrm>
          <a:prstGeom prst="rect">
            <a:avLst/>
          </a:prstGeom>
          <a:noFill/>
          <a:ln/>
        </p:spPr>
        <p:txBody>
          <a:bodyPr wrap="square" lIns="0" tIns="0" rIns="0" bIns="0" rtlCol="0" anchor="t"/>
          <a:lstStyle/>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Ductus is niet gelieerd aan of geaccrediteerd door DAMA International. Dit materiaal reproduceert het DMBOK niet en vervangt het niet.</a:t>
            </a:r>
            <a:endParaRPr lang="en-US" sz="1250" dirty="0"/>
          </a:p>
          <a:p>
            <a:pPr indent="0" marL="0">
              <a:lnSpc>
                <a:spcPts val="1800"/>
              </a:lnSpc>
              <a:buNone/>
            </a:pPr>
            <a:endParaRPr lang="en-US" sz="1250" dirty="0"/>
          </a:p>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Schaf de DMBOK2 Revised Edition zelf aan — tijdens het examen is dat het enige toegestane hulpmiddel, in papier óf digitaal.</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AAN HET WERK</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Wat we vandaag doen</a:t>
            </a:r>
            <a:endParaRPr lang="en-US" sz="3400" dirty="0"/>
          </a:p>
        </p:txBody>
      </p:sp>
      <p:sp>
        <p:nvSpPr>
          <p:cNvPr id="4" name="Shape 2"/>
          <p:cNvSpPr/>
          <p:nvPr/>
        </p:nvSpPr>
        <p:spPr>
          <a:xfrm>
            <a:off x="640080" y="2377440"/>
            <a:ext cx="3456432" cy="2468880"/>
          </a:xfrm>
          <a:prstGeom prst="roundRect">
            <a:avLst>
              <a:gd name="adj" fmla="val 2963"/>
            </a:avLst>
          </a:prstGeom>
          <a:solidFill>
            <a:srgbClr val="17423F"/>
          </a:solidFill>
          <a:ln w="12700">
            <a:solidFill>
              <a:srgbClr val="2C5A56"/>
            </a:solidFill>
            <a:prstDash val="solid"/>
          </a:ln>
        </p:spPr>
      </p:sp>
      <p:sp>
        <p:nvSpPr>
          <p:cNvPr id="5" name="Shape 3"/>
          <p:cNvSpPr/>
          <p:nvPr/>
        </p:nvSpPr>
        <p:spPr>
          <a:xfrm>
            <a:off x="859536" y="2596896"/>
            <a:ext cx="384048" cy="384048"/>
          </a:xfrm>
          <a:prstGeom prst="ellipse">
            <a:avLst/>
          </a:prstGeom>
          <a:solidFill>
            <a:srgbClr val="3F7D74"/>
          </a:solidFill>
          <a:ln w="12700">
            <a:solidFill>
              <a:srgbClr val="3F7D74"/>
            </a:solidFill>
            <a:prstDash val="solid"/>
          </a:ln>
        </p:spPr>
      </p:sp>
      <p:sp>
        <p:nvSpPr>
          <p:cNvPr id="6" name="Text 4"/>
          <p:cNvSpPr/>
          <p:nvPr/>
        </p:nvSpPr>
        <p:spPr>
          <a:xfrm>
            <a:off x="859536"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7" name="Text 5"/>
          <p:cNvSpPr/>
          <p:nvPr/>
        </p:nvSpPr>
        <p:spPr>
          <a:xfrm>
            <a:off x="859536" y="3090672"/>
            <a:ext cx="3017520" cy="384048"/>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Proefexamen 1</a:t>
            </a:r>
            <a:endParaRPr lang="en-US" sz="1900" dirty="0"/>
          </a:p>
        </p:txBody>
      </p:sp>
      <p:sp>
        <p:nvSpPr>
          <p:cNvPr id="8" name="Text 6"/>
          <p:cNvSpPr/>
          <p:nvPr/>
        </p:nvSpPr>
        <p:spPr>
          <a:xfrm>
            <a:off x="859536" y="3511296"/>
            <a:ext cx="3017520" cy="1152144"/>
          </a:xfrm>
          <a:prstGeom prst="rect">
            <a:avLst/>
          </a:prstGeom>
          <a:noFill/>
          <a:ln/>
        </p:spPr>
        <p:txBody>
          <a:bodyPr wrap="square" lIns="0" tIns="0" rIns="0" bIns="0" rtlCol="0" anchor="t"/>
          <a:lstStyle/>
          <a:p>
            <a:pPr indent="0" marL="0">
              <a:lnSpc>
                <a:spcPts val="1700"/>
              </a:lnSpc>
              <a:buNone/>
            </a:pPr>
            <a:r>
              <a:rPr lang="en-US" sz="1300" dirty="0">
                <a:solidFill>
                  <a:srgbClr val="7FA893"/>
                </a:solidFill>
                <a:latin typeface="Calibri" pitchFamily="34" charset="0"/>
                <a:ea typeface="Calibri" pitchFamily="34" charset="-122"/>
                <a:cs typeface="Calibri" pitchFamily="34" charset="-120"/>
              </a:rPr>
              <a:t>100 vragen, 90 minuten, alleen je eigen boek. Echte condities.</a:t>
            </a:r>
            <a:endParaRPr lang="en-US" sz="1300" dirty="0"/>
          </a:p>
          <a:p>
            <a:pPr indent="0" marL="0">
              <a:lnSpc>
                <a:spcPts val="1700"/>
              </a:lnSpc>
              <a:buNone/>
            </a:pPr>
            <a:r>
              <a:rPr lang="en-US" sz="1300" dirty="0">
                <a:solidFill>
                  <a:srgbClr val="7FA893"/>
                </a:solidFill>
                <a:latin typeface="Calibri" pitchFamily="34" charset="0"/>
                <a:ea typeface="Calibri" pitchFamily="34" charset="-122"/>
                <a:cs typeface="Calibri" pitchFamily="34" charset="-120"/>
              </a:rPr>
              <a:t>90 minuten.</a:t>
            </a:r>
            <a:endParaRPr lang="en-US" sz="1300" dirty="0"/>
          </a:p>
        </p:txBody>
      </p:sp>
      <p:sp>
        <p:nvSpPr>
          <p:cNvPr id="9" name="Shape 7"/>
          <p:cNvSpPr/>
          <p:nvPr/>
        </p:nvSpPr>
        <p:spPr>
          <a:xfrm>
            <a:off x="4352544" y="2377440"/>
            <a:ext cx="3456432" cy="2468880"/>
          </a:xfrm>
          <a:prstGeom prst="roundRect">
            <a:avLst>
              <a:gd name="adj" fmla="val 2963"/>
            </a:avLst>
          </a:prstGeom>
          <a:solidFill>
            <a:srgbClr val="17423F"/>
          </a:solidFill>
          <a:ln w="12700">
            <a:solidFill>
              <a:srgbClr val="2C5A56"/>
            </a:solidFill>
            <a:prstDash val="solid"/>
          </a:ln>
        </p:spPr>
      </p:sp>
      <p:sp>
        <p:nvSpPr>
          <p:cNvPr id="10" name="Shape 8"/>
          <p:cNvSpPr/>
          <p:nvPr/>
        </p:nvSpPr>
        <p:spPr>
          <a:xfrm>
            <a:off x="4572000" y="2596896"/>
            <a:ext cx="384048" cy="384048"/>
          </a:xfrm>
          <a:prstGeom prst="ellipse">
            <a:avLst/>
          </a:prstGeom>
          <a:solidFill>
            <a:srgbClr val="3F7D74"/>
          </a:solidFill>
          <a:ln w="12700">
            <a:solidFill>
              <a:srgbClr val="3F7D74"/>
            </a:solidFill>
            <a:prstDash val="solid"/>
          </a:ln>
        </p:spPr>
      </p:sp>
      <p:sp>
        <p:nvSpPr>
          <p:cNvPr id="11" name="Text 9"/>
          <p:cNvSpPr/>
          <p:nvPr/>
        </p:nvSpPr>
        <p:spPr>
          <a:xfrm>
            <a:off x="4572000"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2" name="Text 10"/>
          <p:cNvSpPr/>
          <p:nvPr/>
        </p:nvSpPr>
        <p:spPr>
          <a:xfrm>
            <a:off x="4572000" y="3090672"/>
            <a:ext cx="3017520" cy="384048"/>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Scoreanalyse</a:t>
            </a:r>
            <a:endParaRPr lang="en-US" sz="1900" dirty="0"/>
          </a:p>
        </p:txBody>
      </p:sp>
      <p:sp>
        <p:nvSpPr>
          <p:cNvPr id="13" name="Text 11"/>
          <p:cNvSpPr/>
          <p:nvPr/>
        </p:nvSpPr>
        <p:spPr>
          <a:xfrm>
            <a:off x="4572000" y="3511296"/>
            <a:ext cx="3017520" cy="1152144"/>
          </a:xfrm>
          <a:prstGeom prst="rect">
            <a:avLst/>
          </a:prstGeom>
          <a:noFill/>
          <a:ln/>
        </p:spPr>
        <p:txBody>
          <a:bodyPr wrap="square" lIns="0" tIns="0" rIns="0" bIns="0" rtlCol="0" anchor="t"/>
          <a:lstStyle/>
          <a:p>
            <a:pPr indent="0" marL="0">
              <a:lnSpc>
                <a:spcPts val="1700"/>
              </a:lnSpc>
              <a:buNone/>
            </a:pPr>
            <a:r>
              <a:rPr lang="en-US" sz="1300" dirty="0">
                <a:solidFill>
                  <a:srgbClr val="7FA893"/>
                </a:solidFill>
                <a:latin typeface="Calibri" pitchFamily="34" charset="0"/>
                <a:ea typeface="Calibri" pitchFamily="34" charset="-122"/>
                <a:cs typeface="Calibri" pitchFamily="34" charset="-120"/>
              </a:rPr>
              <a:t>Score per gebied én foutentypering. Kennis, tempo of lezen?</a:t>
            </a:r>
            <a:endParaRPr lang="en-US" sz="1300" dirty="0"/>
          </a:p>
          <a:p>
            <a:pPr indent="0" marL="0">
              <a:lnSpc>
                <a:spcPts val="1700"/>
              </a:lnSpc>
              <a:buNone/>
            </a:pPr>
            <a:r>
              <a:rPr lang="en-US" sz="1300" dirty="0">
                <a:solidFill>
                  <a:srgbClr val="7FA893"/>
                </a:solidFill>
                <a:latin typeface="Calibri" pitchFamily="34" charset="0"/>
                <a:ea typeface="Calibri" pitchFamily="34" charset="-122"/>
                <a:cs typeface="Calibri" pitchFamily="34" charset="-120"/>
              </a:rPr>
              <a:t>40 minuten.</a:t>
            </a:r>
            <a:endParaRPr lang="en-US" sz="1300" dirty="0"/>
          </a:p>
        </p:txBody>
      </p:sp>
      <p:sp>
        <p:nvSpPr>
          <p:cNvPr id="14" name="Shape 12"/>
          <p:cNvSpPr/>
          <p:nvPr/>
        </p:nvSpPr>
        <p:spPr>
          <a:xfrm>
            <a:off x="8065008" y="2377440"/>
            <a:ext cx="3456432" cy="2468880"/>
          </a:xfrm>
          <a:prstGeom prst="roundRect">
            <a:avLst>
              <a:gd name="adj" fmla="val 2963"/>
            </a:avLst>
          </a:prstGeom>
          <a:solidFill>
            <a:srgbClr val="17423F"/>
          </a:solidFill>
          <a:ln w="12700">
            <a:solidFill>
              <a:srgbClr val="2C5A56"/>
            </a:solidFill>
            <a:prstDash val="solid"/>
          </a:ln>
        </p:spPr>
      </p:sp>
      <p:sp>
        <p:nvSpPr>
          <p:cNvPr id="15" name="Shape 13"/>
          <p:cNvSpPr/>
          <p:nvPr/>
        </p:nvSpPr>
        <p:spPr>
          <a:xfrm>
            <a:off x="8284464" y="2596896"/>
            <a:ext cx="384048" cy="384048"/>
          </a:xfrm>
          <a:prstGeom prst="ellipse">
            <a:avLst/>
          </a:prstGeom>
          <a:solidFill>
            <a:srgbClr val="3F7D74"/>
          </a:solidFill>
          <a:ln w="12700">
            <a:solidFill>
              <a:srgbClr val="3F7D74"/>
            </a:solidFill>
            <a:prstDash val="solid"/>
          </a:ln>
        </p:spPr>
      </p:sp>
      <p:sp>
        <p:nvSpPr>
          <p:cNvPr id="16" name="Text 14"/>
          <p:cNvSpPr/>
          <p:nvPr/>
        </p:nvSpPr>
        <p:spPr>
          <a:xfrm>
            <a:off x="8284464"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5"/>
          <p:cNvSpPr/>
          <p:nvPr/>
        </p:nvSpPr>
        <p:spPr>
          <a:xfrm>
            <a:off x="8284464" y="3090672"/>
            <a:ext cx="3017520" cy="384048"/>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Vraagtypen</a:t>
            </a:r>
            <a:endParaRPr lang="en-US" sz="1900" dirty="0"/>
          </a:p>
        </p:txBody>
      </p:sp>
      <p:sp>
        <p:nvSpPr>
          <p:cNvPr id="18" name="Text 16"/>
          <p:cNvSpPr/>
          <p:nvPr/>
        </p:nvSpPr>
        <p:spPr>
          <a:xfrm>
            <a:off x="8284464" y="3511296"/>
            <a:ext cx="3017520" cy="1152144"/>
          </a:xfrm>
          <a:prstGeom prst="rect">
            <a:avLst/>
          </a:prstGeom>
          <a:noFill/>
          <a:ln/>
        </p:spPr>
        <p:txBody>
          <a:bodyPr wrap="square" lIns="0" tIns="0" rIns="0" bIns="0" rtlCol="0" anchor="t"/>
          <a:lstStyle/>
          <a:p>
            <a:pPr indent="0" marL="0">
              <a:lnSpc>
                <a:spcPts val="1700"/>
              </a:lnSpc>
              <a:buNone/>
            </a:pPr>
            <a:r>
              <a:rPr lang="en-US" sz="1300" dirty="0">
                <a:solidFill>
                  <a:srgbClr val="7FA893"/>
                </a:solidFill>
                <a:latin typeface="Calibri" pitchFamily="34" charset="0"/>
                <a:ea typeface="Calibri" pitchFamily="34" charset="-122"/>
                <a:cs typeface="Calibri" pitchFamily="34" charset="-120"/>
              </a:rPr>
              <a:t>Tien fouten ontleden, en één keer zonder opties antwoorden.</a:t>
            </a:r>
            <a:endParaRPr lang="en-US" sz="1300" dirty="0"/>
          </a:p>
          <a:p>
            <a:pPr indent="0" marL="0">
              <a:lnSpc>
                <a:spcPts val="1700"/>
              </a:lnSpc>
              <a:buNone/>
            </a:pPr>
            <a:r>
              <a:rPr lang="en-US" sz="1300" dirty="0">
                <a:solidFill>
                  <a:srgbClr val="7FA893"/>
                </a:solidFill>
                <a:latin typeface="Calibri" pitchFamily="34" charset="0"/>
                <a:ea typeface="Calibri" pitchFamily="34" charset="-122"/>
                <a:cs typeface="Calibri" pitchFamily="34" charset="-120"/>
              </a:rPr>
              <a:t>35 minuten.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Examentraining Fundamentals</dc:title>
  <dc:subject>PptxGenJS Presentation</dc:subject>
  <dc:creator>Ductus B.V.</dc:creator>
  <cp:lastModifiedBy>Ductus B.V.</cp:lastModifiedBy>
  <cp:revision>1</cp:revision>
  <dcterms:created xsi:type="dcterms:W3CDTF">2026-08-05T10:35:02Z</dcterms:created>
  <dcterms:modified xsi:type="dcterms:W3CDTF">2026-08-05T10:35:02Z</dcterms:modified>
</cp:coreProperties>
</file>