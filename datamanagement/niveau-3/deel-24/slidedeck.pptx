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Controleer bij binnenkomst dat iedereen portaaltoegang heeft. Zonder die toegang kan een deelnemer de dag niet meemaken.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Ductus is geen geaccrediteerde DCAM-aanbieder en de cursus is niet erkend door de EDM Association. Zeg dat expliciet.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aantal sub-capabilities is de reden dat een volledig assessment weken kost. Dat is geen ontwerpfout maar de prijs van vergelijkbaarheid.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Wie DCAM gebruikt zonder DMBOK-kennis, scoort op begrippen die hij niet doorgrondt.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Zeg dit vóór de opdracht, niet bij de oplevering.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validatiesessie wordt het vaakst overgeslagen en bepaalt het meest of de uitkomst wordt geaccepteerd.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deelnemers in opdracht 3 hun middenscores tellen en na de bewijsvraag herzien. Er verschuift altijd een deel.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van rapporten die bij een herhaalmeting niet reproduceerbaar blijken.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Zo niet, dan is de herhaalmeting waardeloos — en dat is precies waar de hele DCAM-investering voor was bedoeld.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Een assessment dat overal het maximum als ambitie neemt, levert een tienjarige roadmap die na achttien maanden wordt gestaakt. En dan heet DCAM de boosdoener.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het examen ná het assessment. De praktijkervaring maakt het verschil, sterker dan bij het CDMP.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Huiswerk: opdracht 7 — de assessmentrapportage van maximaal twaalf pagina's, met bijlage en herhaalafspraak.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MEESTERSCHAP · DEEL 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DCAM v3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de praktijk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 raamwerk, vaste criteria, en vergelijkbaarheid als hoofddoel. Dat is strenger dan deel 11 — en op onderdelen ongemakkelijker.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6 uur klassikaal  ·  Casus Meridiaan Pensioen N.V.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AFSPRAAK VOORAF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 materiaal bevat geen frameworkinhoud.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DCAM-framework is eigendom van de EDM Association en uitsluitend voor leden beschikbaar. Wij leren de toepassing: inrichten, scoren, bewijs verzamelen, kalibreren, vertalen naar een roadmap. De criteria lees je in je eigen Knowledge Portal.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lagen — je scoort op de onderste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84048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Waar je op scoort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Gevolg voor het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Niet direct; volgt uit de lagen eronder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Bestuurlijke rapportagelaag — hier praat je met de 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Afgeleid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Nuttig voor het gesprek met een domeindirecteur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Sub-capability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 scoor je daadwerkelijk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 zit het werk, en hier is de discipline nodig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het detailniveau overslaat en direct op componentniveau een cijfer geeft, levert een DCAM-vormige rapportage zonder DCAM-waarde.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NAAST ELKAAR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DMBOK, DCAM en CMMI-DMM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  <a:gridCol w="2834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DMBOK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CMMI-DMM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Naslagwerk en taal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Scorebaar assessmentraamwerk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Volwassenheidsmodel, procesgericht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Beschikbaarheid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Vrij te koop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Uitsluitend voor leden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ISACA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Kennisgebieden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Sub-capabilities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Procesgebieden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Vergelijkbaarheid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Geen — eigen schaal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 hoofddoel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Binnen de CMMI-familie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DMBOK levert de taal en de diepgang, DCAM de meetlat. Ze concurreren niet — ze vullen elkaar aan.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JE TEGEN DE OPDRACHTGEVER ZEGT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DCAM zegt hoe je ervoor staat.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Niet wat je als eerste moet doen.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Daarvoor is de vertaalslag naar een roadmap nodig. Organisaties die DCAM inzetten en verwachten dat de roadmap eruit rolt, zijn achteraf teleurgesteld — en wijten dat aan het framework.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 tot vijftien weken — de score is het kleinste deel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  <a:gridCol w="28346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er gebeurt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Doorlooptijd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en opzet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Componenten, domeinen, diepgang, assessoren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tot 2 weken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Voorbereiding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Respondentenplan, documentaanvraag, planning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Dataverzameling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Interviews, documentstudie, waarnemingen in systemen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tot 6 weken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Onafhankelijk, op sub-capabilityniveau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tot 2 weken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Kalibratie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Verschillen herleiden en vaststellen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tot 5 dagen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Rapport, validatiesessie, oplevering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weken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"Kan het in drie weken?" is geen tempo-vraag maar een scopevraag. Bespreek de scope in plaats van het tempo te verhogen.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MIDDENNEIGING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Bij twijfel is de vraag niet hoe volwassen dit voelt.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Maar: welk bewijs heb ik, en welk scoreniveau draagt dat bewijs? Die vraag leidt bijna altijd naar boven of naar beneden — niet naar het midden. Een organisatie die overal in het midden scoort, krijgt een rapport zonder richting: geen sterk punt om op voort te bouwen, geen zwak punt om aan te pakken.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BEWIJS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Eén artefact bewijst één ding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48463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lijkt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 het 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A4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Begrippenkader met eigenaren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Bewijs voor alles rond begripsbeheer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Bewijs voor het bestaan — niet voor wijzigingsproces, dekking of gebruik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draaien kwaliteitsregels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Bewijs voor het kwaliteitscomponent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Bewijs voor meting — niet voor normstelling, remediatie of borging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is een besluitrechtenmatrix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Bewijs voor 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E1A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Bewijs voor vastlegging — niet voor toepassing; vraag naar de laatste vijf besluiten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Assessoren gebruiken één artefact voor drie sub-capabilities. Dat is de meest voorkomende oorzaak van scores die bij kalibratie ver uiteenlopen.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KALIBRATIE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 het niveau waarop je hebt gescoord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per component minstens twee sub-capabilities dubbel scoren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Kalibreer eerst op die overlap — een systematisch verschil zit ook in de rest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Herleid elk verschil naar het bewijsstuk, niet naar interpretatie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vast op sub-capabilityniveau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7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Drie systematische afwijkingen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interne assessor scoort hoger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 meeste interviews deed, scoort lager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E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het onderwerp het beste kent, scoort strenger — hij weet wat er nog meer mogelijk 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toets: is jouw kalibratienotitie over twee jaar leesbaar voor iemand die er nu niet bij was?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laagste scores zijn niet je agenda.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4160520"/>
            <a:ext cx="9052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laagste score is niet noodzakelijk het grootste risico, sommige sub-capabilities zijn pas te verbeteren nadat andere op orde zijn, en het benodigde niveau verschilt per component. Bepaal wat de organisatie moet kunnen — het maximum is meestal niet nodig en niet betaalbaar.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7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HERHAALMETING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voorwaarden voor een betekenisvolle vergelijking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zit de hele waarde van DCAM.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Dezelfde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een expliciet gedocumenteerd verschil. Een uitgebreide scope die als groei wordt gepresenteerd, is misleiding.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4428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3884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3884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43884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Dezelfde discipline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3884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 team eerst, mild team later? Dan meet je het team, niet de organisatie.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08776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28232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28232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kalibratienotitie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28232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eerste meting, gebruikt bij de tweede. Zonder die notitie is het verschil niet te duiden.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93124" y="2286000"/>
            <a:ext cx="2528316" cy="2651760"/>
          </a:xfrm>
          <a:prstGeom prst="roundRect">
            <a:avLst>
              <a:gd name="adj" fmla="val 2893"/>
            </a:avLst>
          </a:prstGeom>
          <a:solidFill>
            <a:srgbClr val="F1F4F2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12580" y="250545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258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12580" y="299923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1A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Dezelfde bewijslat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12580" y="3419856"/>
            <a:ext cx="208940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tweede meting waarin uitspraken zwaarder wegen, laat groei zien die er niet is.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bij de eerste meting vast hoe de tweede wordt uitgevoerd, inclusief wie assessor is. Dat voelt vroeg en het is de enige manier.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 HET WERK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 vandaag doen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componenten, sub-capability voor sub-capability. En tel je middenscores.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4428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3884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3884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Bewijs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43884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artefacten. Drie bewijzen minder dan ze lijken.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8232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Kalibreren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28232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bij de overlap, en schrijf een notitie die over twee jaar nog leesbaar is.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minuten.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93124" y="2377440"/>
            <a:ext cx="2528316" cy="2468880"/>
          </a:xfrm>
          <a:prstGeom prst="roundRect">
            <a:avLst>
              <a:gd name="adj" fmla="val 2963"/>
            </a:avLst>
          </a:prstGeom>
          <a:solidFill>
            <a:srgbClr val="17423F"/>
          </a:solidFill>
          <a:ln w="12700">
            <a:solidFill>
              <a:srgbClr val="2C5A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12580" y="2596896"/>
            <a:ext cx="384048" cy="384048"/>
          </a:xfrm>
          <a:prstGeom prst="ellipse">
            <a:avLst/>
          </a:prstGeom>
          <a:solidFill>
            <a:srgbClr val="3F7D74"/>
          </a:solidFill>
          <a:ln w="12700">
            <a:solidFill>
              <a:srgbClr val="3F7D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258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12580" y="3090672"/>
            <a:ext cx="20894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12580" y="3511296"/>
            <a:ext cx="20894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Benodigd niveau per component — en vergelijk met de laagste-scores-agenda.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F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DCAM v3 in de praktijk</dc:title>
  <dc:subject>PptxGenJS Presentation</dc:subject>
  <dc:creator>Ductus B.V.</dc:creator>
  <cp:lastModifiedBy>Ductus B.V.</cp:lastModifiedBy>
  <cp:revision>1</cp:revision>
  <dcterms:created xsi:type="dcterms:W3CDTF">2026-08-05T14:04:35Z</dcterms:created>
  <dcterms:modified xsi:type="dcterms:W3CDTF">2026-08-05T14:04:35Z</dcterms:modified>
</cp:coreProperties>
</file>