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Vraag naar doodgebloede governance-initiatieven en verzamel de oorzaken op het bord. Die lijst gebruik je de hele dag.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Deel 16 ontwierp de inrichting. Dit deel zorgt dat zij over drie jaar nog werkt.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 laatste vraagt andere mensen. Dat gesprek wordt vrijwel nooit tijdig gevoerd.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is de meest gemaakte fout bij fusies en de duurste, omdat hij pas na twee jaar zichtbaar wordt.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verleiding is een inhoudelijke norm te versimpelen tot een structurele. Dan meet je of er iets is, niet of het klopt.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Nodig: controls die zichzelf registreren, een controlregister, bewaard bewijs dát ze draaiden, monitoring op de controls, en waivers met vervaldatum.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Vier dingen werken op schaal anders: competentie, opvolging, gemeenschap, en het accepteren van verschil.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Wie dat niet zelf benoemt, verliest bij de eerstvolgende bezuiniging het budget — en terecht.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Zodra domeinen hun cijfers gaan beheren in plaats van hun data, is de zichtbaarheidsinterventie omgeslagen.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is de directe terugkoppeling naar deel 16 — en het is het antwoord op de vraag waarom zoveel programma's daar vastlopen.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component wordt in deel 24 daadwerkelijk gescoord in een DCAM-assessment.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Huiswerk: opdracht 7 — de cultuurinterventie, met de diagnose van je eigen doodgebloede initiatief.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828800"/>
            <a:ext cx="9144000" cy="365760"/>
          </a:xfrm>
          <a:prstGeom prst="rect">
            <a:avLst/>
          </a:prstGeom>
          <a:noFill/>
          <a:ln/>
        </p:spPr>
        <p:txBody>
          <a:bodyPr wrap="square" lIns="0" tIns="0" rIns="0" bIns="0" rtlCol="0" anchor="ctr"/>
          <a:lstStyle/>
          <a:p>
            <a:pPr indent="0" marL="0">
              <a:buNone/>
            </a:pPr>
            <a:r>
              <a:rPr lang="en-US" sz="1300" b="1" spc="400" kern="0" dirty="0">
                <a:solidFill>
                  <a:srgbClr val="7FA893"/>
                </a:solidFill>
                <a:latin typeface="Calibri" pitchFamily="34" charset="0"/>
                <a:ea typeface="Calibri" pitchFamily="34" charset="-122"/>
                <a:cs typeface="Calibri" pitchFamily="34" charset="-120"/>
              </a:rPr>
              <a:t>NIVEAU 3 · MEESTERSCHAP · DEEL 25</a:t>
            </a:r>
            <a:endParaRPr lang="en-US" sz="1300" dirty="0"/>
          </a:p>
        </p:txBody>
      </p:sp>
      <p:sp>
        <p:nvSpPr>
          <p:cNvPr id="3" name="Text 1"/>
          <p:cNvSpPr/>
          <p:nvPr/>
        </p:nvSpPr>
        <p:spPr>
          <a:xfrm>
            <a:off x="640080" y="2286000"/>
            <a:ext cx="10058400" cy="1828800"/>
          </a:xfrm>
          <a:prstGeom prst="rect">
            <a:avLst/>
          </a:prstGeom>
          <a:noFill/>
          <a:ln/>
        </p:spPr>
        <p:txBody>
          <a:bodyPr wrap="square" lIns="0" tIns="0" rIns="0" bIns="0" rtlCol="0" anchor="ctr"/>
          <a:lstStyle/>
          <a:p>
            <a:pPr indent="0" marL="0">
              <a:lnSpc>
                <a:spcPts val="5400"/>
              </a:lnSpc>
              <a:buNone/>
            </a:pPr>
            <a:r>
              <a:rPr lang="en-US" sz="4600" b="1" dirty="0">
                <a:solidFill>
                  <a:srgbClr val="FFFFFF"/>
                </a:solidFill>
                <a:latin typeface="Cambria" pitchFamily="34" charset="0"/>
                <a:ea typeface="Cambria" pitchFamily="34" charset="-122"/>
                <a:cs typeface="Cambria" pitchFamily="34" charset="-120"/>
              </a:rPr>
              <a:t>Federatieve governance</a:t>
            </a:r>
            <a:endParaRPr lang="en-US" sz="4600" dirty="0"/>
          </a:p>
          <a:p>
            <a:pPr indent="0" marL="0">
              <a:lnSpc>
                <a:spcPts val="5400"/>
              </a:lnSpc>
              <a:buNone/>
            </a:pPr>
            <a:r>
              <a:rPr lang="en-US" sz="4600" b="1" dirty="0">
                <a:solidFill>
                  <a:srgbClr val="FFFFFF"/>
                </a:solidFill>
                <a:latin typeface="Cambria" pitchFamily="34" charset="0"/>
                <a:ea typeface="Cambria" pitchFamily="34" charset="-122"/>
                <a:cs typeface="Cambria" pitchFamily="34" charset="-120"/>
              </a:rPr>
              <a:t>op schaal</a:t>
            </a:r>
            <a:endParaRPr lang="en-US" sz="4600" dirty="0"/>
          </a:p>
        </p:txBody>
      </p:sp>
      <p:sp>
        <p:nvSpPr>
          <p:cNvPr id="4" name="Text 2"/>
          <p:cNvSpPr/>
          <p:nvPr/>
        </p:nvSpPr>
        <p:spPr>
          <a:xfrm>
            <a:off x="640080" y="4297680"/>
            <a:ext cx="8961120" cy="548640"/>
          </a:xfrm>
          <a:prstGeom prst="rect">
            <a:avLst/>
          </a:prstGeom>
          <a:noFill/>
          <a:ln/>
        </p:spPr>
        <p:txBody>
          <a:bodyPr wrap="square" lIns="0" tIns="0" rIns="0" bIns="0" rtlCol="0" anchor="ctr"/>
          <a:lstStyle/>
          <a:p>
            <a:pPr indent="0" marL="0">
              <a:buNone/>
            </a:pPr>
            <a:r>
              <a:rPr lang="en-US" sz="1700" dirty="0">
                <a:solidFill>
                  <a:srgbClr val="7FA893"/>
                </a:solidFill>
                <a:latin typeface="Calibri" pitchFamily="34" charset="0"/>
                <a:ea typeface="Calibri" pitchFamily="34" charset="-122"/>
                <a:cs typeface="Calibri" pitchFamily="34" charset="-120"/>
              </a:rPr>
              <a:t>De fusie is een jaar oud. De inrichting staat op papier. En nu begint het echte werk: het volhouden.</a:t>
            </a:r>
            <a:endParaRPr lang="en-US" sz="1700" dirty="0"/>
          </a:p>
        </p:txBody>
      </p:sp>
      <p:sp>
        <p:nvSpPr>
          <p:cNvPr id="5" name="Text 3"/>
          <p:cNvSpPr/>
          <p:nvPr/>
        </p:nvSpPr>
        <p:spPr>
          <a:xfrm>
            <a:off x="640080" y="6035040"/>
            <a:ext cx="10058400" cy="365760"/>
          </a:xfrm>
          <a:prstGeom prst="rect">
            <a:avLst/>
          </a:prstGeom>
          <a:noFill/>
          <a:ln/>
        </p:spPr>
        <p:txBody>
          <a:bodyPr wrap="square" lIns="0" tIns="0" rIns="0" bIns="0" rtlCol="0" anchor="ctr"/>
          <a:lstStyle/>
          <a:p>
            <a:pPr indent="0" marL="0">
              <a:buNone/>
            </a:pPr>
            <a:r>
              <a:rPr lang="en-US" sz="1200" dirty="0">
                <a:solidFill>
                  <a:srgbClr val="8FAFA5"/>
                </a:solidFill>
                <a:latin typeface="Calibri" pitchFamily="34" charset="0"/>
                <a:ea typeface="Calibri" pitchFamily="34" charset="-122"/>
                <a:cs typeface="Calibri" pitchFamily="34" charset="-120"/>
              </a:rPr>
              <a:t>Ductus B.V.  ·  5 uur klassikaal  ·  Casus Meridiaan Pensioen N.V.</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DE ONGEMAKKELIJKE WAARHEID</a:t>
            </a:r>
            <a:endParaRPr lang="en-US" sz="1100" dirty="0"/>
          </a:p>
        </p:txBody>
      </p:sp>
      <p:sp>
        <p:nvSpPr>
          <p:cNvPr id="3" name="Text 1"/>
          <p:cNvSpPr/>
          <p:nvPr/>
        </p:nvSpPr>
        <p:spPr>
          <a:xfrm>
            <a:off x="640080" y="2011680"/>
            <a:ext cx="10881360" cy="1828800"/>
          </a:xfrm>
          <a:prstGeom prst="rect">
            <a:avLst/>
          </a:prstGeom>
          <a:noFill/>
          <a:ln/>
        </p:spPr>
        <p:txBody>
          <a:bodyPr wrap="square" lIns="0" tIns="0" rIns="0" bIns="0" rtlCol="0" anchor="t"/>
          <a:lstStyle/>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Governance sneuvelt vrijwel nooit op het ontwerp.</a:t>
            </a:r>
            <a:endParaRPr lang="en-US" sz="3200" dirty="0"/>
          </a:p>
        </p:txBody>
      </p:sp>
      <p:sp>
        <p:nvSpPr>
          <p:cNvPr id="4" name="Text 2"/>
          <p:cNvSpPr/>
          <p:nvPr/>
        </p:nvSpPr>
        <p:spPr>
          <a:xfrm>
            <a:off x="640080" y="4160520"/>
            <a:ext cx="9052560" cy="1280160"/>
          </a:xfrm>
          <a:prstGeom prst="rect">
            <a:avLst/>
          </a:prstGeom>
          <a:noFill/>
          <a:ln/>
        </p:spPr>
        <p:txBody>
          <a:bodyPr wrap="square" lIns="0" tIns="0" rIns="0" bIns="0" rtlCol="0" anchor="t"/>
          <a:lstStyle/>
          <a:p>
            <a:pPr indent="0" marL="0">
              <a:lnSpc>
                <a:spcPts val="2200"/>
              </a:lnSpc>
              <a:buNone/>
            </a:pPr>
            <a:r>
              <a:rPr lang="en-US" sz="1500" dirty="0">
                <a:solidFill>
                  <a:srgbClr val="7FA893"/>
                </a:solidFill>
                <a:latin typeface="Calibri" pitchFamily="34" charset="0"/>
                <a:ea typeface="Calibri" pitchFamily="34" charset="-122"/>
                <a:cs typeface="Calibri" pitchFamily="34" charset="-120"/>
              </a:rPr>
              <a:t>Zij sneuvelt op de vierde maand waarin de domeinraad geen quorum haalt, op de steward die van functie wisselt en niet wordt vervangen, en op de KPI die twee jaar op hetzelfde niveau staat zonder dat iemand het bespreekt.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DE OVERGANG</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Centraal naar federatief is een machtsverschuiving</a:t>
            </a:r>
            <a:endParaRPr lang="en-US" sz="3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2377440"/>
                <a:gridCol w="4023360"/>
                <a:gridCol w="4480560"/>
              </a:tblGrid>
              <a:tr h="457200">
                <a:tc>
                  <a:txBody>
                    <a:bodyPr/>
                    <a:lstStyle/>
                    <a:p>
                      <a:pPr indent="0" marL="0">
                        <a:buNone/>
                      </a:pP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Centraal</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Federatief</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57200">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Wie stelt de norm</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Het centrale team</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Het centrale orgaan, met domeinen aan tafel</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Wie voert uit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Het centrale team</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De domeinen, zelfstandig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57200">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Wie merkt een overtreding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Het centrale team, achteraf</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Het systeem, direct — of niemand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Waar zit de kennis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Bij een klein team, diep</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Verspreid, ondieper, kwetsbaarder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57200">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Grootste risico</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Bottleneck en vervreemding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Divergentie en ongelijke kwaliteit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bl>
          </a:graphicData>
        </a:graphic>
      </p:graphicFrame>
      <p:sp>
        <p:nvSpPr>
          <p:cNvPr id="5" name="Text 2"/>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Drie dingen verschuiven en worden zelden benoemd: de kennis verdunt, de ongelijkheid wordt zichtbaar, en het centrale team verandert van uitvoerder in enabler.</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BIJ EEN FUSIE</a:t>
            </a:r>
            <a:endParaRPr lang="en-US" sz="1100" dirty="0"/>
          </a:p>
        </p:txBody>
      </p:sp>
      <p:sp>
        <p:nvSpPr>
          <p:cNvPr id="3" name="Text 1"/>
          <p:cNvSpPr/>
          <p:nvPr/>
        </p:nvSpPr>
        <p:spPr>
          <a:xfrm>
            <a:off x="640080" y="2011680"/>
            <a:ext cx="10881360" cy="1828800"/>
          </a:xfrm>
          <a:prstGeom prst="rect">
            <a:avLst/>
          </a:prstGeom>
          <a:noFill/>
          <a:ln/>
        </p:spPr>
        <p:txBody>
          <a:bodyPr wrap="square" lIns="0" tIns="0" rIns="0" bIns="0" rtlCol="0" anchor="t"/>
          <a:lstStyle/>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Federatief werkt niet in het eerste jaar.</a:t>
            </a:r>
            <a:endParaRPr lang="en-US" sz="3200" dirty="0"/>
          </a:p>
        </p:txBody>
      </p:sp>
      <p:sp>
        <p:nvSpPr>
          <p:cNvPr id="4" name="Text 2"/>
          <p:cNvSpPr/>
          <p:nvPr/>
        </p:nvSpPr>
        <p:spPr>
          <a:xfrm>
            <a:off x="640080" y="4160520"/>
            <a:ext cx="9052560" cy="1280160"/>
          </a:xfrm>
          <a:prstGeom prst="rect">
            <a:avLst/>
          </a:prstGeom>
          <a:noFill/>
          <a:ln/>
        </p:spPr>
        <p:txBody>
          <a:bodyPr wrap="square" lIns="0" tIns="0" rIns="0" bIns="0" rtlCol="0" anchor="t"/>
          <a:lstStyle/>
          <a:p>
            <a:pPr indent="0" marL="0">
              <a:lnSpc>
                <a:spcPts val="2200"/>
              </a:lnSpc>
              <a:buNone/>
            </a:pPr>
            <a:r>
              <a:rPr lang="en-US" sz="1500" dirty="0">
                <a:solidFill>
                  <a:srgbClr val="7FA893"/>
                </a:solidFill>
                <a:latin typeface="Calibri" pitchFamily="34" charset="0"/>
                <a:ea typeface="Calibri" pitchFamily="34" charset="-122"/>
                <a:cs typeface="Calibri" pitchFamily="34" charset="-120"/>
              </a:rPr>
              <a:t>Domeinen weten nog niet wat er van hen wordt verwacht en hebben de capaciteit niet. Begin centraal op de gedeelde normen, en word federatief zodra de domeinen stabiel zijn. Wie het omkeert, krijgt divergentie voordat er iets gedeeld is.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GOVERNANCE AS CODE</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Drie categorieën normen</a:t>
            </a:r>
            <a:endParaRPr lang="en-US" sz="3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1828800"/>
                <a:gridCol w="4572000"/>
                <a:gridCol w="2011680"/>
                <a:gridCol w="2468880"/>
              </a:tblGrid>
              <a:tr h="54864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Categorie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Voorbeeld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 code?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Anders borgen via</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548640">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Structureel</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Elke dataset heeft eigenaar, classificatie en bewaartermijn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Ja, volledig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548640">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Meetbaar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Kwaliteit boven de drempel, actualiteit binnen de norm</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Ja, met een meting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Escalatie bij overschrijding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548640">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Inhoudelijk</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De definitie klopt, de classificatie is passend, het gebruik is verantwoord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Nee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Beoordeling, steekproef, review</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bl>
          </a:graphicData>
        </a:graphic>
      </p:graphicFrame>
      <p:sp>
        <p:nvSpPr>
          <p:cNvPr id="5" name="Text 2"/>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Vuistregel: de helft structureel, een kwart meetbaar, een kwart inhoudelijk. Dat laatste kwart is waar de waarde zit — en waar de aandacht niet heen gaat.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VERANTWOORDING</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Periodiek of continu</a:t>
            </a:r>
            <a:endParaRPr lang="en-US" sz="3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2743200"/>
                <a:gridCol w="4023360"/>
                <a:gridCol w="4114800"/>
              </a:tblGrid>
              <a:tr h="475488">
                <a:tc>
                  <a:txBody>
                    <a:bodyPr/>
                    <a:lstStyle/>
                    <a:p>
                      <a:pPr indent="0" marL="0">
                        <a:buNone/>
                      </a:pP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Periodiek</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Continu</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75488">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Wanneer bewijs ontstaat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Bij de audit, achteraf gereconstrueerd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Tijdens de verwerking, automatisch</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75488">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Wat een bevinding betekent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Een probleem uit het verleden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Een afwijking van nu, met een eigenaar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75488">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Inspanning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Piek rond de audit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Constant en laag, mits ingericht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75488">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Wat de toezichthouder ziet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Een momentopname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De werking van de beheersing over tijd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bl>
          </a:graphicData>
        </a:graphic>
      </p:graphicFrame>
      <p:sp>
        <p:nvSpPr>
          <p:cNvPr id="5" name="Text 2"/>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De laatste rij is het argument voor de board: dat is het verschil tussen een bevinding en een gesprek.</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STEWARDSHIP OP SCHAAL</a:t>
            </a:r>
            <a:endParaRPr lang="en-US" sz="1100" dirty="0"/>
          </a:p>
        </p:txBody>
      </p:sp>
      <p:sp>
        <p:nvSpPr>
          <p:cNvPr id="3" name="Text 1"/>
          <p:cNvSpPr/>
          <p:nvPr/>
        </p:nvSpPr>
        <p:spPr>
          <a:xfrm>
            <a:off x="640080" y="2011680"/>
            <a:ext cx="10881360" cy="1828800"/>
          </a:xfrm>
          <a:prstGeom prst="rect">
            <a:avLst/>
          </a:prstGeom>
          <a:noFill/>
          <a:ln/>
        </p:spPr>
        <p:txBody>
          <a:bodyPr wrap="square" lIns="0" tIns="0" rIns="0" bIns="0" rtlCol="0" anchor="t"/>
          <a:lstStyle/>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Bij negen stewards wisselt er elk jaar minstens één.</a:t>
            </a:r>
            <a:endParaRPr lang="en-US" sz="3200" dirty="0"/>
          </a:p>
        </p:txBody>
      </p:sp>
      <p:sp>
        <p:nvSpPr>
          <p:cNvPr id="4" name="Text 2"/>
          <p:cNvSpPr/>
          <p:nvPr/>
        </p:nvSpPr>
        <p:spPr>
          <a:xfrm>
            <a:off x="640080" y="4160520"/>
            <a:ext cx="9052560" cy="1280160"/>
          </a:xfrm>
          <a:prstGeom prst="rect">
            <a:avLst/>
          </a:prstGeom>
          <a:noFill/>
          <a:ln/>
        </p:spPr>
        <p:txBody>
          <a:bodyPr wrap="square" lIns="0" tIns="0" rIns="0" bIns="0" rtlCol="0" anchor="t"/>
          <a:lstStyle/>
          <a:p>
            <a:pPr indent="0" marL="0">
              <a:lnSpc>
                <a:spcPts val="2200"/>
              </a:lnSpc>
              <a:buNone/>
            </a:pPr>
            <a:r>
              <a:rPr lang="en-US" sz="1500" dirty="0">
                <a:solidFill>
                  <a:srgbClr val="7FA893"/>
                </a:solidFill>
                <a:latin typeface="Calibri" pitchFamily="34" charset="0"/>
                <a:ea typeface="Calibri" pitchFamily="34" charset="-122"/>
                <a:cs typeface="Calibri" pitchFamily="34" charset="-120"/>
              </a:rPr>
              <a:t>Zonder overdrachtsafspraak verdwijnt met hem de kennis van zijn domein. Dat is de meest voorkomende manier waarop federatieve governance verwatert — en de opvolgingsafspraak is de goedkoopste tegenmaatregel die er bestaat. Vrijwel geen enkele organisatie legt hem vast.</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STAGNATIE</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Aan de cijfers te zien vóór het aan de stemming te merken is</a:t>
            </a:r>
            <a:endParaRPr lang="en-US" sz="3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2560320"/>
                <a:gridCol w="3840480"/>
                <a:gridCol w="4480560"/>
              </a:tblGrid>
              <a:tr h="40233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Indicator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Wat je meet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Stagnatiesignaal</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02336">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Dekking eigenaarschap</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Kritieke domeinen met actieve owner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Blijft twee kwartalen op hetzelfde niveau</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Doorlooptijd besluiten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Mediaan per besluittype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Stijgt terwijl het aantal besluiten daalt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02336">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Aantal besluiten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Per orgaan per kwartaal</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Daalt zonder dat er minder te beslissen valt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Open waivers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Aantal en gemiddelde leeftijd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Leeftijd stijgt: niemand herbeoordeelt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02336">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Controluitvoering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Aandeel controls dat draait zoals bedoeld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Daalt langzaam; niemand merkt het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Kwaliteitsscore KDE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De uitkomstmaat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Vlak, terwijl de rest stijgt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bl>
          </a:graphicData>
        </a:graphic>
      </p:graphicFrame>
      <p:sp>
        <p:nvSpPr>
          <p:cNvPr id="5" name="Text 2"/>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De laatste rij is de gevaarlijkste combinatie: alle procesindicatoren goed en de uitkomst beweegt niet. Het programma meet zichzelf.</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CULTUUR</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Je verandert geen houding, je verandert gedrag</a:t>
            </a:r>
            <a:endParaRPr lang="en-US" sz="3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3108960"/>
                <a:gridCol w="2560320"/>
                <a:gridCol w="2011680"/>
                <a:gridCol w="3200400"/>
              </a:tblGrid>
              <a:tr h="42062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Interventie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Grijpt aan op</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Werkt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Werkt niet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Rol in functieprofiel met uren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Formele verwachting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Structureel</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Als de leidinggevende het niet bespreekt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Verschillen tussen domeinen zichtbaar maken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Sociale vergelijking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Snel en sterk</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Als het als afrekening voelt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Voorbeeldgedrag van een directeur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Legitimering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Zeer sterk, kort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Zonder herhaling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Verhalen over concrete gevallen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Betekenisgeving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Blijvend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Als ze abstract worden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Communicatiecampagne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Bewustzijn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Zelden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Vrijwel altijd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bl>
          </a:graphicData>
        </a:graphic>
      </p:graphicFrame>
      <p:sp>
        <p:nvSpPr>
          <p:cNvPr id="5" name="Text 2"/>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Een campagne impliceert dat het probleem onwetendheid is. In vrijwel alle gevallen is het tijd, mandaat of prikkel.</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VOLWASSENHEID</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Waarom 3 naar 4 zo lang duurt</a:t>
            </a:r>
            <a:endParaRPr lang="en-US" sz="3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1737360"/>
                <a:gridCol w="4023360"/>
                <a:gridCol w="2194560"/>
                <a:gridCol w="2926080"/>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Overgang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Wat er moet gebeuren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Duur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Waar het strandt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57200">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1 naar 2</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Vastleggen wat er al gebeurt, per afdeling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Maanden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Zelden — dit lukt bijna altijd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2 naar 3</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Organisatiebreed vaststellen en bekendmaken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Een tot twee jaar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Op het vaststellen: niemand durft te kiezen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57200">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3 naar 4</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Meten en op grond daarvan bijsturen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Twee tot vier jaar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Op het bijsturen: er wordt gemeten en niets gedaan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4 naar 5</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Verbeteren zonder programma</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Zelden bereikt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Op de aanname dat het nodig is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bl>
          </a:graphicData>
        </a:graphic>
      </p:graphicFrame>
      <p:sp>
        <p:nvSpPr>
          <p:cNvPr id="5" name="Text 2"/>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Wie op niveau 3 blijft hangen, moet niet naar zijn dashboard kijken maar naar zijn escalatiepaden. Dat is een besluitrechtprobleem, geen meetprobleem.</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EXAMENLIJN</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DCAM · controle en volwassenheid</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Plus CDMP Data Governance en het datamanagementproces, op de 80%-band.</a:t>
            </a:r>
            <a:endParaRPr lang="en-US" sz="1600" dirty="0"/>
          </a:p>
        </p:txBody>
      </p:sp>
      <p:sp>
        <p:nvSpPr>
          <p:cNvPr id="5" name="Text 3"/>
          <p:cNvSpPr/>
          <p:nvPr/>
        </p:nvSpPr>
        <p:spPr>
          <a:xfrm>
            <a:off x="640080" y="2286000"/>
            <a:ext cx="603504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Centraal, federatief en decentraal, met de risico’s van elk</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Volwassenheidsniveaus en wat elke overgang vraagt</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De relatie tussen meting, besluitrecht en bijsturing</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Continue verantwoording tegenover periodieke audit</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Engels: federated governance, policy as code, continuous control monitoring</a:t>
            </a:r>
            <a:endParaRPr lang="en-US" sz="1500" dirty="0"/>
          </a:p>
        </p:txBody>
      </p:sp>
      <p:sp>
        <p:nvSpPr>
          <p:cNvPr id="6" name="Shape 4"/>
          <p:cNvSpPr/>
          <p:nvPr/>
        </p:nvSpPr>
        <p:spPr>
          <a:xfrm>
            <a:off x="7223760" y="2148840"/>
            <a:ext cx="4297680" cy="2834640"/>
          </a:xfrm>
          <a:prstGeom prst="roundRect">
            <a:avLst>
              <a:gd name="adj" fmla="val 2581"/>
            </a:avLst>
          </a:prstGeom>
          <a:solidFill>
            <a:srgbClr val="F6F3EC"/>
          </a:solidFill>
          <a:ln w="12700">
            <a:solidFill>
              <a:srgbClr val="E2D9C4"/>
            </a:solidFill>
            <a:prstDash val="solid"/>
          </a:ln>
        </p:spPr>
      </p:sp>
      <p:sp>
        <p:nvSpPr>
          <p:cNvPr id="7" name="Text 5"/>
          <p:cNvSpPr/>
          <p:nvPr/>
        </p:nvSpPr>
        <p:spPr>
          <a:xfrm>
            <a:off x="7452360" y="2377440"/>
            <a:ext cx="3840480" cy="274320"/>
          </a:xfrm>
          <a:prstGeom prst="rect">
            <a:avLst/>
          </a:prstGeom>
          <a:noFill/>
          <a:ln/>
        </p:spPr>
        <p:txBody>
          <a:bodyPr wrap="square" lIns="0" tIns="0" rIns="0" bIns="0" rtlCol="0" anchor="ctr"/>
          <a:lstStyle/>
          <a:p>
            <a:pPr indent="0" marL="0">
              <a:buNone/>
            </a:pPr>
            <a:r>
              <a:rPr lang="en-US" sz="1100" b="1" spc="100" kern="0" dirty="0">
                <a:solidFill>
                  <a:srgbClr val="B0803A"/>
                </a:solidFill>
                <a:latin typeface="Calibri" pitchFamily="34" charset="0"/>
                <a:ea typeface="Calibri" pitchFamily="34" charset="-122"/>
                <a:cs typeface="Calibri" pitchFamily="34" charset="-120"/>
              </a:rPr>
              <a:t>VOORBEREIDING, GEEN VERVANGING</a:t>
            </a:r>
            <a:endParaRPr lang="en-US" sz="1100" dirty="0"/>
          </a:p>
        </p:txBody>
      </p:sp>
      <p:sp>
        <p:nvSpPr>
          <p:cNvPr id="8" name="Text 6"/>
          <p:cNvSpPr/>
          <p:nvPr/>
        </p:nvSpPr>
        <p:spPr>
          <a:xfrm>
            <a:off x="7452360" y="2743200"/>
            <a:ext cx="3840480" cy="2103120"/>
          </a:xfrm>
          <a:prstGeom prst="rect">
            <a:avLst/>
          </a:prstGeom>
          <a:noFill/>
          <a:ln/>
        </p:spPr>
        <p:txBody>
          <a:bodyPr wrap="square" lIns="0" tIns="0" rIns="0" bIns="0" rtlCol="0" anchor="t"/>
          <a:lstStyle/>
          <a:p>
            <a:pPr indent="0" marL="0">
              <a:lnSpc>
                <a:spcPts val="1800"/>
              </a:lnSpc>
              <a:buNone/>
            </a:pPr>
            <a:r>
              <a:rPr lang="en-US" sz="1250" dirty="0">
                <a:solidFill>
                  <a:srgbClr val="0E1A1C"/>
                </a:solidFill>
                <a:latin typeface="Calibri" pitchFamily="34" charset="0"/>
                <a:ea typeface="Calibri" pitchFamily="34" charset="-122"/>
                <a:cs typeface="Calibri" pitchFamily="34" charset="-120"/>
              </a:rPr>
              <a:t>Ductus is niet gelieerd aan of geaccrediteerd door DAMA International. Dit materiaal reproduceert het DMBOK niet en vervangt het niet.</a:t>
            </a:r>
            <a:endParaRPr lang="en-US" sz="1250" dirty="0"/>
          </a:p>
          <a:p>
            <a:pPr indent="0" marL="0">
              <a:lnSpc>
                <a:spcPts val="1800"/>
              </a:lnSpc>
              <a:buNone/>
            </a:pPr>
            <a:endParaRPr lang="en-US" sz="1250" dirty="0"/>
          </a:p>
          <a:p>
            <a:pPr indent="0" marL="0">
              <a:lnSpc>
                <a:spcPts val="1800"/>
              </a:lnSpc>
              <a:buNone/>
            </a:pPr>
            <a:r>
              <a:rPr lang="en-US" sz="1250" dirty="0">
                <a:solidFill>
                  <a:srgbClr val="0E1A1C"/>
                </a:solidFill>
                <a:latin typeface="Calibri" pitchFamily="34" charset="0"/>
                <a:ea typeface="Calibri" pitchFamily="34" charset="-122"/>
                <a:cs typeface="Calibri" pitchFamily="34" charset="-120"/>
              </a:rPr>
              <a:t>Schaf de DMBOK2 Revised Edition zelf aan — tijdens het examen is dat het enige toegestane hulpmiddel, in papier óf digitaal.</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AAN HET WERK</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Wat we vandaag doen</a:t>
            </a:r>
            <a:endParaRPr lang="en-US" sz="3400" dirty="0"/>
          </a:p>
        </p:txBody>
      </p:sp>
      <p:sp>
        <p:nvSpPr>
          <p:cNvPr id="4" name="Shape 2"/>
          <p:cNvSpPr/>
          <p:nvPr/>
        </p:nvSpPr>
        <p:spPr>
          <a:xfrm>
            <a:off x="640080" y="2377440"/>
            <a:ext cx="2528316" cy="2468880"/>
          </a:xfrm>
          <a:prstGeom prst="roundRect">
            <a:avLst>
              <a:gd name="adj" fmla="val 2963"/>
            </a:avLst>
          </a:prstGeom>
          <a:solidFill>
            <a:srgbClr val="17423F"/>
          </a:solidFill>
          <a:ln w="12700">
            <a:solidFill>
              <a:srgbClr val="2C5A56"/>
            </a:solidFill>
            <a:prstDash val="solid"/>
          </a:ln>
        </p:spPr>
      </p:sp>
      <p:sp>
        <p:nvSpPr>
          <p:cNvPr id="5" name="Shape 3"/>
          <p:cNvSpPr/>
          <p:nvPr/>
        </p:nvSpPr>
        <p:spPr>
          <a:xfrm>
            <a:off x="859536" y="2596896"/>
            <a:ext cx="384048" cy="384048"/>
          </a:xfrm>
          <a:prstGeom prst="ellipse">
            <a:avLst/>
          </a:prstGeom>
          <a:solidFill>
            <a:srgbClr val="3F7D74"/>
          </a:solidFill>
          <a:ln w="12700">
            <a:solidFill>
              <a:srgbClr val="3F7D74"/>
            </a:solidFill>
            <a:prstDash val="solid"/>
          </a:ln>
        </p:spPr>
      </p:sp>
      <p:sp>
        <p:nvSpPr>
          <p:cNvPr id="6" name="Text 4"/>
          <p:cNvSpPr/>
          <p:nvPr/>
        </p:nvSpPr>
        <p:spPr>
          <a:xfrm>
            <a:off x="859536"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7" name="Text 5"/>
          <p:cNvSpPr/>
          <p:nvPr/>
        </p:nvSpPr>
        <p:spPr>
          <a:xfrm>
            <a:off x="859536" y="3090672"/>
            <a:ext cx="2089404" cy="384048"/>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Policy als code</a:t>
            </a:r>
            <a:endParaRPr lang="en-US" sz="1800" dirty="0"/>
          </a:p>
        </p:txBody>
      </p:sp>
      <p:sp>
        <p:nvSpPr>
          <p:cNvPr id="8" name="Text 6"/>
          <p:cNvSpPr/>
          <p:nvPr/>
        </p:nvSpPr>
        <p:spPr>
          <a:xfrm>
            <a:off x="859536" y="3511296"/>
            <a:ext cx="2089404" cy="1152144"/>
          </a:xfrm>
          <a:prstGeom prst="rect">
            <a:avLst/>
          </a:prstGeom>
          <a:noFill/>
          <a:ln/>
        </p:spPr>
        <p:txBody>
          <a:bodyPr wrap="square" lIns="0" tIns="0" rIns="0" bIns="0" rtlCol="0" anchor="t"/>
          <a:lstStyle/>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Vijf normen, vijf elementen — en de reconstructievraag van de auditor.</a:t>
            </a:r>
            <a:endParaRPr lang="en-US" sz="1200" dirty="0"/>
          </a:p>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65 minuten.</a:t>
            </a:r>
            <a:endParaRPr lang="en-US" sz="1200" dirty="0"/>
          </a:p>
        </p:txBody>
      </p:sp>
      <p:sp>
        <p:nvSpPr>
          <p:cNvPr id="9" name="Shape 7"/>
          <p:cNvSpPr/>
          <p:nvPr/>
        </p:nvSpPr>
        <p:spPr>
          <a:xfrm>
            <a:off x="3424428" y="2377440"/>
            <a:ext cx="2528316" cy="2468880"/>
          </a:xfrm>
          <a:prstGeom prst="roundRect">
            <a:avLst>
              <a:gd name="adj" fmla="val 2963"/>
            </a:avLst>
          </a:prstGeom>
          <a:solidFill>
            <a:srgbClr val="17423F"/>
          </a:solidFill>
          <a:ln w="12700">
            <a:solidFill>
              <a:srgbClr val="2C5A56"/>
            </a:solidFill>
            <a:prstDash val="solid"/>
          </a:ln>
        </p:spPr>
      </p:sp>
      <p:sp>
        <p:nvSpPr>
          <p:cNvPr id="10" name="Shape 8"/>
          <p:cNvSpPr/>
          <p:nvPr/>
        </p:nvSpPr>
        <p:spPr>
          <a:xfrm>
            <a:off x="3643884" y="2596896"/>
            <a:ext cx="384048" cy="384048"/>
          </a:xfrm>
          <a:prstGeom prst="ellipse">
            <a:avLst/>
          </a:prstGeom>
          <a:solidFill>
            <a:srgbClr val="3F7D74"/>
          </a:solidFill>
          <a:ln w="12700">
            <a:solidFill>
              <a:srgbClr val="3F7D74"/>
            </a:solidFill>
            <a:prstDash val="solid"/>
          </a:ln>
        </p:spPr>
      </p:sp>
      <p:sp>
        <p:nvSpPr>
          <p:cNvPr id="11" name="Text 9"/>
          <p:cNvSpPr/>
          <p:nvPr/>
        </p:nvSpPr>
        <p:spPr>
          <a:xfrm>
            <a:off x="3643884"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2" name="Text 10"/>
          <p:cNvSpPr/>
          <p:nvPr/>
        </p:nvSpPr>
        <p:spPr>
          <a:xfrm>
            <a:off x="3643884" y="3090672"/>
            <a:ext cx="2089404" cy="384048"/>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Verantwoording</a:t>
            </a:r>
            <a:endParaRPr lang="en-US" sz="1800" dirty="0"/>
          </a:p>
        </p:txBody>
      </p:sp>
      <p:sp>
        <p:nvSpPr>
          <p:cNvPr id="13" name="Text 11"/>
          <p:cNvSpPr/>
          <p:nvPr/>
        </p:nvSpPr>
        <p:spPr>
          <a:xfrm>
            <a:off x="3643884" y="3511296"/>
            <a:ext cx="2089404" cy="1152144"/>
          </a:xfrm>
          <a:prstGeom prst="rect">
            <a:avLst/>
          </a:prstGeom>
          <a:noFill/>
          <a:ln/>
        </p:spPr>
        <p:txBody>
          <a:bodyPr wrap="square" lIns="0" tIns="0" rIns="0" bIns="0" rtlCol="0" anchor="t"/>
          <a:lstStyle/>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Bewijs dat ontstaat tijdens het werk, met monitoring op de controls zelf.</a:t>
            </a:r>
            <a:endParaRPr lang="en-US" sz="1200" dirty="0"/>
          </a:p>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55 minuten.</a:t>
            </a:r>
            <a:endParaRPr lang="en-US" sz="1200" dirty="0"/>
          </a:p>
        </p:txBody>
      </p:sp>
      <p:sp>
        <p:nvSpPr>
          <p:cNvPr id="14" name="Shape 12"/>
          <p:cNvSpPr/>
          <p:nvPr/>
        </p:nvSpPr>
        <p:spPr>
          <a:xfrm>
            <a:off x="6208776" y="2377440"/>
            <a:ext cx="2528316" cy="2468880"/>
          </a:xfrm>
          <a:prstGeom prst="roundRect">
            <a:avLst>
              <a:gd name="adj" fmla="val 2963"/>
            </a:avLst>
          </a:prstGeom>
          <a:solidFill>
            <a:srgbClr val="17423F"/>
          </a:solidFill>
          <a:ln w="12700">
            <a:solidFill>
              <a:srgbClr val="2C5A56"/>
            </a:solidFill>
            <a:prstDash val="solid"/>
          </a:ln>
        </p:spPr>
      </p:sp>
      <p:sp>
        <p:nvSpPr>
          <p:cNvPr id="15" name="Shape 13"/>
          <p:cNvSpPr/>
          <p:nvPr/>
        </p:nvSpPr>
        <p:spPr>
          <a:xfrm>
            <a:off x="6428232" y="2596896"/>
            <a:ext cx="384048" cy="384048"/>
          </a:xfrm>
          <a:prstGeom prst="ellipse">
            <a:avLst/>
          </a:prstGeom>
          <a:solidFill>
            <a:srgbClr val="3F7D74"/>
          </a:solidFill>
          <a:ln w="12700">
            <a:solidFill>
              <a:srgbClr val="3F7D74"/>
            </a:solidFill>
            <a:prstDash val="solid"/>
          </a:ln>
        </p:spPr>
      </p:sp>
      <p:sp>
        <p:nvSpPr>
          <p:cNvPr id="16" name="Text 14"/>
          <p:cNvSpPr/>
          <p:nvPr/>
        </p:nvSpPr>
        <p:spPr>
          <a:xfrm>
            <a:off x="6428232"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7" name="Text 15"/>
          <p:cNvSpPr/>
          <p:nvPr/>
        </p:nvSpPr>
        <p:spPr>
          <a:xfrm>
            <a:off x="6428232" y="3090672"/>
            <a:ext cx="2089404" cy="384048"/>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Stewardship</a:t>
            </a:r>
            <a:endParaRPr lang="en-US" sz="1800" dirty="0"/>
          </a:p>
        </p:txBody>
      </p:sp>
      <p:sp>
        <p:nvSpPr>
          <p:cNvPr id="18" name="Text 16"/>
          <p:cNvSpPr/>
          <p:nvPr/>
        </p:nvSpPr>
        <p:spPr>
          <a:xfrm>
            <a:off x="6428232" y="3511296"/>
            <a:ext cx="2089404" cy="1152144"/>
          </a:xfrm>
          <a:prstGeom prst="rect">
            <a:avLst/>
          </a:prstGeom>
          <a:noFill/>
          <a:ln/>
        </p:spPr>
        <p:txBody>
          <a:bodyPr wrap="square" lIns="0" tIns="0" rIns="0" bIns="0" rtlCol="0" anchor="t"/>
          <a:lstStyle/>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Negen domeinen, en de opvolgingsafspraak die niemand maakt.</a:t>
            </a:r>
            <a:endParaRPr lang="en-US" sz="1200" dirty="0"/>
          </a:p>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50 minuten.</a:t>
            </a:r>
            <a:endParaRPr lang="en-US" sz="1200" dirty="0"/>
          </a:p>
        </p:txBody>
      </p:sp>
      <p:sp>
        <p:nvSpPr>
          <p:cNvPr id="19" name="Shape 17"/>
          <p:cNvSpPr/>
          <p:nvPr/>
        </p:nvSpPr>
        <p:spPr>
          <a:xfrm>
            <a:off x="8993124" y="2377440"/>
            <a:ext cx="2528316" cy="2468880"/>
          </a:xfrm>
          <a:prstGeom prst="roundRect">
            <a:avLst>
              <a:gd name="adj" fmla="val 2963"/>
            </a:avLst>
          </a:prstGeom>
          <a:solidFill>
            <a:srgbClr val="17423F"/>
          </a:solidFill>
          <a:ln w="12700">
            <a:solidFill>
              <a:srgbClr val="2C5A56"/>
            </a:solidFill>
            <a:prstDash val="solid"/>
          </a:ln>
        </p:spPr>
      </p:sp>
      <p:sp>
        <p:nvSpPr>
          <p:cNvPr id="20" name="Shape 18"/>
          <p:cNvSpPr/>
          <p:nvPr/>
        </p:nvSpPr>
        <p:spPr>
          <a:xfrm>
            <a:off x="9212580" y="2596896"/>
            <a:ext cx="384048" cy="384048"/>
          </a:xfrm>
          <a:prstGeom prst="ellipse">
            <a:avLst/>
          </a:prstGeom>
          <a:solidFill>
            <a:srgbClr val="3F7D74"/>
          </a:solidFill>
          <a:ln w="12700">
            <a:solidFill>
              <a:srgbClr val="3F7D74"/>
            </a:solidFill>
            <a:prstDash val="solid"/>
          </a:ln>
        </p:spPr>
      </p:sp>
      <p:sp>
        <p:nvSpPr>
          <p:cNvPr id="21" name="Text 19"/>
          <p:cNvSpPr/>
          <p:nvPr/>
        </p:nvSpPr>
        <p:spPr>
          <a:xfrm>
            <a:off x="9212580"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2" name="Text 20"/>
          <p:cNvSpPr/>
          <p:nvPr/>
        </p:nvSpPr>
        <p:spPr>
          <a:xfrm>
            <a:off x="9212580" y="3090672"/>
            <a:ext cx="2089404" cy="384048"/>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Stagnatie</a:t>
            </a:r>
            <a:endParaRPr lang="en-US" sz="1800" dirty="0"/>
          </a:p>
        </p:txBody>
      </p:sp>
      <p:sp>
        <p:nvSpPr>
          <p:cNvPr id="23" name="Text 21"/>
          <p:cNvSpPr/>
          <p:nvPr/>
        </p:nvSpPr>
        <p:spPr>
          <a:xfrm>
            <a:off x="9212580" y="3511296"/>
            <a:ext cx="2089404" cy="1152144"/>
          </a:xfrm>
          <a:prstGeom prst="rect">
            <a:avLst/>
          </a:prstGeom>
          <a:noFill/>
          <a:ln/>
        </p:spPr>
        <p:txBody>
          <a:bodyPr wrap="square" lIns="0" tIns="0" rIns="0" bIns="0" rtlCol="0" anchor="t"/>
          <a:lstStyle/>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Twaalf kwartalen. Vind het moment waarop het programma zichzelf gaat meten.</a:t>
            </a:r>
            <a:endParaRPr lang="en-US" sz="1200" dirty="0"/>
          </a:p>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55 minuten.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Federatieve governance op schaal</dc:title>
  <dc:subject>PptxGenJS Presentation</dc:subject>
  <dc:creator>Ductus B.V.</dc:creator>
  <cp:lastModifiedBy>Ductus B.V.</cp:lastModifiedBy>
  <cp:revision>1</cp:revision>
  <dcterms:created xsi:type="dcterms:W3CDTF">2026-08-05T13:01:41Z</dcterms:created>
  <dcterms:modified xsi:type="dcterms:W3CDTF">2026-08-05T13:01:41Z</dcterms:modified>
</cp:coreProperties>
</file>