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met de complicatie. Vraag wie het programma mét en zonder extra middelen heeft vergeleken — dat onderscheidt de goede voorstellen.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verschil is niet de omvang maar de aard van de opgave. Dat bepaalt hoe je de deliverables leest.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 hem als ontwerpuitgangspunt behandelt, komt uit bij een ander en kleiner programma. Dat is het gevraagde antwoord.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Vijf goede deliverables die niet uit elkaar volgen, vormen geen programma maar een verzameling voorstellen.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de peer review hier. Ze onderscheiden voldoende van goed.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board weet dat de uren ergens vandaan moeten komen. Laat deelnemers dit hardop oefenen, met een naam of een taak.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Deel de rubric ook uit voor de peer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de laatste vraag van iedereen: wat gebeurt er als wij dit afwijzen? Dat hoort op je laatste slide te staan.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deelnemers dit direct toevoegen aan het dossier uit deel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Sluit hiermee af. Dit is de laatste boodschap van de hele cursus.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Sluit af met de eindtoets en met het slotwoord over wat verandert en wat blijft.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3 · MEESTERSCHAP · DEEL 29</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Masterproef — het</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transformatieprogramma</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Twee samengevoegde organisaties, negen domeinen, twee platformen, twaalf AI-toepassingen, en een horizon van drie jaar.</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4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HET VERSCHIL MET NIVEAU 2</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Bij een opdracht kun je alles zelf overzien.</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Bij een programma niet.</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Je levert dus geen plan dat je uitvoert, maar een richting die anderen kunnen uitvoeren — met keuzes die standhouden als de omstandigheden veranderen. En dat gebeuren ze.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DE OPGAVE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Drie randvoorwaarden en één complicatie</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743200"/>
                <a:gridCol w="8138160"/>
              </a:tblGrid>
              <a:tr h="566928">
                <a:tc>
                  <a:txBody>
                    <a:bodyPr/>
                    <a:lstStyle/>
                    <a:p>
                      <a:pPr indent="0" marL="0">
                        <a:buNone/>
                      </a:pP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er is gesteld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Randvoorwaarde 1</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Het programma past binnen de bestaande governancestructuur. Geen nieuw gremium, geen nieuw office.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Randvoorwaarde 2</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Eén zichtbare uitkomst per jaar die de toezichthouder aangaat.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Randvoorwaarde 3</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 coëxistentie van de twee platformen eindigt binnen de programmaperiode.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Complicatie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Het fusiebudget is overschreden. Geen extra middelen; het programma moet binnen de bestaande formatie worden gedragen.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complicatie is de opgave. Wie hem behandelt als beperking waar je omheen moet, levert een voorstel dat niet uitvoerbaar is.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ZES OPLEVERINGEN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Wat je maakt</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3291840"/>
                <a:gridCol w="4206240"/>
                <a:gridCol w="338328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Deliverable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Omvang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Bouwt op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1. Meerjarige richting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Maximaal twee pagina’s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Deel 22 t/m 27</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2. Doelarchitectuur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Eén plaat plus max. drie pagina’s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Deel 22 en 23</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3. Governance-transformatie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Maximaal drie pagina’s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Deel 25 en 24</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4. AI-governance ingepast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Maximaal twee pagina’s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Deel 27</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5. Investeringsonderbouwing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Maximaal twee pagina’s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Deel 26</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6. Boardpresentatie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Max. twaalf slides plus verdediging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Deel 19 en 21</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peer review beoordeelt op dit niveau de samenhang: volgt de architectuur uit de richting, en de governance uit de architectuur?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VIER CONTROLES</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Waar masterproeven op dit niveau tekortschieten</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Controleer bij jezelf</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Is de complicatie ontwerpuitgangspunt of beperking?</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Zijn de uitkomsten toetsbaar, of zijn het ambities?</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Staat er wat er níét meer gebeurt binnen de formatie?</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Is de tussenperiode uitgewerkt, of alleen de eindsituatie?</a:t>
            </a:r>
            <a:endParaRPr lang="en-US" sz="14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Waarom juist deze vier</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De eerste bepaalt of het voorstel uitvoerbaar is</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"Datagedreven werken" is niet te toetsen; "één deelnemersbeeld over beide portefeuilles" wel</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Wie dat niet benoemt, belegt de capaciteit twee keer</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Bij achttien maanden coëxistentie is de tussenperiode de helft van het programma</a:t>
            </a:r>
            <a:endParaRPr lang="en-US" sz="1400" dirty="0"/>
          </a:p>
        </p:txBody>
      </p:sp>
      <p:sp>
        <p:nvSpPr>
          <p:cNvPr id="8" name="Text 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Deze vier zijn ook de eerste vragen die het board in de sessie stelt.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MOEILIJKSTE SLIDE</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Wie gaat er dan minder doen?</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Er komt geen formatie bij. De verdedigbare antwoorden zijn: herprioriteren, een deeltijdrol met vastgelegde uren, of minder toepassingen toelaten tot er capaciteit is. Alle drie zijn te verdedigen. Niets doen niet — en een antwoord dat de vraag ontwijkt, kost je het besluit.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RUBRIC</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Hoe je wordt beoordeeld</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Voldoende op alle zes rondt niveau 3 af.</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011680"/>
                <a:gridCol w="3017520"/>
                <a:gridCol w="3017520"/>
                <a:gridCol w="283464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Onderdeel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Voldoende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Goed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Uitmuntend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20624">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Richting</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Drie tot vijf toetsbare uitkomsten</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Plus aannames apart benoemd</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Plus gevolg per aanname bij sneuvelen</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Doelarchitectuur</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Domeinen met bron van waarheid</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Plus besluitregistraties en migratiestrategie</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Plus de afspraken voor de tussenperiode</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Governance</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Weg naar federatief met voorwaarde</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Plus de stagnatie-ingreep bij het besluitrecht</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Plus netto nul gremia en de opvolgingsafspraak</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AI-governance</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Gate-proces in de matrix</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Plus geprioriteerde aanpak van de negen</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Plus poort 3 die zichzelf afdwingt, met capaciteit</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Investering</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Kosten en opbrengst met aannames</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Plus de juiste grootheid en het niet-financiële risico</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Plus wat er níét meer gebeurt</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Presentatie</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Twaalf slides, tijd gehaald</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Plus kritische vragen beantwoord</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100" dirty="0">
                          <a:solidFill>
                            <a:srgbClr val="0E1A1C"/>
                          </a:solidFill>
                          <a:latin typeface="Calibri" pitchFamily="34" charset="0"/>
                          <a:ea typeface="Calibri" pitchFamily="34" charset="-122"/>
                          <a:cs typeface="Calibri" pitchFamily="34" charset="-120"/>
                        </a:rPr>
                        <a:t>Plus verdedigd onder tegengestelde belangen</a:t>
                      </a:r>
                      <a:endParaRPr lang="en-US" sz="11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Onvoldoende op de presentatie betekent een tweede sessie — de verdediging is hier geen formaliteit maar de helft van de beoordeling.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HET BOARD</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Vier mensen, vier belangen</a:t>
            </a:r>
            <a:endParaRPr lang="en-US" sz="3400" dirty="0"/>
          </a:p>
        </p:txBody>
      </p:sp>
      <p:sp>
        <p:nvSpPr>
          <p:cNvPr id="4" name="Shape 2"/>
          <p:cNvSpPr/>
          <p:nvPr/>
        </p:nvSpPr>
        <p:spPr>
          <a:xfrm>
            <a:off x="640080" y="2286000"/>
            <a:ext cx="2528316" cy="2651760"/>
          </a:xfrm>
          <a:prstGeom prst="roundRect">
            <a:avLst>
              <a:gd name="adj" fmla="val 2893"/>
            </a:avLst>
          </a:prstGeom>
          <a:solidFill>
            <a:srgbClr val="F1F4F2"/>
          </a:solidFill>
          <a:ln w="12700">
            <a:solidFill>
              <a:srgbClr val="D5DED8"/>
            </a:solidFill>
            <a:prstDash val="solid"/>
          </a:ln>
        </p:spPr>
      </p:sp>
      <p:sp>
        <p:nvSpPr>
          <p:cNvPr id="5" name="Shape 3"/>
          <p:cNvSpPr/>
          <p:nvPr/>
        </p:nvSpPr>
        <p:spPr>
          <a:xfrm>
            <a:off x="859536" y="250545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59536"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De CFO</a:t>
            </a:r>
            <a:endParaRPr lang="en-US" sz="1600" dirty="0"/>
          </a:p>
        </p:txBody>
      </p:sp>
      <p:sp>
        <p:nvSpPr>
          <p:cNvPr id="8" name="Text 6"/>
          <p:cNvSpPr/>
          <p:nvPr/>
        </p:nvSpPr>
        <p:spPr>
          <a:xfrm>
            <a:off x="859536"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"Wij hebben net een fusie betaald. Waarom nu dit?"</a:t>
            </a:r>
            <a:endParaRPr lang="en-US" sz="1200" dirty="0"/>
          </a:p>
        </p:txBody>
      </p:sp>
      <p:sp>
        <p:nvSpPr>
          <p:cNvPr id="9" name="Shape 7"/>
          <p:cNvSpPr/>
          <p:nvPr/>
        </p:nvSpPr>
        <p:spPr>
          <a:xfrm>
            <a:off x="3424428" y="2286000"/>
            <a:ext cx="2528316" cy="2651760"/>
          </a:xfrm>
          <a:prstGeom prst="roundRect">
            <a:avLst>
              <a:gd name="adj" fmla="val 2893"/>
            </a:avLst>
          </a:prstGeom>
          <a:solidFill>
            <a:srgbClr val="F1F4F2"/>
          </a:solidFill>
          <a:ln w="12700">
            <a:solidFill>
              <a:srgbClr val="D5DED8"/>
            </a:solidFill>
            <a:prstDash val="solid"/>
          </a:ln>
        </p:spPr>
      </p:sp>
      <p:sp>
        <p:nvSpPr>
          <p:cNvPr id="10" name="Shape 8"/>
          <p:cNvSpPr/>
          <p:nvPr/>
        </p:nvSpPr>
        <p:spPr>
          <a:xfrm>
            <a:off x="3643884" y="2505456"/>
            <a:ext cx="384048" cy="384048"/>
          </a:xfrm>
          <a:prstGeom prst="ellipse">
            <a:avLst/>
          </a:prstGeom>
          <a:solidFill>
            <a:srgbClr val="3F7D74"/>
          </a:solidFill>
          <a:ln w="12700">
            <a:solidFill>
              <a:srgbClr val="3F7D74"/>
            </a:solidFill>
            <a:prstDash val="solid"/>
          </a:ln>
        </p:spPr>
      </p:sp>
      <p:sp>
        <p:nvSpPr>
          <p:cNvPr id="11" name="Text 9"/>
          <p:cNvSpPr/>
          <p:nvPr/>
        </p:nvSpPr>
        <p:spPr>
          <a:xfrm>
            <a:off x="3643884"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3643884"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De CEO</a:t>
            </a:r>
            <a:endParaRPr lang="en-US" sz="1600" dirty="0"/>
          </a:p>
        </p:txBody>
      </p:sp>
      <p:sp>
        <p:nvSpPr>
          <p:cNvPr id="13" name="Text 11"/>
          <p:cNvSpPr/>
          <p:nvPr/>
        </p:nvSpPr>
        <p:spPr>
          <a:xfrm>
            <a:off x="3643884"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"Kunt u dit binnen de formatie? Wie gaat er dan minder doen?"</a:t>
            </a:r>
            <a:endParaRPr lang="en-US" sz="1200" dirty="0"/>
          </a:p>
        </p:txBody>
      </p:sp>
      <p:sp>
        <p:nvSpPr>
          <p:cNvPr id="14" name="Shape 12"/>
          <p:cNvSpPr/>
          <p:nvPr/>
        </p:nvSpPr>
        <p:spPr>
          <a:xfrm>
            <a:off x="6208776" y="2286000"/>
            <a:ext cx="2528316" cy="2651760"/>
          </a:xfrm>
          <a:prstGeom prst="roundRect">
            <a:avLst>
              <a:gd name="adj" fmla="val 2893"/>
            </a:avLst>
          </a:prstGeom>
          <a:solidFill>
            <a:srgbClr val="F1F4F2"/>
          </a:solidFill>
          <a:ln w="12700">
            <a:solidFill>
              <a:srgbClr val="D5DED8"/>
            </a:solidFill>
            <a:prstDash val="solid"/>
          </a:ln>
        </p:spPr>
      </p:sp>
      <p:sp>
        <p:nvSpPr>
          <p:cNvPr id="15" name="Shape 13"/>
          <p:cNvSpPr/>
          <p:nvPr/>
        </p:nvSpPr>
        <p:spPr>
          <a:xfrm>
            <a:off x="6428232" y="2505456"/>
            <a:ext cx="384048" cy="384048"/>
          </a:xfrm>
          <a:prstGeom prst="ellipse">
            <a:avLst/>
          </a:prstGeom>
          <a:solidFill>
            <a:srgbClr val="3F7D74"/>
          </a:solidFill>
          <a:ln w="12700">
            <a:solidFill>
              <a:srgbClr val="3F7D74"/>
            </a:solidFill>
            <a:prstDash val="solid"/>
          </a:ln>
        </p:spPr>
      </p:sp>
      <p:sp>
        <p:nvSpPr>
          <p:cNvPr id="16" name="Text 14"/>
          <p:cNvSpPr/>
          <p:nvPr/>
        </p:nvSpPr>
        <p:spPr>
          <a:xfrm>
            <a:off x="6428232"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6428232"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Directeur Beleggingen</a:t>
            </a:r>
            <a:endParaRPr lang="en-US" sz="1600" dirty="0"/>
          </a:p>
        </p:txBody>
      </p:sp>
      <p:sp>
        <p:nvSpPr>
          <p:cNvPr id="18" name="Text 16"/>
          <p:cNvSpPr/>
          <p:nvPr/>
        </p:nvSpPr>
        <p:spPr>
          <a:xfrm>
            <a:off x="6428232"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"Wat levert dit mijn domein op?"</a:t>
            </a:r>
            <a:endParaRPr lang="en-US" sz="1200" dirty="0"/>
          </a:p>
          <a:p>
            <a:pPr indent="0" marL="0">
              <a:lnSpc>
                <a:spcPts val="1700"/>
              </a:lnSpc>
              <a:buNone/>
            </a:pPr>
            <a:endParaRPr lang="en-US" sz="1200" dirty="0"/>
          </a:p>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Opnieuw — en nu met minder geduld dan in deel 21.</a:t>
            </a:r>
            <a:endParaRPr lang="en-US" sz="1200" dirty="0"/>
          </a:p>
        </p:txBody>
      </p:sp>
      <p:sp>
        <p:nvSpPr>
          <p:cNvPr id="19" name="Shape 17"/>
          <p:cNvSpPr/>
          <p:nvPr/>
        </p:nvSpPr>
        <p:spPr>
          <a:xfrm>
            <a:off x="8993124" y="2286000"/>
            <a:ext cx="2528316" cy="2651760"/>
          </a:xfrm>
          <a:prstGeom prst="roundRect">
            <a:avLst>
              <a:gd name="adj" fmla="val 2893"/>
            </a:avLst>
          </a:prstGeom>
          <a:solidFill>
            <a:srgbClr val="F1F4F2"/>
          </a:solidFill>
          <a:ln w="12700">
            <a:solidFill>
              <a:srgbClr val="D5DED8"/>
            </a:solidFill>
            <a:prstDash val="solid"/>
          </a:ln>
        </p:spPr>
      </p:sp>
      <p:sp>
        <p:nvSpPr>
          <p:cNvPr id="20" name="Shape 18"/>
          <p:cNvSpPr/>
          <p:nvPr/>
        </p:nvSpPr>
        <p:spPr>
          <a:xfrm>
            <a:off x="9212580" y="2505456"/>
            <a:ext cx="384048" cy="384048"/>
          </a:xfrm>
          <a:prstGeom prst="ellipse">
            <a:avLst/>
          </a:prstGeom>
          <a:solidFill>
            <a:srgbClr val="3F7D74"/>
          </a:solidFill>
          <a:ln w="12700">
            <a:solidFill>
              <a:srgbClr val="3F7D74"/>
            </a:solidFill>
            <a:prstDash val="solid"/>
          </a:ln>
        </p:spPr>
      </p:sp>
      <p:sp>
        <p:nvSpPr>
          <p:cNvPr id="21" name="Text 19"/>
          <p:cNvSpPr/>
          <p:nvPr/>
        </p:nvSpPr>
        <p:spPr>
          <a:xfrm>
            <a:off x="9212580"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9212580"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De commissaris</a:t>
            </a:r>
            <a:endParaRPr lang="en-US" sz="1600" dirty="0"/>
          </a:p>
        </p:txBody>
      </p:sp>
      <p:sp>
        <p:nvSpPr>
          <p:cNvPr id="23" name="Text 21"/>
          <p:cNvSpPr/>
          <p:nvPr/>
        </p:nvSpPr>
        <p:spPr>
          <a:xfrm>
            <a:off x="9212580"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"Wat zegt de toezichthouder? En wat als hij het niet genoeg vindt?"</a:t>
            </a:r>
            <a:endParaRPr lang="en-US" sz="1200" dirty="0"/>
          </a:p>
        </p:txBody>
      </p:sp>
      <p:sp>
        <p:nvSpPr>
          <p:cNvPr id="24" name="Text 2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commissaris is nieuw. Zijn vraag is niet of je voorstel goed is maar of het genoeg is — een andere vraag, die een ander antwoord vraagt.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NA DE MASTERPROEF</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Dit is het zwaarste stuk</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in je ervaringsdossier.</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Een meerjarige richting, een architectuur, een governance-ontwerp, een investeringsonderbouwing en een verdediging onder tegengestelde belangen. Bij de ervaringsbeoordeling voor Master is dit het stuk waarop een beoordelaar het langst blijft kijken. Bewaar het volledig, met de boardvragen en de uitkomst.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TOT SLOT</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Wat verandert, en wat blijft</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Wat verandert</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De raamwerken worden herzien</a:t>
            </a:r>
            <a:endParaRPr lang="en-US" sz="1600" dirty="0"/>
          </a:p>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De regelgeving rond AI is nog in beweging</a:t>
            </a:r>
            <a:endParaRPr lang="en-US" sz="1600" dirty="0"/>
          </a:p>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De paradigma’s uit deel 23 zijn over vijf jaar deels vervangen</a:t>
            </a:r>
            <a:endParaRPr lang="en-US" sz="1600" dirty="0"/>
          </a:p>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De tooling, de termen, de mode</a:t>
            </a:r>
            <a:endParaRPr lang="en-US" sz="16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Wat blijft</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Betekenis vastleggen</a:t>
            </a:r>
            <a:endParaRPr lang="en-US" sz="1600" dirty="0"/>
          </a:p>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Herkomst kunnen aantonen</a:t>
            </a:r>
            <a:endParaRPr lang="en-US" sz="1600" dirty="0"/>
          </a:p>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Besluiten beleggen</a:t>
            </a:r>
            <a:endParaRPr lang="en-US" sz="1600" dirty="0"/>
          </a:p>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Eerlijk zijn over wat je niet weet</a:t>
            </a:r>
            <a:endParaRPr lang="en-US" sz="1600" dirty="0"/>
          </a:p>
        </p:txBody>
      </p:sp>
      <p:sp>
        <p:nvSpPr>
          <p:cNvPr id="8" name="Text 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Dat is negenentwintig delen lang de rode draad geweest — en het is wat overblijft als de rest is verouderd.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3456432"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7" name="Text 5"/>
          <p:cNvSpPr/>
          <p:nvPr/>
        </p:nvSpPr>
        <p:spPr>
          <a:xfrm>
            <a:off x="859536" y="3090672"/>
            <a:ext cx="3017520" cy="384048"/>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Peer review</a:t>
            </a:r>
            <a:endParaRPr lang="en-US" sz="1900" dirty="0"/>
          </a:p>
        </p:txBody>
      </p:sp>
      <p:sp>
        <p:nvSpPr>
          <p:cNvPr id="8" name="Text 6"/>
          <p:cNvSpPr/>
          <p:nvPr/>
        </p:nvSpPr>
        <p:spPr>
          <a:xfrm>
            <a:off x="859536" y="3511296"/>
            <a:ext cx="3017520" cy="1152144"/>
          </a:xfrm>
          <a:prstGeom prst="rect">
            <a:avLst/>
          </a:prstGeom>
          <a:noFill/>
          <a:ln/>
        </p:spPr>
        <p:txBody>
          <a:bodyPr wrap="square" lIns="0" tIns="0" rIns="0" bIns="0" rtlCol="0" anchor="t"/>
          <a:lstStyle/>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Het geheel van je partner, met de vier controles en de samenhangvraag.</a:t>
            </a:r>
            <a:endParaRPr lang="en-US" sz="1300" dirty="0"/>
          </a:p>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75 minuten.</a:t>
            </a:r>
            <a:endParaRPr lang="en-US" sz="1300" dirty="0"/>
          </a:p>
        </p:txBody>
      </p:sp>
      <p:sp>
        <p:nvSpPr>
          <p:cNvPr id="9" name="Shape 7"/>
          <p:cNvSpPr/>
          <p:nvPr/>
        </p:nvSpPr>
        <p:spPr>
          <a:xfrm>
            <a:off x="4352544" y="2377440"/>
            <a:ext cx="3456432"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4572000"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457200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2" name="Text 10"/>
          <p:cNvSpPr/>
          <p:nvPr/>
        </p:nvSpPr>
        <p:spPr>
          <a:xfrm>
            <a:off x="4572000" y="3090672"/>
            <a:ext cx="3017520" cy="384048"/>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Boardsessie</a:t>
            </a:r>
            <a:endParaRPr lang="en-US" sz="1900" dirty="0"/>
          </a:p>
        </p:txBody>
      </p:sp>
      <p:sp>
        <p:nvSpPr>
          <p:cNvPr id="13" name="Text 11"/>
          <p:cNvSpPr/>
          <p:nvPr/>
        </p:nvSpPr>
        <p:spPr>
          <a:xfrm>
            <a:off x="4572000" y="3511296"/>
            <a:ext cx="3017520" cy="1152144"/>
          </a:xfrm>
          <a:prstGeom prst="rect">
            <a:avLst/>
          </a:prstGeom>
          <a:noFill/>
          <a:ln/>
        </p:spPr>
        <p:txBody>
          <a:bodyPr wrap="square" lIns="0" tIns="0" rIns="0" bIns="0" rtlCol="0" anchor="t"/>
          <a:lstStyle/>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Twintig minuten presenteren, twintig minuten vragen van vier tegengestelde belangen.</a:t>
            </a:r>
            <a:endParaRPr lang="en-US" sz="1300" dirty="0"/>
          </a:p>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40 minuten per persoon.</a:t>
            </a:r>
            <a:endParaRPr lang="en-US" sz="1300" dirty="0"/>
          </a:p>
        </p:txBody>
      </p:sp>
      <p:sp>
        <p:nvSpPr>
          <p:cNvPr id="14" name="Shape 12"/>
          <p:cNvSpPr/>
          <p:nvPr/>
        </p:nvSpPr>
        <p:spPr>
          <a:xfrm>
            <a:off x="8065008" y="2377440"/>
            <a:ext cx="3456432"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8284464"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828446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8284464" y="3090672"/>
            <a:ext cx="3017520" cy="384048"/>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Afsluiting</a:t>
            </a:r>
            <a:endParaRPr lang="en-US" sz="1900" dirty="0"/>
          </a:p>
        </p:txBody>
      </p:sp>
      <p:sp>
        <p:nvSpPr>
          <p:cNvPr id="18" name="Text 16"/>
          <p:cNvSpPr/>
          <p:nvPr/>
        </p:nvSpPr>
        <p:spPr>
          <a:xfrm>
            <a:off x="8284464" y="3511296"/>
            <a:ext cx="3017520" cy="1152144"/>
          </a:xfrm>
          <a:prstGeom prst="rect">
            <a:avLst/>
          </a:prstGeom>
          <a:noFill/>
          <a:ln/>
        </p:spPr>
        <p:txBody>
          <a:bodyPr wrap="square" lIns="0" tIns="0" rIns="0" bIns="0" rtlCol="0" anchor="t"/>
          <a:lstStyle/>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Examendata bevestigen, het portfoliostuk opnemen — en wat er overblijft als de rest verouderd is.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Masterproef — het transformatieprogramma</dc:title>
  <dc:subject>PptxGenJS Presentation</dc:subject>
  <dc:creator>Ductus B.V.</dc:creator>
  <cp:lastModifiedBy>Ductus B.V.</cp:lastModifiedBy>
  <cp:revision>1</cp:revision>
  <dcterms:created xsi:type="dcterms:W3CDTF">2026-08-05T14:04:35Z</dcterms:created>
  <dcterms:modified xsi:type="dcterms:W3CDTF">2026-08-05T14:04:35Z</dcterms:modified>
</cp:coreProperties>
</file>