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de zaal om een schatting vóór de theorie. De spreiding tussen de antwoorden is het beste argument voor dit hele deel.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een precies bedrag noemt, wordt daarop afgerekend. En het bedrag klopt niet.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kostenbenadering is de meest gebruikte en de minst informatieve.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Voeg altijd de houdbaarheid toe: een waardering zonder vervaldatum is misleidend, want kwaliteit daalt vanzelf.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opbrengst zit in kosten die níét worden gemaakt. Die tellen niet mee in de gebruikelijke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Interoperabiliteit is hier geen technisch begrip maar een economische voorwaarde: standaarden verlagen de transactiekosten van samenwerking.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is een architectuurbeslissing die als contractclausule wordt genomen, zonder dat er een architect bij zit.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Presenteer geen advies verpakt als analyse. Benoem wie het nadeel draagt: bij een pensioenuitvoerder is dat de deelnemer, en die zit zelden aan tafel.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derde vraag loopt door naar deel 27, waar modellen hem scherper maken.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deel raakt wetgeving in ontwikkeling. Controleer de actuele stand voordat je een advies uitbrengt.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de waarderingsnotitie aan de CFO, met de bandbreedte in de eerste zin.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3 · MEESTERSCHAP · DEEL 26</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Datawaardering en</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data-economie</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Tijdens de fusiebesprekingen stelde iemand een vraag die niemand kon beantwoorden: wat is die dataportefeuille eigenlijk waard?</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4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WAAROM HET LASTIG IS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Vijf eigenschappen met economische gevolgen</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3108960"/>
                <a:gridCol w="77724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Eigenschap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Economisch gevolg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Raakt niet op door gebruik</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Geen schaarste die een prijs vormt; waarde volgt uit gebruik, niet uit bezit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Waarde is contextafhankelijk</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Voor twee partijen verschillend — er is geen objectieve prijs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Kwaliteit verslechtert vanzelf</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waarde daalt zonder onderhoud; een waardering zonder houdbaarheid is misleidend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Kopiëren is kosteloos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Exclusiviteit is moeilijk te handhaven, wat de marktwaarde drukt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Waarde stijgt door combinatie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Het geheel is meer waard dan de delen — losse waardering is onnauwkeurig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Je levert daarom zelden één bedrag, maar een bandbreedte met de methode erbij — en je bent expliciet over wat de waardering níét zegt.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METHODEN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benaderingen — de vraag bepaalt de keuze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645920"/>
                <a:gridCol w="3108960"/>
                <a:gridCol w="2926080"/>
                <a:gridCol w="32004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Hoe het werkt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Sterk bij</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Zwak bij</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Kosten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heeft opbouw en onderhoud gekost?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Verantwoording, verzekering, boekhouding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Zegt niets over waarde: dure data kan waardeloos zijn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Markt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betalen anderen voor vergelijkbare 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Datasets met een echte markt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Voor unieke of gereguleerde data bestaat geen markt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Opbrengst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Welke opbrengst is aan deze data toe te schrijven?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 die aan een proces bijdraagt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Toerekening is arbitrair bij meerdere bronnen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Welke mogelijkheden opent deze 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Strategisch: een fusie, een nieuwe dienst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Zeer gevoelig voor aannames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Wie de methode kiest zonder de vraag te bepalen, levert een bedrag dat toevallig ergens op slaat.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BANDBREEDTE IS HET ANTWOORD</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Laag, midden, hoog —</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met per variant de dragende aanname.</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Dat is geen slap aftreksel van een echt antwoord. Een bestuurder die ziet dat de waardering tussen twee en acht miljoen ligt afhankelijk van één aanname, weet nu waar hij over moet besluiten. Dat is precies wat hij nodig heeft.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MONETISATIE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vormen, oplopende complexiteit</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377440"/>
                <a:gridCol w="3840480"/>
                <a:gridCol w="466344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inhoudt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een pensioenuitvoerder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Interne efficiëntie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Beter besluiten, minder herstelwerk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Vrijwel altijd de grootste post — en de minst zichtbare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Productverbetering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Betere dienstverlening aan bestaande klanten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Persoonlijke inzichten, proactieve dienstverlening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Datadeling in de keten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Uitwisselen met partners, met wederkerigheid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Sectorbenchmarks, ketenafspraken met werkgevers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Verkoop of licentie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 of inzichten verkopen aan derden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Vrijwel uitgesloten; hooguit geaggregeerd — en dan nog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eerste vorm heet zelden monetisatie omdat er geen factuur tegenover staat. Precies daarom is datagovernance zo moeilijk te financieren.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DATA SPACES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Vijf vragen vóór deelname</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De vragen</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Wederkerigheid — wat krijg je terug, en is dat in verhouding?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Governance — wie stelt de regels vast, en heb je invloed?</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Semantiek — is er een gedeeld begrippenkader?</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Uittreding — kun je eruit, en wat gebeurt er met wat je leverde?</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Aansprakelijkheid — wie draagt de schade bij fouten?</a:t>
            </a:r>
            <a:endParaRPr lang="en-US" sz="14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De onderschatte</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derde. Een benchmark waarin elke deelnemer zijn eigen definitie van "actieve deelnemer" hanteert, produceert cijfers die niemand kan gebruiken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En dat wordt pas ontdekt na de eerste publicatie</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Het is dezelfde vraag als bij de fusie — nu tussen organisaties</a:t>
            </a:r>
            <a:endParaRPr lang="en-US" sz="14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Een data space met een dominante deelnemer is geen ecosysteem maar een keten.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INKOOP</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onderwerpen die bij gewone inkoop niet spelen</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011680"/>
                <a:gridCol w="4572000"/>
                <a:gridCol w="429768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Onderwerp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je vastlegt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Waarom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Herkomst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Waar komt het vandaan, met welke grondslag verzameld?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Jouw gebruik erft hun beperkingen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Kwaliteit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Welke garantie, gemeten waarop, gevolg bij afwijking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Zonder gevolg is de garantie een verwachting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Actualiteit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Verversfrequentie en maximale vertraging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Bepaalt of je hem in een beslissend proces mag gebruiken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Gebruiksrechten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mag jij ermee — en wat mogen je afnemers?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Afgeleide producten zijn vaak niet meeverkocht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Beëindiging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Mag je het gebruikte deel behouden?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Bepaalt of je permanent afhankelijk wordt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Aansprakelijkheid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draagt de schade als de data fout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Vrijwel altijd beperkt tot de licentieprijs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beëindigingsclausule is de sluipende: wie bij opzegging alles moet verwijderen, raakt jaren aan afgeleide producten kwijt.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ETHIEK OP BOARDNIVEAU</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Een juridisch vraagstuk heeft een antwoord.</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Een reputationeel vraagstuk heeft een afweging.</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Wie het tweede als het eerste behandelt, krijgt een juridisch akkoord op iets wat de organisatie beschadigt — en dat is precies hoe de meeste dataschandalen ontstaan. Maak het onderscheid expliciet, en leg de afweging voor als afweging.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VIER VRAGEN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Wat op boardniveau telt</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Anders dan de toets per verwerking uit deel 7.</a:t>
            </a:r>
            <a:endParaRPr lang="en-US" sz="1600" dirty="0"/>
          </a:p>
        </p:txBody>
      </p:sp>
      <p:sp>
        <p:nvSpPr>
          <p:cNvPr id="5" name="Shape 3"/>
          <p:cNvSpPr/>
          <p:nvPr/>
        </p:nvSpPr>
        <p:spPr>
          <a:xfrm>
            <a:off x="640080" y="2286000"/>
            <a:ext cx="2528316" cy="2651760"/>
          </a:xfrm>
          <a:prstGeom prst="roundRect">
            <a:avLst>
              <a:gd name="adj" fmla="val 2893"/>
            </a:avLst>
          </a:prstGeom>
          <a:solidFill>
            <a:srgbClr val="F1F4F2"/>
          </a:solidFill>
          <a:ln w="12700">
            <a:solidFill>
              <a:srgbClr val="D5DED8"/>
            </a:solidFill>
            <a:prstDash val="solid"/>
          </a:ln>
        </p:spPr>
      </p:sp>
      <p:sp>
        <p:nvSpPr>
          <p:cNvPr id="6" name="Shape 4"/>
          <p:cNvSpPr/>
          <p:nvPr/>
        </p:nvSpPr>
        <p:spPr>
          <a:xfrm>
            <a:off x="859536" y="250545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Openbaarheid</a:t>
            </a:r>
            <a:endParaRPr lang="en-US" sz="1600" dirty="0"/>
          </a:p>
        </p:txBody>
      </p:sp>
      <p:sp>
        <p:nvSpPr>
          <p:cNvPr id="9" name="Text 7"/>
          <p:cNvSpPr/>
          <p:nvPr/>
        </p:nvSpPr>
        <p:spPr>
          <a:xfrm>
            <a:off x="859536"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Zou dit standhouden als het volledig openbaar werd — uit te leggen aan iemand die er nadeel van heeft?</a:t>
            </a:r>
            <a:endParaRPr lang="en-US" sz="1200" dirty="0"/>
          </a:p>
        </p:txBody>
      </p:sp>
      <p:sp>
        <p:nvSpPr>
          <p:cNvPr id="10" name="Shape 8"/>
          <p:cNvSpPr/>
          <p:nvPr/>
        </p:nvSpPr>
        <p:spPr>
          <a:xfrm>
            <a:off x="3424428" y="2286000"/>
            <a:ext cx="2528316" cy="2651760"/>
          </a:xfrm>
          <a:prstGeom prst="roundRect">
            <a:avLst>
              <a:gd name="adj" fmla="val 2893"/>
            </a:avLst>
          </a:prstGeom>
          <a:solidFill>
            <a:srgbClr val="F1F4F2"/>
          </a:solidFill>
          <a:ln w="12700">
            <a:solidFill>
              <a:srgbClr val="D5DED8"/>
            </a:solidFill>
            <a:prstDash val="solid"/>
          </a:ln>
        </p:spPr>
      </p:sp>
      <p:sp>
        <p:nvSpPr>
          <p:cNvPr id="11" name="Shape 9"/>
          <p:cNvSpPr/>
          <p:nvPr/>
        </p:nvSpPr>
        <p:spPr>
          <a:xfrm>
            <a:off x="3643884" y="2505456"/>
            <a:ext cx="384048" cy="384048"/>
          </a:xfrm>
          <a:prstGeom prst="ellipse">
            <a:avLst/>
          </a:prstGeom>
          <a:solidFill>
            <a:srgbClr val="3F7D74"/>
          </a:solidFill>
          <a:ln w="12700">
            <a:solidFill>
              <a:srgbClr val="3F7D74"/>
            </a:solidFill>
            <a:prstDash val="solid"/>
          </a:ln>
        </p:spPr>
      </p:sp>
      <p:sp>
        <p:nvSpPr>
          <p:cNvPr id="12" name="Text 10"/>
          <p:cNvSpPr/>
          <p:nvPr/>
        </p:nvSpPr>
        <p:spPr>
          <a:xfrm>
            <a:off x="3643884"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643884"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Lastverschuiving</a:t>
            </a:r>
            <a:endParaRPr lang="en-US" sz="1600" dirty="0"/>
          </a:p>
        </p:txBody>
      </p:sp>
      <p:sp>
        <p:nvSpPr>
          <p:cNvPr id="14" name="Text 12"/>
          <p:cNvSpPr/>
          <p:nvPr/>
        </p:nvSpPr>
        <p:spPr>
          <a:xfrm>
            <a:off x="3643884"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Verschuift dit een last van de organisatie naar de deelnemer? Datagedreven werken doet dat vaak, ongemerkt.</a:t>
            </a:r>
            <a:endParaRPr lang="en-US" sz="1200" dirty="0"/>
          </a:p>
        </p:txBody>
      </p:sp>
      <p:sp>
        <p:nvSpPr>
          <p:cNvPr id="15" name="Shape 13"/>
          <p:cNvSpPr/>
          <p:nvPr/>
        </p:nvSpPr>
        <p:spPr>
          <a:xfrm>
            <a:off x="6208776" y="2286000"/>
            <a:ext cx="2528316" cy="2651760"/>
          </a:xfrm>
          <a:prstGeom prst="roundRect">
            <a:avLst>
              <a:gd name="adj" fmla="val 2893"/>
            </a:avLst>
          </a:prstGeom>
          <a:solidFill>
            <a:srgbClr val="F1F4F2"/>
          </a:solidFill>
          <a:ln w="12700">
            <a:solidFill>
              <a:srgbClr val="D5DED8"/>
            </a:solidFill>
            <a:prstDash val="solid"/>
          </a:ln>
        </p:spPr>
      </p:sp>
      <p:sp>
        <p:nvSpPr>
          <p:cNvPr id="16" name="Shape 14"/>
          <p:cNvSpPr/>
          <p:nvPr/>
        </p:nvSpPr>
        <p:spPr>
          <a:xfrm>
            <a:off x="6428232" y="2505456"/>
            <a:ext cx="384048" cy="384048"/>
          </a:xfrm>
          <a:prstGeom prst="ellipse">
            <a:avLst/>
          </a:prstGeom>
          <a:solidFill>
            <a:srgbClr val="3F7D74"/>
          </a:solidFill>
          <a:ln w="12700">
            <a:solidFill>
              <a:srgbClr val="3F7D74"/>
            </a:solidFill>
            <a:prstDash val="solid"/>
          </a:ln>
        </p:spPr>
      </p:sp>
      <p:sp>
        <p:nvSpPr>
          <p:cNvPr id="17" name="Text 15"/>
          <p:cNvSpPr/>
          <p:nvPr/>
        </p:nvSpPr>
        <p:spPr>
          <a:xfrm>
            <a:off x="6428232"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428232"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Groepseffect</a:t>
            </a:r>
            <a:endParaRPr lang="en-US" sz="1600" dirty="0"/>
          </a:p>
        </p:txBody>
      </p:sp>
      <p:sp>
        <p:nvSpPr>
          <p:cNvPr id="19" name="Text 17"/>
          <p:cNvSpPr/>
          <p:nvPr/>
        </p:nvSpPr>
        <p:spPr>
          <a:xfrm>
            <a:off x="6428232"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Werkt dit systematisch nadelig uit voor een groep, ook zonder bedoeling? Met modellen wordt dat groter.</a:t>
            </a:r>
            <a:endParaRPr lang="en-US" sz="1200" dirty="0"/>
          </a:p>
        </p:txBody>
      </p:sp>
      <p:sp>
        <p:nvSpPr>
          <p:cNvPr id="20" name="Shape 18"/>
          <p:cNvSpPr/>
          <p:nvPr/>
        </p:nvSpPr>
        <p:spPr>
          <a:xfrm>
            <a:off x="8993124" y="2286000"/>
            <a:ext cx="2528316" cy="2651760"/>
          </a:xfrm>
          <a:prstGeom prst="roundRect">
            <a:avLst>
              <a:gd name="adj" fmla="val 2893"/>
            </a:avLst>
          </a:prstGeom>
          <a:solidFill>
            <a:srgbClr val="F1F4F2"/>
          </a:solidFill>
          <a:ln w="12700">
            <a:solidFill>
              <a:srgbClr val="D5DED8"/>
            </a:solidFill>
            <a:prstDash val="solid"/>
          </a:ln>
        </p:spPr>
      </p:sp>
      <p:sp>
        <p:nvSpPr>
          <p:cNvPr id="21" name="Shape 19"/>
          <p:cNvSpPr/>
          <p:nvPr/>
        </p:nvSpPr>
        <p:spPr>
          <a:xfrm>
            <a:off x="9212580" y="2505456"/>
            <a:ext cx="384048" cy="384048"/>
          </a:xfrm>
          <a:prstGeom prst="ellipse">
            <a:avLst/>
          </a:prstGeom>
          <a:solidFill>
            <a:srgbClr val="3F7D74"/>
          </a:solidFill>
          <a:ln w="12700">
            <a:solidFill>
              <a:srgbClr val="3F7D74"/>
            </a:solidFill>
            <a:prstDash val="solid"/>
          </a:ln>
        </p:spPr>
      </p:sp>
      <p:sp>
        <p:nvSpPr>
          <p:cNvPr id="22" name="Text 20"/>
          <p:cNvSpPr/>
          <p:nvPr/>
        </p:nvSpPr>
        <p:spPr>
          <a:xfrm>
            <a:off x="921258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212580"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Precedent</a:t>
            </a:r>
            <a:endParaRPr lang="en-US" sz="1600" dirty="0"/>
          </a:p>
        </p:txBody>
      </p:sp>
      <p:sp>
        <p:nvSpPr>
          <p:cNvPr id="24" name="Text 22"/>
          <p:cNvSpPr/>
          <p:nvPr/>
        </p:nvSpPr>
        <p:spPr>
          <a:xfrm>
            <a:off x="9212580"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Creëren we iets dat we over vijf jaar niet meer kunnen terugdraaien?</a:t>
            </a:r>
            <a:endParaRPr lang="en-US" sz="1200" dirty="0"/>
          </a:p>
        </p:txBody>
      </p:sp>
      <p:sp>
        <p:nvSpPr>
          <p:cNvPr id="25" name="Text 2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Leg de afweging én het genomen besluit vast — niet als dekking, maar omdat het over vijf jaar de vraag beantwoordt hoe dit ooit is besloten.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 · Governance en Ethiek</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Op de 80%-band. Data-ethiek is een eigen kennisgebied, geen bijlage bij security.</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Data als bedrijfsmiddel: de eigenschappen die waardering bemoeilijken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waarderingsbenaderingen en hun toepasselijkheid</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Datamonetisatie in vier vormen, met interne efficiëntie als grootste</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Data-ethiek als eigen gebied, en de relatie tot governance</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data valuation, data monetisation, data intermediary, provenance</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Waarderen</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De portefeuille van Nautilus — laag, midden, hoog, met de dragende aanname.</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65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Data space</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Vijf vragen bij het benchmarkvoorstel. Let op de semantiek.</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55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Inkoop</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Zes onderwerpen — en de beëindigingsclausule die je vastzet.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50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Dilemma</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Vier varianten, één detail verschil. Je weet niet welke je hebt.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Datawaardering en data-economie</dc:title>
  <dc:subject>PptxGenJS Presentation</dc:subject>
  <dc:creator>Ductus B.V.</dc:creator>
  <cp:lastModifiedBy>Ductus B.V.</cp:lastModifiedBy>
  <cp:revision>1</cp:revision>
  <dcterms:created xsi:type="dcterms:W3CDTF">2026-08-05T13:16:17Z</dcterms:created>
  <dcterms:modified xsi:type="dcterms:W3CDTF">2026-08-05T13:16:17Z</dcterms:modified>
</cp:coreProperties>
</file>