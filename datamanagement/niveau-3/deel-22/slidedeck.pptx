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Zet de nieuwe situatie neer. Dat Nautilus kleiner én volwassener is, verrast deelnemers en is de motor van het hele niveau.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overnemende partij is de minst volwassene. Dat is realistisch en het maakt elke keuze in dit niveau politiek geladen.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 verschil wordt zelden uitgevochten — het sijpelt weg in een ontwerpdocument.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Ontwerpen vanuit bestaande systemen levert een plaat op die het heden beschrijft en de toekomst niet stuurt.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Anatomie: uitspraak · rationale · implicaties · uitzonderingsregime. De implicaties ontbreken het vaakst.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Twee van de zes tegenspraken in het materiaal zijn subtiel. Wie ze alle zes vindt, heeft goed gelezen.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overwogen opties · besluit · gevolgen, zowel makkelijker als moeilijker · status, datum en herzieningsmoment.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 argument wordt in architectuurdiscussies zelden genoemd en beslist in de praktijk vaak de uitkomst.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Bij rapportageketens onder toezicht wint parallel draaien — om aantoonbaarheid, niet om techniek. Leg vooraf de duur en de leidende uitkomst vast.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Vier manieren waarop het misgaat: per systeem kiezen · politiek laten beslissen · de keuze uitstellen · kiezen zonder de definitie.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ArchiMate en TOGAF op leesniveau: lagen, relaties, motivatie-elementen. Certificering is niet nodig.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Huiswerk: opdracht 7 — je eigen mislukte architectuurbesluit reconstrueren, plus een besluitregistratie voor de fusie.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828800"/>
            <a:ext cx="9144000" cy="365760"/>
          </a:xfrm>
          <a:prstGeom prst="rect">
            <a:avLst/>
          </a:prstGeom>
          <a:noFill/>
          <a:ln/>
        </p:spPr>
        <p:txBody>
          <a:bodyPr wrap="square" lIns="0" tIns="0" rIns="0" bIns="0" rtlCol="0" anchor="ctr"/>
          <a:lstStyle/>
          <a:p>
            <a:pPr indent="0" marL="0">
              <a:buNone/>
            </a:pPr>
            <a:r>
              <a:rPr lang="en-US" sz="1300" b="1" spc="400" kern="0" dirty="0">
                <a:solidFill>
                  <a:srgbClr val="7FA893"/>
                </a:solidFill>
                <a:latin typeface="Calibri" pitchFamily="34" charset="0"/>
                <a:ea typeface="Calibri" pitchFamily="34" charset="-122"/>
                <a:cs typeface="Calibri" pitchFamily="34" charset="-120"/>
              </a:rPr>
              <a:t>NIVEAU 3 · MEESTERSCHAP · DEEL 22</a:t>
            </a:r>
            <a:endParaRPr lang="en-US" sz="1300" dirty="0"/>
          </a:p>
        </p:txBody>
      </p:sp>
      <p:sp>
        <p:nvSpPr>
          <p:cNvPr id="3" name="Text 1"/>
          <p:cNvSpPr/>
          <p:nvPr/>
        </p:nvSpPr>
        <p:spPr>
          <a:xfrm>
            <a:off x="640080" y="2286000"/>
            <a:ext cx="10058400" cy="1828800"/>
          </a:xfrm>
          <a:prstGeom prst="rect">
            <a:avLst/>
          </a:prstGeom>
          <a:noFill/>
          <a:ln/>
        </p:spPr>
        <p:txBody>
          <a:bodyPr wrap="square" lIns="0" tIns="0" rIns="0" bIns="0" rtlCol="0" anchor="ctr"/>
          <a:lstStyle/>
          <a:p>
            <a:pPr indent="0" marL="0">
              <a:lnSpc>
                <a:spcPts val="5400"/>
              </a:lnSpc>
              <a:buNone/>
            </a:pPr>
            <a:r>
              <a:rPr lang="en-US" sz="4600" b="1" dirty="0">
                <a:solidFill>
                  <a:srgbClr val="FFFFFF"/>
                </a:solidFill>
                <a:latin typeface="Cambria" pitchFamily="34" charset="0"/>
                <a:ea typeface="Cambria" pitchFamily="34" charset="-122"/>
                <a:cs typeface="Cambria" pitchFamily="34" charset="-120"/>
              </a:rPr>
              <a:t>Enterprise</a:t>
            </a:r>
            <a:endParaRPr lang="en-US" sz="4600" dirty="0"/>
          </a:p>
          <a:p>
            <a:pPr indent="0" marL="0">
              <a:lnSpc>
                <a:spcPts val="5400"/>
              </a:lnSpc>
              <a:buNone/>
            </a:pPr>
            <a:r>
              <a:rPr lang="en-US" sz="4600" b="1" dirty="0">
                <a:solidFill>
                  <a:srgbClr val="FFFFFF"/>
                </a:solidFill>
                <a:latin typeface="Cambria" pitchFamily="34" charset="0"/>
                <a:ea typeface="Cambria" pitchFamily="34" charset="-122"/>
                <a:cs typeface="Cambria" pitchFamily="34" charset="-120"/>
              </a:rPr>
              <a:t>data-architectuur</a:t>
            </a:r>
            <a:endParaRPr lang="en-US" sz="4600" dirty="0"/>
          </a:p>
        </p:txBody>
      </p:sp>
      <p:sp>
        <p:nvSpPr>
          <p:cNvPr id="4" name="Text 2"/>
          <p:cNvSpPr/>
          <p:nvPr/>
        </p:nvSpPr>
        <p:spPr>
          <a:xfrm>
            <a:off x="640080" y="4297680"/>
            <a:ext cx="8961120" cy="548640"/>
          </a:xfrm>
          <a:prstGeom prst="rect">
            <a:avLst/>
          </a:prstGeom>
          <a:noFill/>
          <a:ln/>
        </p:spPr>
        <p:txBody>
          <a:bodyPr wrap="square" lIns="0" tIns="0" rIns="0" bIns="0" rtlCol="0" anchor="ctr"/>
          <a:lstStyle/>
          <a:p>
            <a:pPr indent="0" marL="0">
              <a:buNone/>
            </a:pPr>
            <a:r>
              <a:rPr lang="en-US" sz="1700" dirty="0">
                <a:solidFill>
                  <a:srgbClr val="7FA893"/>
                </a:solidFill>
                <a:latin typeface="Calibri" pitchFamily="34" charset="0"/>
                <a:ea typeface="Calibri" pitchFamily="34" charset="-122"/>
                <a:cs typeface="Calibri" pitchFamily="34" charset="-120"/>
              </a:rPr>
              <a:t>Meridiaan drie jaar later. De migratie is klaar, de governance staat. En nu ligt er een fusie.</a:t>
            </a:r>
            <a:endParaRPr lang="en-US" sz="1700" dirty="0"/>
          </a:p>
        </p:txBody>
      </p:sp>
      <p:sp>
        <p:nvSpPr>
          <p:cNvPr id="5" name="Text 3"/>
          <p:cNvSpPr/>
          <p:nvPr/>
        </p:nvSpPr>
        <p:spPr>
          <a:xfrm>
            <a:off x="640080" y="6035040"/>
            <a:ext cx="10058400" cy="365760"/>
          </a:xfrm>
          <a:prstGeom prst="rect">
            <a:avLst/>
          </a:prstGeom>
          <a:noFill/>
          <a:ln/>
        </p:spPr>
        <p:txBody>
          <a:bodyPr wrap="square" lIns="0" tIns="0" rIns="0" bIns="0" rtlCol="0" anchor="ctr"/>
          <a:lstStyle/>
          <a:p>
            <a:pPr indent="0" marL="0">
              <a:buNone/>
            </a:pPr>
            <a:r>
              <a:rPr lang="en-US" sz="1200" dirty="0">
                <a:solidFill>
                  <a:srgbClr val="8FAFA5"/>
                </a:solidFill>
                <a:latin typeface="Calibri" pitchFamily="34" charset="0"/>
                <a:ea typeface="Calibri" pitchFamily="34" charset="-122"/>
                <a:cs typeface="Calibri" pitchFamily="34" charset="-120"/>
              </a:rPr>
              <a:t>Ductus B.V.  ·  5 uur klassikaal  ·  Casus Meridiaan Pensioen N.V.</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DE NIEUWE SITUATIE</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Nautilus Pensioendiensten</a:t>
            </a:r>
            <a:endParaRPr lang="en-US" sz="3400" dirty="0"/>
          </a:p>
        </p:txBody>
      </p:sp>
      <p:sp>
        <p:nvSpPr>
          <p:cNvPr id="4" name="Shape 2"/>
          <p:cNvSpPr/>
          <p:nvPr/>
        </p:nvSpPr>
        <p:spPr>
          <a:xfrm>
            <a:off x="640080" y="2194560"/>
            <a:ext cx="4754880" cy="3017520"/>
          </a:xfrm>
          <a:prstGeom prst="roundRect">
            <a:avLst>
              <a:gd name="adj" fmla="val 3030"/>
            </a:avLst>
          </a:prstGeom>
          <a:solidFill>
            <a:srgbClr val="1B4A48"/>
          </a:solidFill>
          <a:ln w="12700">
            <a:solidFill>
              <a:srgbClr val="1B4A48"/>
            </a:solidFill>
            <a:prstDash val="solid"/>
          </a:ln>
        </p:spPr>
      </p:sp>
      <p:sp>
        <p:nvSpPr>
          <p:cNvPr id="5" name="Text 3"/>
          <p:cNvSpPr/>
          <p:nvPr/>
        </p:nvSpPr>
        <p:spPr>
          <a:xfrm>
            <a:off x="1005840" y="2514600"/>
            <a:ext cx="4023360" cy="1280160"/>
          </a:xfrm>
          <a:prstGeom prst="rect">
            <a:avLst/>
          </a:prstGeom>
          <a:noFill/>
          <a:ln/>
        </p:spPr>
        <p:txBody>
          <a:bodyPr wrap="square" lIns="0" tIns="0" rIns="0" bIns="0" rtlCol="0" anchor="ctr"/>
          <a:lstStyle/>
          <a:p>
            <a:pPr indent="0" marL="0">
              <a:buNone/>
            </a:pPr>
            <a:r>
              <a:rPr lang="en-US" sz="7600" b="1" dirty="0">
                <a:solidFill>
                  <a:srgbClr val="FFFFFF"/>
                </a:solidFill>
                <a:latin typeface="Cambria" pitchFamily="34" charset="0"/>
                <a:ea typeface="Cambria" pitchFamily="34" charset="-122"/>
                <a:cs typeface="Cambria" pitchFamily="34" charset="-120"/>
              </a:rPr>
              <a:t>19</a:t>
            </a:r>
            <a:endParaRPr lang="en-US" sz="7600" dirty="0"/>
          </a:p>
        </p:txBody>
      </p:sp>
      <p:sp>
        <p:nvSpPr>
          <p:cNvPr id="6" name="Text 4"/>
          <p:cNvSpPr/>
          <p:nvPr/>
        </p:nvSpPr>
        <p:spPr>
          <a:xfrm>
            <a:off x="1005840" y="3840480"/>
            <a:ext cx="4023360" cy="1188720"/>
          </a:xfrm>
          <a:prstGeom prst="rect">
            <a:avLst/>
          </a:prstGeom>
          <a:noFill/>
          <a:ln/>
        </p:spPr>
        <p:txBody>
          <a:bodyPr wrap="square" lIns="0" tIns="0" rIns="0" bIns="0" rtlCol="0" anchor="ctr"/>
          <a:lstStyle/>
          <a:p>
            <a:pPr indent="0" marL="0">
              <a:lnSpc>
                <a:spcPts val="2100"/>
              </a:lnSpc>
              <a:buNone/>
            </a:pPr>
            <a:r>
              <a:rPr lang="en-US" sz="1500" dirty="0">
                <a:solidFill>
                  <a:srgbClr val="7FA893"/>
                </a:solidFill>
                <a:latin typeface="Calibri" pitchFamily="34" charset="0"/>
                <a:ea typeface="Calibri" pitchFamily="34" charset="-122"/>
                <a:cs typeface="Calibri" pitchFamily="34" charset="-120"/>
              </a:rPr>
              <a:t>kernbegrippen waarop de definities van beide organisaties afwijken. Fusiedatum over achttien maanden.</a:t>
            </a:r>
            <a:endParaRPr lang="en-US" sz="1500" dirty="0"/>
          </a:p>
        </p:txBody>
      </p:sp>
      <p:sp>
        <p:nvSpPr>
          <p:cNvPr id="7" name="Text 5"/>
          <p:cNvSpPr/>
          <p:nvPr/>
        </p:nvSpPr>
        <p:spPr>
          <a:xfrm>
            <a:off x="5943600" y="2377440"/>
            <a:ext cx="5577840" cy="29260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0E1A1C"/>
                </a:solidFill>
                <a:latin typeface="Calibri" pitchFamily="34" charset="0"/>
                <a:ea typeface="Calibri" pitchFamily="34" charset="-122"/>
                <a:cs typeface="Calibri" pitchFamily="34" charset="-120"/>
              </a:rPr>
              <a:t>210.000 deelnemers, kleiner dan Meridiaan</a:t>
            </a:r>
            <a:endParaRPr lang="en-US" sz="1600" dirty="0"/>
          </a:p>
          <a:p>
            <a:pPr marL="342900" indent="-342900">
              <a:spcAft>
                <a:spcPts val="800"/>
              </a:spcAft>
              <a:buSzPct val="100000"/>
              <a:buChar char="•"/>
            </a:pPr>
            <a:r>
              <a:rPr lang="en-US" sz="1600" dirty="0">
                <a:solidFill>
                  <a:srgbClr val="0E1A1C"/>
                </a:solidFill>
                <a:latin typeface="Calibri" pitchFamily="34" charset="0"/>
                <a:ea typeface="Calibri" pitchFamily="34" charset="-122"/>
                <a:cs typeface="Calibri" pitchFamily="34" charset="-120"/>
              </a:rPr>
              <a:t>Governance op niveau 3 tot 4 — verder dan Meridiaan</a:t>
            </a:r>
            <a:endParaRPr lang="en-US" sz="1600" dirty="0"/>
          </a:p>
          <a:p>
            <a:pPr marL="342900" indent="-342900">
              <a:spcAft>
                <a:spcPts val="800"/>
              </a:spcAft>
              <a:buSzPct val="100000"/>
              <a:buChar char="•"/>
            </a:pPr>
            <a:r>
              <a:rPr lang="en-US" sz="1600" dirty="0">
                <a:solidFill>
                  <a:srgbClr val="0E1A1C"/>
                </a:solidFill>
                <a:latin typeface="Calibri" pitchFamily="34" charset="0"/>
                <a:ea typeface="Calibri" pitchFamily="34" charset="-122"/>
                <a:cs typeface="Calibri" pitchFamily="34" charset="-120"/>
              </a:rPr>
              <a:t>Lakehouse op een andere cloud, eigen architectuurfunctie</a:t>
            </a:r>
            <a:endParaRPr lang="en-US" sz="1600" dirty="0"/>
          </a:p>
          <a:p>
            <a:pPr marL="342900" indent="-342900">
              <a:spcAft>
                <a:spcPts val="800"/>
              </a:spcAft>
              <a:buSzPct val="100000"/>
              <a:buChar char="•"/>
            </a:pPr>
            <a:r>
              <a:rPr lang="en-US" sz="1600" dirty="0">
                <a:solidFill>
                  <a:srgbClr val="0E1A1C"/>
                </a:solidFill>
                <a:latin typeface="Calibri" pitchFamily="34" charset="0"/>
                <a:ea typeface="Calibri" pitchFamily="34" charset="-122"/>
                <a:cs typeface="Calibri" pitchFamily="34" charset="-120"/>
              </a:rPr>
              <a:t>Zwakkere datakwaliteit, sterker begrippenkader</a:t>
            </a:r>
            <a:endParaRPr lang="en-US" sz="1600" dirty="0"/>
          </a:p>
        </p:txBody>
      </p:sp>
      <p:sp>
        <p:nvSpPr>
          <p:cNvPr id="8" name="Text 6"/>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De vraag is niet hoe je iets inricht, maar hoe je twee inrichtingen samenvoegt zonder de goede kant weg te gooien.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POSITIE</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Wie gaat waarover?</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De grenzen zijn vloeiend. Dat is geen probleem zolang je weet wie waarover beslist.</a:t>
            </a:r>
            <a:endParaRPr lang="en-US" sz="1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2560320"/>
                <a:gridCol w="3840480"/>
                <a:gridCol w="4480560"/>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Discipline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Beslist over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Waar het schuurt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38912">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Businessarchitectuur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Capabilities, processen, organisatie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Wie bepaalt welke informatie een capability nodig heeft?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Applicatiearchitectuur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Welke applicaties, hoe gekoppeld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Wie bepaalt welk systeem de bron van waarheid is?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38912">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Technologiearchitectuur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Platformen, infrastructuur, cloud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Wie bepaalt waar data fysiek staat?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Securityarchitectuur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Maatregelen en zones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Wie bepaalt de classificatie van een datadomein?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38912">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Data-architectuur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Betekenis, samenhang, herkomst, eigenaarschap</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bl>
          </a:graphicData>
        </a:graphic>
      </p:graphicFrame>
      <p:sp>
        <p:nvSpPr>
          <p:cNvPr id="6" name="Text 3"/>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Applicatiearchitecten wijzen het meest volledige systeem aan; data-architecten dat waar het gegeven ontstaat. Die twee vallen niet altijd samen.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CAPABILITY-GEDREVEN</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Begin bij wat de organisatie moet kunnen</a:t>
            </a:r>
            <a:endParaRPr lang="en-US" sz="3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2286000"/>
                <a:gridCol w="3840480"/>
                <a:gridCol w="4754880"/>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Stap</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Vraag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Bij de fusie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38912">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Capabilities benoemen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Wat moet de gefuseerde organisatie kunnen?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Deelnemer bedienen, premie innen, vermogen beheren, verantwoorden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Informatiebehoefte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Welke informatie heeft die capability nodig?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Eén deelnemersbeeld over beide portefeuilles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38912">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Datadomeinen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Welke samenhangende gebieden volgen daaruit?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Deelnemer, Werkgever, Regeling, Belegging, Financieel</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Bron aanwijzen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Welk systeem levert dit gezaghebbend?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Het conflict: twee kandidaten per domein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38912">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Gaten benoemen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Welke capability heeft geen bron?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Verantwoording over de gecombineerde portefeuille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bl>
          </a:graphicData>
        </a:graphic>
      </p:graphicFrame>
      <p:sp>
        <p:nvSpPr>
          <p:cNvPr id="5" name="Text 2"/>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De laatste stap wordt het vaakst overgeslagen en levert het meeste op — een capability zonder bron wordt zichtbaar zodra een toezichthouder ernaar vraagt.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DE TOETS VOOR EEN PRINCIPE</a:t>
            </a:r>
            <a:endParaRPr lang="en-US" sz="1100" dirty="0"/>
          </a:p>
        </p:txBody>
      </p:sp>
      <p:sp>
        <p:nvSpPr>
          <p:cNvPr id="3" name="Text 1"/>
          <p:cNvSpPr/>
          <p:nvPr/>
        </p:nvSpPr>
        <p:spPr>
          <a:xfrm>
            <a:off x="640080" y="2011680"/>
            <a:ext cx="10881360" cy="1828800"/>
          </a:xfrm>
          <a:prstGeom prst="rect">
            <a:avLst/>
          </a:prstGeom>
          <a:noFill/>
          <a:ln/>
        </p:spPr>
        <p:txBody>
          <a:bodyPr wrap="square" lIns="0" tIns="0" rIns="0" bIns="0" rtlCol="0" anchor="t"/>
          <a:lstStyle/>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Welk voorstel van vorig jaar</a:t>
            </a:r>
            <a:endParaRPr lang="en-US" sz="3200" dirty="0"/>
          </a:p>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zou hierdoor zijn afgewezen?</a:t>
            </a:r>
            <a:endParaRPr lang="en-US" sz="3200" dirty="0"/>
          </a:p>
        </p:txBody>
      </p:sp>
      <p:sp>
        <p:nvSpPr>
          <p:cNvPr id="4" name="Text 2"/>
          <p:cNvSpPr/>
          <p:nvPr/>
        </p:nvSpPr>
        <p:spPr>
          <a:xfrm>
            <a:off x="640080" y="4160520"/>
            <a:ext cx="9052560" cy="1280160"/>
          </a:xfrm>
          <a:prstGeom prst="rect">
            <a:avLst/>
          </a:prstGeom>
          <a:noFill/>
          <a:ln/>
        </p:spPr>
        <p:txBody>
          <a:bodyPr wrap="square" lIns="0" tIns="0" rIns="0" bIns="0" rtlCol="0" anchor="t"/>
          <a:lstStyle/>
          <a:p>
            <a:pPr indent="0" marL="0">
              <a:lnSpc>
                <a:spcPts val="2200"/>
              </a:lnSpc>
              <a:buNone/>
            </a:pPr>
            <a:r>
              <a:rPr lang="en-US" sz="1500" dirty="0">
                <a:solidFill>
                  <a:srgbClr val="7FA893"/>
                </a:solidFill>
                <a:latin typeface="Calibri" pitchFamily="34" charset="0"/>
                <a:ea typeface="Calibri" pitchFamily="34" charset="-122"/>
                <a:cs typeface="Calibri" pitchFamily="34" charset="-120"/>
              </a:rPr>
              <a:t>Is het antwoord "geen enkel", dan is het een wenselijkheid en geen principe. "Wij streven naar hoge datakwaliteit" sluit niets uit. "Elk gegeven heeft één aangewezen bron van waarheid" dwingt bij de fusie tot een keuze per domein.</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PRINCIPES</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Bij een fusie tellen ze niet op</a:t>
            </a:r>
            <a:endParaRPr lang="en-US" sz="3400" dirty="0"/>
          </a:p>
        </p:txBody>
      </p:sp>
      <p:sp>
        <p:nvSpPr>
          <p:cNvPr id="4" name="Text 2"/>
          <p:cNvSpPr/>
          <p:nvPr/>
        </p:nvSpPr>
        <p:spPr>
          <a:xfrm>
            <a:off x="640080" y="2148840"/>
            <a:ext cx="5303520" cy="365760"/>
          </a:xfrm>
          <a:prstGeom prst="rect">
            <a:avLst/>
          </a:prstGeom>
          <a:noFill/>
          <a:ln/>
        </p:spPr>
        <p:txBody>
          <a:bodyPr wrap="square" lIns="0" tIns="0" rIns="0" bIns="0" rtlCol="0" anchor="ctr"/>
          <a:lstStyle/>
          <a:p>
            <a:pPr indent="0" marL="0">
              <a:buNone/>
            </a:pPr>
            <a:r>
              <a:rPr lang="en-US" sz="2000" b="1" dirty="0">
                <a:solidFill>
                  <a:srgbClr val="3F7D74"/>
                </a:solidFill>
                <a:latin typeface="Cambria" pitchFamily="34" charset="0"/>
                <a:ea typeface="Cambria" pitchFamily="34" charset="-122"/>
                <a:cs typeface="Cambria" pitchFamily="34" charset="-120"/>
              </a:rPr>
              <a:t>Wat er gebeurt als je dat wel doet</a:t>
            </a:r>
            <a:endParaRPr lang="en-US" sz="2000" dirty="0"/>
          </a:p>
        </p:txBody>
      </p:sp>
      <p:sp>
        <p:nvSpPr>
          <p:cNvPr id="5" name="Text 3"/>
          <p:cNvSpPr/>
          <p:nvPr/>
        </p:nvSpPr>
        <p:spPr>
          <a:xfrm>
            <a:off x="640080" y="2606040"/>
            <a:ext cx="5303520" cy="31089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Negen van Meridiaan plus zestien van Nautilus is vijfentwintig</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Waarvan er zes elkaar tegenspreken</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Meer dan tien worden niet onthouden en dus niet toegepast</a:t>
            </a:r>
            <a:endParaRPr lang="en-US" sz="1500" dirty="0"/>
          </a:p>
        </p:txBody>
      </p:sp>
      <p:sp>
        <p:nvSpPr>
          <p:cNvPr id="6" name="Text 4"/>
          <p:cNvSpPr/>
          <p:nvPr/>
        </p:nvSpPr>
        <p:spPr>
          <a:xfrm>
            <a:off x="6309360" y="2148840"/>
            <a:ext cx="5212080" cy="365760"/>
          </a:xfrm>
          <a:prstGeom prst="rect">
            <a:avLst/>
          </a:prstGeom>
          <a:noFill/>
          <a:ln/>
        </p:spPr>
        <p:txBody>
          <a:bodyPr wrap="square" lIns="0" tIns="0" rIns="0" bIns="0" rtlCol="0" anchor="ctr"/>
          <a:lstStyle/>
          <a:p>
            <a:pPr indent="0" marL="0">
              <a:buNone/>
            </a:pPr>
            <a:r>
              <a:rPr lang="en-US" sz="2000" b="1" dirty="0">
                <a:solidFill>
                  <a:srgbClr val="3F7D74"/>
                </a:solidFill>
                <a:latin typeface="Cambria" pitchFamily="34" charset="0"/>
                <a:ea typeface="Cambria" pitchFamily="34" charset="-122"/>
                <a:cs typeface="Cambria" pitchFamily="34" charset="-120"/>
              </a:rPr>
              <a:t>Wat je wel doet</a:t>
            </a:r>
            <a:endParaRPr lang="en-US" sz="2000" dirty="0"/>
          </a:p>
        </p:txBody>
      </p:sp>
      <p:sp>
        <p:nvSpPr>
          <p:cNvPr id="7" name="Text 5"/>
          <p:cNvSpPr/>
          <p:nvPr/>
        </p:nvSpPr>
        <p:spPr>
          <a:xfrm>
            <a:off x="6309360" y="2606040"/>
            <a:ext cx="5212080" cy="31089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Kies er zes tot acht</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Maak de tegenspraak expliciet in plaats van hem glad te strijken</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Een formulering die beide kanten kunnen lezen zoals ze willen, werkt tot het eerste project dat erop stukloopt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BESLUITREGISTRATIE</a:t>
            </a:r>
            <a:endParaRPr lang="en-US" sz="1100" dirty="0"/>
          </a:p>
        </p:txBody>
      </p:sp>
      <p:sp>
        <p:nvSpPr>
          <p:cNvPr id="3" name="Text 1"/>
          <p:cNvSpPr/>
          <p:nvPr/>
        </p:nvSpPr>
        <p:spPr>
          <a:xfrm>
            <a:off x="640080" y="2011680"/>
            <a:ext cx="10881360" cy="1828800"/>
          </a:xfrm>
          <a:prstGeom prst="rect">
            <a:avLst/>
          </a:prstGeom>
          <a:noFill/>
          <a:ln/>
        </p:spPr>
        <p:txBody>
          <a:bodyPr wrap="square" lIns="0" tIns="0" rIns="0" bIns="0" rtlCol="0" anchor="t"/>
          <a:lstStyle/>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De afgevallen opties zijn het meest waard.</a:t>
            </a:r>
            <a:endParaRPr lang="en-US" sz="3200" dirty="0"/>
          </a:p>
        </p:txBody>
      </p:sp>
      <p:sp>
        <p:nvSpPr>
          <p:cNvPr id="4" name="Text 2"/>
          <p:cNvSpPr/>
          <p:nvPr/>
        </p:nvSpPr>
        <p:spPr>
          <a:xfrm>
            <a:off x="640080" y="4160520"/>
            <a:ext cx="9052560" cy="1280160"/>
          </a:xfrm>
          <a:prstGeom prst="rect">
            <a:avLst/>
          </a:prstGeom>
          <a:noFill/>
          <a:ln/>
        </p:spPr>
        <p:txBody>
          <a:bodyPr wrap="square" lIns="0" tIns="0" rIns="0" bIns="0" rtlCol="0" anchor="t"/>
          <a:lstStyle/>
          <a:p>
            <a:pPr indent="0" marL="0">
              <a:lnSpc>
                <a:spcPts val="2200"/>
              </a:lnSpc>
              <a:buNone/>
            </a:pPr>
            <a:r>
              <a:rPr lang="en-US" sz="1500" dirty="0">
                <a:solidFill>
                  <a:srgbClr val="7FA893"/>
                </a:solidFill>
                <a:latin typeface="Calibri" pitchFamily="34" charset="0"/>
                <a:ea typeface="Calibri" pitchFamily="34" charset="-122"/>
                <a:cs typeface="Calibri" pitchFamily="34" charset="-120"/>
              </a:rPr>
              <a:t>Wie over vijf jaar leest dat er voor een centraal deelnemersbeeld is gekozen, wil weten of federatieve varianten zijn overwogen en waarom ze afvielen. Anders begint de discussie opnieuw — met dezelfde argumenten en zonder de context van toen.</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RATIONALISATIE</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Vijf criteria — de laatste beslist vaak</a:t>
            </a:r>
            <a:endParaRPr lang="en-US" sz="3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2377440"/>
                <a:gridCol w="3840480"/>
                <a:gridCol w="4663440"/>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Criterium</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Wat je beoordeelt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Let op</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38912">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Functionele overlap</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Doen twee systemen hetzelfde?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Overlap is zelden volledig; de rest bepaalt de kosten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Datakwaliteit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Welk systeem is betrouwbaarder?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Meet het, niet op reputatie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38912">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Levensduur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Hoe lang gaat dit nog mee?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Nieuwer is niet automatisch beter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Afhankelijkheden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Wie hangt eraan, en hoe strak?</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De verborgen kosten zitten hier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38912">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Beheerkennis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Wie kan dit systeem nog beheren?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Vaak doorslaggevend, zelden in de business case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bl>
          </a:graphicData>
        </a:graphic>
      </p:graphicFrame>
      <p:sp>
        <p:nvSpPr>
          <p:cNvPr id="5" name="Text 2"/>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Een systeem dat door drie mensen wordt beheerd van wie er twee bij de reorganisatie vertrekken, is een risico ongeacht zijn technische kwaliteit.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MIGRATIE</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Elke strategie verplaatst het risico</a:t>
            </a:r>
            <a:endParaRPr lang="en-US" sz="3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2011680"/>
                <a:gridCol w="4206240"/>
                <a:gridCol w="466344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Strategie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Hoe het werkt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Verplaatst risico naar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75488">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Big bang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Alles tegelijk op een vast moment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Eén moment, met beperkte terugval</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75488">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Strangler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Nieuw systeem neemt stapsgewijs over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De lange periode met twee systemen naast elkaar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75488">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Parallel draaien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Beide produceren, uitkomsten vergeleken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Dubbele beheerlast en verwarring over de leidende uitkomst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75488">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Coëxistentie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Beide blijven, met een werkverdeling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De permanente complexiteit van twee waarheden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bl>
          </a:graphicData>
        </a:graphic>
      </p:graphicFrame>
      <p:sp>
        <p:nvSpPr>
          <p:cNvPr id="5" name="Text 2"/>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De vraag aan de board is niet welke strategie veilig is, maar welk risico de organisatie het beste kan dragen. Dat is een keuze die een board kan maken.</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DE VOLGORDE</a:t>
            </a:r>
            <a:endParaRPr lang="en-US" sz="1100" dirty="0"/>
          </a:p>
        </p:txBody>
      </p:sp>
      <p:sp>
        <p:nvSpPr>
          <p:cNvPr id="3" name="Text 1"/>
          <p:cNvSpPr/>
          <p:nvPr/>
        </p:nvSpPr>
        <p:spPr>
          <a:xfrm>
            <a:off x="640080" y="2011680"/>
            <a:ext cx="10881360" cy="1828800"/>
          </a:xfrm>
          <a:prstGeom prst="rect">
            <a:avLst/>
          </a:prstGeom>
          <a:noFill/>
          <a:ln/>
        </p:spPr>
        <p:txBody>
          <a:bodyPr wrap="square" lIns="0" tIns="0" rIns="0" bIns="0" rtlCol="0" anchor="t"/>
          <a:lstStyle/>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Eerst de definitie.</a:t>
            </a:r>
            <a:endParaRPr lang="en-US" sz="3200" dirty="0"/>
          </a:p>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Dan de bron. Dan de migratie.</a:t>
            </a:r>
            <a:endParaRPr lang="en-US" sz="3200" dirty="0"/>
          </a:p>
        </p:txBody>
      </p:sp>
      <p:sp>
        <p:nvSpPr>
          <p:cNvPr id="4" name="Text 2"/>
          <p:cNvSpPr/>
          <p:nvPr/>
        </p:nvSpPr>
        <p:spPr>
          <a:xfrm>
            <a:off x="640080" y="4160520"/>
            <a:ext cx="9052560" cy="1280160"/>
          </a:xfrm>
          <a:prstGeom prst="rect">
            <a:avLst/>
          </a:prstGeom>
          <a:noFill/>
          <a:ln/>
        </p:spPr>
        <p:txBody>
          <a:bodyPr wrap="square" lIns="0" tIns="0" rIns="0" bIns="0" rtlCol="0" anchor="t"/>
          <a:lstStyle/>
          <a:p>
            <a:pPr indent="0" marL="0">
              <a:lnSpc>
                <a:spcPts val="2200"/>
              </a:lnSpc>
              <a:buNone/>
            </a:pPr>
            <a:r>
              <a:rPr lang="en-US" sz="1500" dirty="0">
                <a:solidFill>
                  <a:srgbClr val="7FA893"/>
                </a:solidFill>
                <a:latin typeface="Calibri" pitchFamily="34" charset="0"/>
                <a:ea typeface="Calibri" pitchFamily="34" charset="-122"/>
                <a:cs typeface="Calibri" pitchFamily="34" charset="-120"/>
              </a:rPr>
              <a:t>Wie die volgorde omdraait, migreert gegevens waarvan de betekenis nog niet vaststaat — en dat werk moet over. Negentien kernbegrippen wijken af; vijf daarvan alleen in naamgeving, veertien in betekenis.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EXAMENLIJN</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CDMP · Data Architecture</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Op niveau 3 op de 80%-band. De architectuurkaders zijn praktijkkennis, geen examenstof.</a:t>
            </a:r>
            <a:endParaRPr lang="en-US" sz="1600" dirty="0"/>
          </a:p>
        </p:txBody>
      </p:sp>
      <p:sp>
        <p:nvSpPr>
          <p:cNvPr id="5" name="Text 3"/>
          <p:cNvSpPr/>
          <p:nvPr/>
        </p:nvSpPr>
        <p:spPr>
          <a:xfrm>
            <a:off x="640080" y="2286000"/>
            <a:ext cx="603504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Het onderscheid tussen data-architectuur en datamodellering</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De artefacten: enterprise datamodel, domeinindeling, bron van waarheid, principes</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De relatie met de andere architectuurdisciplines</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Architectuurprincipes en hun functie in besluitvorming</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Engels: system of record, architecture principle, rationalisation</a:t>
            </a:r>
            <a:endParaRPr lang="en-US" sz="1500" dirty="0"/>
          </a:p>
        </p:txBody>
      </p:sp>
      <p:sp>
        <p:nvSpPr>
          <p:cNvPr id="6" name="Shape 4"/>
          <p:cNvSpPr/>
          <p:nvPr/>
        </p:nvSpPr>
        <p:spPr>
          <a:xfrm>
            <a:off x="7223760" y="2148840"/>
            <a:ext cx="4297680" cy="2834640"/>
          </a:xfrm>
          <a:prstGeom prst="roundRect">
            <a:avLst>
              <a:gd name="adj" fmla="val 2581"/>
            </a:avLst>
          </a:prstGeom>
          <a:solidFill>
            <a:srgbClr val="F6F3EC"/>
          </a:solidFill>
          <a:ln w="12700">
            <a:solidFill>
              <a:srgbClr val="E2D9C4"/>
            </a:solidFill>
            <a:prstDash val="solid"/>
          </a:ln>
        </p:spPr>
      </p:sp>
      <p:sp>
        <p:nvSpPr>
          <p:cNvPr id="7" name="Text 5"/>
          <p:cNvSpPr/>
          <p:nvPr/>
        </p:nvSpPr>
        <p:spPr>
          <a:xfrm>
            <a:off x="7452360" y="2377440"/>
            <a:ext cx="3840480" cy="274320"/>
          </a:xfrm>
          <a:prstGeom prst="rect">
            <a:avLst/>
          </a:prstGeom>
          <a:noFill/>
          <a:ln/>
        </p:spPr>
        <p:txBody>
          <a:bodyPr wrap="square" lIns="0" tIns="0" rIns="0" bIns="0" rtlCol="0" anchor="ctr"/>
          <a:lstStyle/>
          <a:p>
            <a:pPr indent="0" marL="0">
              <a:buNone/>
            </a:pPr>
            <a:r>
              <a:rPr lang="en-US" sz="1100" b="1" spc="100" kern="0" dirty="0">
                <a:solidFill>
                  <a:srgbClr val="B0803A"/>
                </a:solidFill>
                <a:latin typeface="Calibri" pitchFamily="34" charset="0"/>
                <a:ea typeface="Calibri" pitchFamily="34" charset="-122"/>
                <a:cs typeface="Calibri" pitchFamily="34" charset="-120"/>
              </a:rPr>
              <a:t>VOORBEREIDING, GEEN VERVANGING</a:t>
            </a:r>
            <a:endParaRPr lang="en-US" sz="1100" dirty="0"/>
          </a:p>
        </p:txBody>
      </p:sp>
      <p:sp>
        <p:nvSpPr>
          <p:cNvPr id="8" name="Text 6"/>
          <p:cNvSpPr/>
          <p:nvPr/>
        </p:nvSpPr>
        <p:spPr>
          <a:xfrm>
            <a:off x="7452360" y="2743200"/>
            <a:ext cx="3840480" cy="2103120"/>
          </a:xfrm>
          <a:prstGeom prst="rect">
            <a:avLst/>
          </a:prstGeom>
          <a:noFill/>
          <a:ln/>
        </p:spPr>
        <p:txBody>
          <a:bodyPr wrap="square" lIns="0" tIns="0" rIns="0" bIns="0" rtlCol="0" anchor="t"/>
          <a:lstStyle/>
          <a:p>
            <a:pPr indent="0" marL="0">
              <a:lnSpc>
                <a:spcPts val="1800"/>
              </a:lnSpc>
              <a:buNone/>
            </a:pPr>
            <a:r>
              <a:rPr lang="en-US" sz="1250" dirty="0">
                <a:solidFill>
                  <a:srgbClr val="0E1A1C"/>
                </a:solidFill>
                <a:latin typeface="Calibri" pitchFamily="34" charset="0"/>
                <a:ea typeface="Calibri" pitchFamily="34" charset="-122"/>
                <a:cs typeface="Calibri" pitchFamily="34" charset="-120"/>
              </a:rPr>
              <a:t>Ductus is niet gelieerd aan of geaccrediteerd door DAMA International. Dit materiaal reproduceert het DMBOK niet en vervangt het niet.</a:t>
            </a:r>
            <a:endParaRPr lang="en-US" sz="1250" dirty="0"/>
          </a:p>
          <a:p>
            <a:pPr indent="0" marL="0">
              <a:lnSpc>
                <a:spcPts val="1800"/>
              </a:lnSpc>
              <a:buNone/>
            </a:pPr>
            <a:endParaRPr lang="en-US" sz="1250" dirty="0"/>
          </a:p>
          <a:p>
            <a:pPr indent="0" marL="0">
              <a:lnSpc>
                <a:spcPts val="1800"/>
              </a:lnSpc>
              <a:buNone/>
            </a:pPr>
            <a:r>
              <a:rPr lang="en-US" sz="1250" dirty="0">
                <a:solidFill>
                  <a:srgbClr val="0E1A1C"/>
                </a:solidFill>
                <a:latin typeface="Calibri" pitchFamily="34" charset="0"/>
                <a:ea typeface="Calibri" pitchFamily="34" charset="-122"/>
                <a:cs typeface="Calibri" pitchFamily="34" charset="-120"/>
              </a:rPr>
              <a:t>Schaf de DMBOK2 Revised Edition zelf aan — tijdens het examen is dat het enige toegestane hulpmiddel, in papier óf digitaal.</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AAN HET WERK</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Wat we vandaag doen</a:t>
            </a:r>
            <a:endParaRPr lang="en-US" sz="3400" dirty="0"/>
          </a:p>
        </p:txBody>
      </p:sp>
      <p:sp>
        <p:nvSpPr>
          <p:cNvPr id="4" name="Shape 2"/>
          <p:cNvSpPr/>
          <p:nvPr/>
        </p:nvSpPr>
        <p:spPr>
          <a:xfrm>
            <a:off x="640080" y="2377440"/>
            <a:ext cx="2528316" cy="2468880"/>
          </a:xfrm>
          <a:prstGeom prst="roundRect">
            <a:avLst>
              <a:gd name="adj" fmla="val 2963"/>
            </a:avLst>
          </a:prstGeom>
          <a:solidFill>
            <a:srgbClr val="17423F"/>
          </a:solidFill>
          <a:ln w="12700">
            <a:solidFill>
              <a:srgbClr val="2C5A56"/>
            </a:solidFill>
            <a:prstDash val="solid"/>
          </a:ln>
        </p:spPr>
      </p:sp>
      <p:sp>
        <p:nvSpPr>
          <p:cNvPr id="5" name="Shape 3"/>
          <p:cNvSpPr/>
          <p:nvPr/>
        </p:nvSpPr>
        <p:spPr>
          <a:xfrm>
            <a:off x="859536" y="2596896"/>
            <a:ext cx="384048" cy="384048"/>
          </a:xfrm>
          <a:prstGeom prst="ellipse">
            <a:avLst/>
          </a:prstGeom>
          <a:solidFill>
            <a:srgbClr val="3F7D74"/>
          </a:solidFill>
          <a:ln w="12700">
            <a:solidFill>
              <a:srgbClr val="3F7D74"/>
            </a:solidFill>
            <a:prstDash val="solid"/>
          </a:ln>
        </p:spPr>
      </p:sp>
      <p:sp>
        <p:nvSpPr>
          <p:cNvPr id="6" name="Text 4"/>
          <p:cNvSpPr/>
          <p:nvPr/>
        </p:nvSpPr>
        <p:spPr>
          <a:xfrm>
            <a:off x="859536"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7" name="Text 5"/>
          <p:cNvSpPr/>
          <p:nvPr/>
        </p:nvSpPr>
        <p:spPr>
          <a:xfrm>
            <a:off x="859536" y="3090672"/>
            <a:ext cx="2089404" cy="384048"/>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Principes</a:t>
            </a:r>
            <a:endParaRPr lang="en-US" sz="1800" dirty="0"/>
          </a:p>
        </p:txBody>
      </p:sp>
      <p:sp>
        <p:nvSpPr>
          <p:cNvPr id="8" name="Text 6"/>
          <p:cNvSpPr/>
          <p:nvPr/>
        </p:nvSpPr>
        <p:spPr>
          <a:xfrm>
            <a:off x="859536" y="3511296"/>
            <a:ext cx="2089404" cy="1152144"/>
          </a:xfrm>
          <a:prstGeom prst="rect">
            <a:avLst/>
          </a:prstGeom>
          <a:noFill/>
          <a:ln/>
        </p:spPr>
        <p:txBody>
          <a:bodyPr wrap="square" lIns="0" tIns="0" rIns="0" bIns="0" rtlCol="0" anchor="t"/>
          <a:lstStyle/>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Vijfentwintig beoordelen, zes tegenspraken vinden, acht overhouden.</a:t>
            </a:r>
            <a:endParaRPr lang="en-US" sz="1200" dirty="0"/>
          </a:p>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60 minuten.</a:t>
            </a:r>
            <a:endParaRPr lang="en-US" sz="1200" dirty="0"/>
          </a:p>
        </p:txBody>
      </p:sp>
      <p:sp>
        <p:nvSpPr>
          <p:cNvPr id="9" name="Shape 7"/>
          <p:cNvSpPr/>
          <p:nvPr/>
        </p:nvSpPr>
        <p:spPr>
          <a:xfrm>
            <a:off x="3424428" y="2377440"/>
            <a:ext cx="2528316" cy="2468880"/>
          </a:xfrm>
          <a:prstGeom prst="roundRect">
            <a:avLst>
              <a:gd name="adj" fmla="val 2963"/>
            </a:avLst>
          </a:prstGeom>
          <a:solidFill>
            <a:srgbClr val="17423F"/>
          </a:solidFill>
          <a:ln w="12700">
            <a:solidFill>
              <a:srgbClr val="2C5A56"/>
            </a:solidFill>
            <a:prstDash val="solid"/>
          </a:ln>
        </p:spPr>
      </p:sp>
      <p:sp>
        <p:nvSpPr>
          <p:cNvPr id="10" name="Shape 8"/>
          <p:cNvSpPr/>
          <p:nvPr/>
        </p:nvSpPr>
        <p:spPr>
          <a:xfrm>
            <a:off x="3643884" y="2596896"/>
            <a:ext cx="384048" cy="384048"/>
          </a:xfrm>
          <a:prstGeom prst="ellipse">
            <a:avLst/>
          </a:prstGeom>
          <a:solidFill>
            <a:srgbClr val="3F7D74"/>
          </a:solidFill>
          <a:ln w="12700">
            <a:solidFill>
              <a:srgbClr val="3F7D74"/>
            </a:solidFill>
            <a:prstDash val="solid"/>
          </a:ln>
        </p:spPr>
      </p:sp>
      <p:sp>
        <p:nvSpPr>
          <p:cNvPr id="11" name="Text 9"/>
          <p:cNvSpPr/>
          <p:nvPr/>
        </p:nvSpPr>
        <p:spPr>
          <a:xfrm>
            <a:off x="3643884"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2" name="Text 10"/>
          <p:cNvSpPr/>
          <p:nvPr/>
        </p:nvSpPr>
        <p:spPr>
          <a:xfrm>
            <a:off x="3643884" y="3090672"/>
            <a:ext cx="2089404" cy="384048"/>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Bron van waarheid</a:t>
            </a:r>
            <a:endParaRPr lang="en-US" sz="1800" dirty="0"/>
          </a:p>
        </p:txBody>
      </p:sp>
      <p:sp>
        <p:nvSpPr>
          <p:cNvPr id="13" name="Text 11"/>
          <p:cNvSpPr/>
          <p:nvPr/>
        </p:nvSpPr>
        <p:spPr>
          <a:xfrm>
            <a:off x="3643884" y="3511296"/>
            <a:ext cx="2089404" cy="1152144"/>
          </a:xfrm>
          <a:prstGeom prst="rect">
            <a:avLst/>
          </a:prstGeom>
          <a:noFill/>
          <a:ln/>
        </p:spPr>
        <p:txBody>
          <a:bodyPr wrap="square" lIns="0" tIns="0" rIns="0" bIns="0" rtlCol="0" anchor="t"/>
          <a:lstStyle/>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Negentien begrippen beslechten — definitie eerst.</a:t>
            </a:r>
            <a:endParaRPr lang="en-US" sz="1200" dirty="0"/>
          </a:p>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70 minuten.</a:t>
            </a:r>
            <a:endParaRPr lang="en-US" sz="1200" dirty="0"/>
          </a:p>
        </p:txBody>
      </p:sp>
      <p:sp>
        <p:nvSpPr>
          <p:cNvPr id="14" name="Shape 12"/>
          <p:cNvSpPr/>
          <p:nvPr/>
        </p:nvSpPr>
        <p:spPr>
          <a:xfrm>
            <a:off x="6208776" y="2377440"/>
            <a:ext cx="2528316" cy="2468880"/>
          </a:xfrm>
          <a:prstGeom prst="roundRect">
            <a:avLst>
              <a:gd name="adj" fmla="val 2963"/>
            </a:avLst>
          </a:prstGeom>
          <a:solidFill>
            <a:srgbClr val="17423F"/>
          </a:solidFill>
          <a:ln w="12700">
            <a:solidFill>
              <a:srgbClr val="2C5A56"/>
            </a:solidFill>
            <a:prstDash val="solid"/>
          </a:ln>
        </p:spPr>
      </p:sp>
      <p:sp>
        <p:nvSpPr>
          <p:cNvPr id="15" name="Shape 13"/>
          <p:cNvSpPr/>
          <p:nvPr/>
        </p:nvSpPr>
        <p:spPr>
          <a:xfrm>
            <a:off x="6428232" y="2596896"/>
            <a:ext cx="384048" cy="384048"/>
          </a:xfrm>
          <a:prstGeom prst="ellipse">
            <a:avLst/>
          </a:prstGeom>
          <a:solidFill>
            <a:srgbClr val="3F7D74"/>
          </a:solidFill>
          <a:ln w="12700">
            <a:solidFill>
              <a:srgbClr val="3F7D74"/>
            </a:solidFill>
            <a:prstDash val="solid"/>
          </a:ln>
        </p:spPr>
      </p:sp>
      <p:sp>
        <p:nvSpPr>
          <p:cNvPr id="16" name="Text 14"/>
          <p:cNvSpPr/>
          <p:nvPr/>
        </p:nvSpPr>
        <p:spPr>
          <a:xfrm>
            <a:off x="6428232"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7" name="Text 15"/>
          <p:cNvSpPr/>
          <p:nvPr/>
        </p:nvSpPr>
        <p:spPr>
          <a:xfrm>
            <a:off x="6428232" y="3090672"/>
            <a:ext cx="2089404" cy="384048"/>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Rationalisatie</a:t>
            </a:r>
            <a:endParaRPr lang="en-US" sz="1800" dirty="0"/>
          </a:p>
        </p:txBody>
      </p:sp>
      <p:sp>
        <p:nvSpPr>
          <p:cNvPr id="18" name="Text 16"/>
          <p:cNvSpPr/>
          <p:nvPr/>
        </p:nvSpPr>
        <p:spPr>
          <a:xfrm>
            <a:off x="6428232" y="3511296"/>
            <a:ext cx="2089404" cy="1152144"/>
          </a:xfrm>
          <a:prstGeom prst="rect">
            <a:avLst/>
          </a:prstGeom>
          <a:noFill/>
          <a:ln/>
        </p:spPr>
        <p:txBody>
          <a:bodyPr wrap="square" lIns="0" tIns="0" rIns="0" bIns="0" rtlCol="0" anchor="t"/>
          <a:lstStyle/>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Vijf criteria, en het systeem waar de politiek de andere kant op wijst.</a:t>
            </a:r>
            <a:endParaRPr lang="en-US" sz="1200" dirty="0"/>
          </a:p>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60 minuten.</a:t>
            </a:r>
            <a:endParaRPr lang="en-US" sz="1200" dirty="0"/>
          </a:p>
        </p:txBody>
      </p:sp>
      <p:sp>
        <p:nvSpPr>
          <p:cNvPr id="19" name="Shape 17"/>
          <p:cNvSpPr/>
          <p:nvPr/>
        </p:nvSpPr>
        <p:spPr>
          <a:xfrm>
            <a:off x="8993124" y="2377440"/>
            <a:ext cx="2528316" cy="2468880"/>
          </a:xfrm>
          <a:prstGeom prst="roundRect">
            <a:avLst>
              <a:gd name="adj" fmla="val 2963"/>
            </a:avLst>
          </a:prstGeom>
          <a:solidFill>
            <a:srgbClr val="17423F"/>
          </a:solidFill>
          <a:ln w="12700">
            <a:solidFill>
              <a:srgbClr val="2C5A56"/>
            </a:solidFill>
            <a:prstDash val="solid"/>
          </a:ln>
        </p:spPr>
      </p:sp>
      <p:sp>
        <p:nvSpPr>
          <p:cNvPr id="20" name="Shape 18"/>
          <p:cNvSpPr/>
          <p:nvPr/>
        </p:nvSpPr>
        <p:spPr>
          <a:xfrm>
            <a:off x="9212580" y="2596896"/>
            <a:ext cx="384048" cy="384048"/>
          </a:xfrm>
          <a:prstGeom prst="ellipse">
            <a:avLst/>
          </a:prstGeom>
          <a:solidFill>
            <a:srgbClr val="3F7D74"/>
          </a:solidFill>
          <a:ln w="12700">
            <a:solidFill>
              <a:srgbClr val="3F7D74"/>
            </a:solidFill>
            <a:prstDash val="solid"/>
          </a:ln>
        </p:spPr>
      </p:sp>
      <p:sp>
        <p:nvSpPr>
          <p:cNvPr id="21" name="Text 19"/>
          <p:cNvSpPr/>
          <p:nvPr/>
        </p:nvSpPr>
        <p:spPr>
          <a:xfrm>
            <a:off x="9212580"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2" name="Text 20"/>
          <p:cNvSpPr/>
          <p:nvPr/>
        </p:nvSpPr>
        <p:spPr>
          <a:xfrm>
            <a:off x="9212580" y="3090672"/>
            <a:ext cx="2089404" cy="384048"/>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Migratie</a:t>
            </a:r>
            <a:endParaRPr lang="en-US" sz="1800" dirty="0"/>
          </a:p>
        </p:txBody>
      </p:sp>
      <p:sp>
        <p:nvSpPr>
          <p:cNvPr id="23" name="Text 21"/>
          <p:cNvSpPr/>
          <p:nvPr/>
        </p:nvSpPr>
        <p:spPr>
          <a:xfrm>
            <a:off x="9212580" y="3511296"/>
            <a:ext cx="2089404" cy="1152144"/>
          </a:xfrm>
          <a:prstGeom prst="rect">
            <a:avLst/>
          </a:prstGeom>
          <a:noFill/>
          <a:ln/>
        </p:spPr>
        <p:txBody>
          <a:bodyPr wrap="square" lIns="0" tIns="0" rIns="0" bIns="0" rtlCol="0" anchor="t"/>
          <a:lstStyle/>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Twee ketens, twee strategieën, en het verplaatste risico.</a:t>
            </a:r>
            <a:endParaRPr lang="en-US" sz="1200" dirty="0"/>
          </a:p>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50 minuten.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 data-architectuur</dc:title>
  <dc:subject>PptxGenJS Presentation</dc:subject>
  <dc:creator>Ductus B.V.</dc:creator>
  <cp:lastModifiedBy>Ductus B.V.</cp:lastModifiedBy>
  <cp:revision>1</cp:revision>
  <dcterms:created xsi:type="dcterms:W3CDTF">2026-08-05T13:01:40Z</dcterms:created>
  <dcterms:modified xsi:type="dcterms:W3CDTF">2026-08-05T13:01:40Z</dcterms:modified>
</cp:coreProperties>
</file>