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de vraag waar de tien punten zitten. Bijna iedereen zegt tempo — en dat is bij Practitioner al opgelost.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 dit niveau helpt bijstuderen wél. Alleen niet waar je al goed in bent.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deelnemers de gecombineerde vragen tijdens het proefexamen markeren. Dat aantal is de vondst.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capstone uit deel 21 en de masterproef uit deel 29 zijn hiervoor geschikt — mits je de panelvragen erbij bewaart.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de fusie is er wél een onbehandelde groep: de Nautilus-deelnemers zijn later aangesloten.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de portaalcasus: digitale vaardigheid is precies zo'n onwaarneembaar verschil. Matching is hier dus riskant.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Rapporteer in deze volgorde: aanname, toets, resultaat — en pas dán het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derde regel wordt structureel geschonden, omdat corrigeren voor meer variabelen zorgvuldiger voelt.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is precies het oordeel waarvoor iemand op dit niveau wordt ingehuurd.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AIGP staat hier los van en vraagt zes tot acht weken eigen voorbereiding.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Controleer de actuele eisen bij DAMA; ze zijn de afgelopen jaren aangescherpt.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de planning met het dossier parallel, en een tegenlezer die je daadwerkelijk vraagt.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3 · MEESTERSCHAP · DEEL 28</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Examentraining Master</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en causale analyse</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Twee onderwerpen die weinig met elkaar te maken hebben en op dit niveau samenvallen: de laatste examenstap, en causale uitspraken zonder experiment.</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5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VAN 70 NAAR 80</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De bron van punten is verschoven</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743200"/>
                <a:gridCol w="4023360"/>
                <a:gridCol w="41148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Bron van punten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60 naar 70</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70 naar 80</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Tempo</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Vaak een derde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Vrijwel niets — al opgelost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Leesfouten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Een kwart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Enkele punten, bij negatieve en best-vragen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Randgebieden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Weinig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Het grootste deel: wat je op 60% liet liggen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Diepte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Nauwelijks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Aanzienlijk: onderscheidingen die eerder niet werden getoetst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Het klassieke patroon: sterke scores op je twee specialismen, zwakke op de rest. Voor Master moet die rest omhoog — en dat is minder leuk werk.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WAAROP DE BOVENSTE BAND TOETST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Vragen die twee kennisgebieden tegelijk vereisen.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Die zijn niet met opzoeken op te lossen: het antwoord staat in twee hoofdstukken en nergens als geheel. Daarnaast: uitzonderingen op vuistregels, volgordes en afhankelijkheden, en onderscheidingen die op Associate-niveau als synoniem konden gelden.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ERVARINGSDOSSIER</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een beoordelaar zoekt</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4023360"/>
                <a:gridCol w="466344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hij zoekt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er meestal staat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beter werkt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Breedte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Drie opdrachten in hetzelfde gebied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Vijf tot acht opdrachten over minstens zes gebieden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Diepte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lijst met projectnamen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Eén opdracht volledig uitgewerkt, met het genomen besluit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Eigen bijdrage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"Wij hebben..." over een teamresultaat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jij deed, en wat er zonder jou anders was gegaan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er is opgeleverd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 besluit erop volgde en wat er daarna veranderde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Reflectie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Uitsluitend geslaagde opdrachten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Ook één die niet liep, met wat je eruit leerde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laatste rij is de onderschatte: één eerlijke analyse van iets dat niet liep, doet meer voor je geloofwaardigheid dan een zesde succes.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ANDERE HELFT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Heeft het portaal geleid tot minder telefoontjes,</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of zou dat toch al zijn gebeurd?</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Randomiseren kan niet — het portaal is voor iedereen tegelijk uitgerold. In deel 18 was het experiment de enige route naar een causale uitspraak. Dat klopt, en het is onvolledig.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VIER METHODEN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De laatste kolom is de hele methode</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560320"/>
                <a:gridCol w="4023360"/>
                <a:gridCol w="429768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doet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Dragende aanname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1206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Verschil-in-verschillen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Vergelijkt de verandering bij behandelden met die bij onbehandelden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Zonder interventie zouden beide groepen dezelfde ontwikkeling hebben doorgemaakt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Regressiediscontinuïteit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Vergelijkt net boven en net onder een scherpe grens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Rond de grens zijn de groepen vergelijkbaar en manipuleert niemand zijn positie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1206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Instrumentele variabele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Gebruikt een factor die de behandeling beïnvloedt maar de uitkomst niet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instrument werkt uitsluitend via de behandeling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Matching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Vergelijkt behandelden met sterk gelijkende onbehandelden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Er zijn geen onwaarneembare verschillen die beide bepalen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Elke techniek is rekenkundig eenvoudig en staat of valt met een aanname die je niet kunt bewijzen. De vaardigheid zit in het beoordelen van die aanname.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FALSIFICEREN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Je kunt de aanname niet bewijzen — wel onder druk zetten</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743200"/>
                <a:gridCol w="4206240"/>
                <a:gridCol w="39319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Toets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doet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aantoont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Parallelle voorgeschiedenis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Liepen beide groepen vóór de interventie hetzelfde?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Maakt de aanname aannemelijker; bewijst hem niet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Placebotoets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Dezelfde analyse op een periode waarin niets gebeurde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Vind je daar een effect, dan meet je iets anders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Uitkomst die niet mag reageren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Toets iets wat de interventie niet kan beïnvloeden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effect daar duidt op een gemeenschappelijke oorzaak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Gevoeligheid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Hoe sterk zou een verborgen factor moeten zijn?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Maakt de kwetsbaarheid van je conclusie zichtbaar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vierde is de overtuigendste en de minst gebruikte: een onwaarschijnlijk sterke verborgen factor is een sterker argument dan een p-waarde.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CAUSALE DIAGRAMMEN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Eén vraag: waarop corrigeer je?</a:t>
            </a:r>
            <a:endParaRPr lang="en-US" sz="3400" dirty="0"/>
          </a:p>
        </p:txBody>
      </p:sp>
      <p:sp>
        <p:nvSpPr>
          <p:cNvPr id="4" name="Shape 2"/>
          <p:cNvSpPr/>
          <p:nvPr/>
        </p:nvSpPr>
        <p:spPr>
          <a:xfrm>
            <a:off x="640080" y="2331720"/>
            <a:ext cx="3456432" cy="2560320"/>
          </a:xfrm>
          <a:prstGeom prst="roundRect">
            <a:avLst>
              <a:gd name="adj" fmla="val 2857"/>
            </a:avLst>
          </a:prstGeom>
          <a:solidFill>
            <a:srgbClr val="F1F4F2"/>
          </a:solidFill>
          <a:ln w="12700">
            <a:solidFill>
              <a:srgbClr val="D5DED8"/>
            </a:solidFill>
            <a:prstDash val="solid"/>
          </a:ln>
        </p:spPr>
      </p:sp>
      <p:sp>
        <p:nvSpPr>
          <p:cNvPr id="5" name="Shape 3"/>
          <p:cNvSpPr/>
          <p:nvPr/>
        </p:nvSpPr>
        <p:spPr>
          <a:xfrm>
            <a:off x="859536" y="255117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59536" y="3044952"/>
            <a:ext cx="3017520" cy="384048"/>
          </a:xfrm>
          <a:prstGeom prst="rect">
            <a:avLst/>
          </a:prstGeom>
          <a:noFill/>
          <a:ln/>
        </p:spPr>
        <p:txBody>
          <a:bodyPr wrap="square" lIns="0" tIns="0" rIns="0" bIns="0" rtlCol="0" anchor="t"/>
          <a:lstStyle/>
          <a:p>
            <a:pPr indent="0" marL="0">
              <a:buNone/>
            </a:pPr>
            <a:r>
              <a:rPr lang="en-US" sz="1800" b="1" dirty="0">
                <a:solidFill>
                  <a:srgbClr val="0E1A1C"/>
                </a:solidFill>
                <a:latin typeface="Cambria" pitchFamily="34" charset="0"/>
                <a:ea typeface="Cambria" pitchFamily="34" charset="-122"/>
                <a:cs typeface="Cambria" pitchFamily="34" charset="-120"/>
              </a:rPr>
              <a:t>Wél</a:t>
            </a:r>
            <a:endParaRPr lang="en-US" sz="1800" dirty="0"/>
          </a:p>
        </p:txBody>
      </p:sp>
      <p:sp>
        <p:nvSpPr>
          <p:cNvPr id="8" name="Text 6"/>
          <p:cNvSpPr/>
          <p:nvPr/>
        </p:nvSpPr>
        <p:spPr>
          <a:xfrm>
            <a:off x="859536"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Op een gemeenschappelijke oorzaak van behandeling en uitkomst.</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Dat is de confounder uit deel 5 — en de reden dat je überhaupt corrigeert.</a:t>
            </a:r>
            <a:endParaRPr lang="en-US" sz="1300" dirty="0"/>
          </a:p>
        </p:txBody>
      </p:sp>
      <p:sp>
        <p:nvSpPr>
          <p:cNvPr id="9" name="Shape 7"/>
          <p:cNvSpPr/>
          <p:nvPr/>
        </p:nvSpPr>
        <p:spPr>
          <a:xfrm>
            <a:off x="4352544" y="2331720"/>
            <a:ext cx="3456432" cy="2560320"/>
          </a:xfrm>
          <a:prstGeom prst="roundRect">
            <a:avLst>
              <a:gd name="adj" fmla="val 2857"/>
            </a:avLst>
          </a:prstGeom>
          <a:solidFill>
            <a:srgbClr val="F1F4F2"/>
          </a:solidFill>
          <a:ln w="12700">
            <a:solidFill>
              <a:srgbClr val="D5DED8"/>
            </a:solidFill>
            <a:prstDash val="solid"/>
          </a:ln>
        </p:spPr>
      </p:sp>
      <p:sp>
        <p:nvSpPr>
          <p:cNvPr id="10" name="Shape 8"/>
          <p:cNvSpPr/>
          <p:nvPr/>
        </p:nvSpPr>
        <p:spPr>
          <a:xfrm>
            <a:off x="4572000" y="2551176"/>
            <a:ext cx="384048" cy="384048"/>
          </a:xfrm>
          <a:prstGeom prst="ellipse">
            <a:avLst/>
          </a:prstGeom>
          <a:solidFill>
            <a:srgbClr val="3F7D74"/>
          </a:solidFill>
          <a:ln w="12700">
            <a:solidFill>
              <a:srgbClr val="3F7D74"/>
            </a:solidFill>
            <a:prstDash val="solid"/>
          </a:ln>
        </p:spPr>
      </p:sp>
      <p:sp>
        <p:nvSpPr>
          <p:cNvPr id="11" name="Text 9"/>
          <p:cNvSpPr/>
          <p:nvPr/>
        </p:nvSpPr>
        <p:spPr>
          <a:xfrm>
            <a:off x="4572000"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572000" y="3044952"/>
            <a:ext cx="3017520" cy="384048"/>
          </a:xfrm>
          <a:prstGeom prst="rect">
            <a:avLst/>
          </a:prstGeom>
          <a:noFill/>
          <a:ln/>
        </p:spPr>
        <p:txBody>
          <a:bodyPr wrap="square" lIns="0" tIns="0" rIns="0" bIns="0" rtlCol="0" anchor="t"/>
          <a:lstStyle/>
          <a:p>
            <a:pPr indent="0" marL="0">
              <a:buNone/>
            </a:pPr>
            <a:r>
              <a:rPr lang="en-US" sz="1800" b="1" dirty="0">
                <a:solidFill>
                  <a:srgbClr val="0E1A1C"/>
                </a:solidFill>
                <a:latin typeface="Cambria" pitchFamily="34" charset="0"/>
                <a:ea typeface="Cambria" pitchFamily="34" charset="-122"/>
                <a:cs typeface="Cambria" pitchFamily="34" charset="-120"/>
              </a:rPr>
              <a:t>Niet</a:t>
            </a:r>
            <a:endParaRPr lang="en-US" sz="1800" dirty="0"/>
          </a:p>
        </p:txBody>
      </p:sp>
      <p:sp>
        <p:nvSpPr>
          <p:cNvPr id="13" name="Text 11"/>
          <p:cNvSpPr/>
          <p:nvPr/>
        </p:nvSpPr>
        <p:spPr>
          <a:xfrm>
            <a:off x="4572000"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Op iets dat tússen behandeling en uitkomst ligt.</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Dat draagt een deel van het effect; wegcorrigeren maakt het kleiner dan het is.</a:t>
            </a:r>
            <a:endParaRPr lang="en-US" sz="1300" dirty="0"/>
          </a:p>
        </p:txBody>
      </p:sp>
      <p:sp>
        <p:nvSpPr>
          <p:cNvPr id="14" name="Shape 12"/>
          <p:cNvSpPr/>
          <p:nvPr/>
        </p:nvSpPr>
        <p:spPr>
          <a:xfrm>
            <a:off x="8065008" y="2331720"/>
            <a:ext cx="3456432" cy="2560320"/>
          </a:xfrm>
          <a:prstGeom prst="roundRect">
            <a:avLst>
              <a:gd name="adj" fmla="val 2857"/>
            </a:avLst>
          </a:prstGeom>
          <a:solidFill>
            <a:srgbClr val="F1F4F2"/>
          </a:solidFill>
          <a:ln w="12700">
            <a:solidFill>
              <a:srgbClr val="D5DED8"/>
            </a:solidFill>
            <a:prstDash val="solid"/>
          </a:ln>
        </p:spPr>
      </p:sp>
      <p:sp>
        <p:nvSpPr>
          <p:cNvPr id="15" name="Shape 13"/>
          <p:cNvSpPr/>
          <p:nvPr/>
        </p:nvSpPr>
        <p:spPr>
          <a:xfrm>
            <a:off x="8284464" y="2551176"/>
            <a:ext cx="384048" cy="384048"/>
          </a:xfrm>
          <a:prstGeom prst="ellipse">
            <a:avLst/>
          </a:prstGeom>
          <a:solidFill>
            <a:srgbClr val="3F7D74"/>
          </a:solidFill>
          <a:ln w="12700">
            <a:solidFill>
              <a:srgbClr val="3F7D74"/>
            </a:solidFill>
            <a:prstDash val="solid"/>
          </a:ln>
        </p:spPr>
      </p:sp>
      <p:sp>
        <p:nvSpPr>
          <p:cNvPr id="16" name="Text 14"/>
          <p:cNvSpPr/>
          <p:nvPr/>
        </p:nvSpPr>
        <p:spPr>
          <a:xfrm>
            <a:off x="8284464"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284464" y="3044952"/>
            <a:ext cx="3017520" cy="384048"/>
          </a:xfrm>
          <a:prstGeom prst="rect">
            <a:avLst/>
          </a:prstGeom>
          <a:noFill/>
          <a:ln/>
        </p:spPr>
        <p:txBody>
          <a:bodyPr wrap="square" lIns="0" tIns="0" rIns="0" bIns="0" rtlCol="0" anchor="t"/>
          <a:lstStyle/>
          <a:p>
            <a:pPr indent="0" marL="0">
              <a:buNone/>
            </a:pPr>
            <a:r>
              <a:rPr lang="en-US" sz="1800" b="1" dirty="0">
                <a:solidFill>
                  <a:srgbClr val="0E1A1C"/>
                </a:solidFill>
                <a:latin typeface="Cambria" pitchFamily="34" charset="0"/>
                <a:ea typeface="Cambria" pitchFamily="34" charset="-122"/>
                <a:cs typeface="Cambria" pitchFamily="34" charset="-120"/>
              </a:rPr>
              <a:t>Zeker niet</a:t>
            </a:r>
            <a:endParaRPr lang="en-US" sz="1800" dirty="0"/>
          </a:p>
        </p:txBody>
      </p:sp>
      <p:sp>
        <p:nvSpPr>
          <p:cNvPr id="18" name="Text 16"/>
          <p:cNvSpPr/>
          <p:nvPr/>
        </p:nvSpPr>
        <p:spPr>
          <a:xfrm>
            <a:off x="8284464"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Op iets dat door beide wordt beïnvloed.</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Dat creëert een verband dat er niet was — corrigeren verslechtert de zaak actief.</a:t>
            </a:r>
            <a:endParaRPr lang="en-US" sz="1300" dirty="0"/>
          </a:p>
        </p:txBody>
      </p:sp>
      <p:sp>
        <p:nvSpPr>
          <p:cNvPr id="19" name="Text 17"/>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Bij de portaalcasus: het aantal ontvangen brieven wordt door zowel portaalgebruik als belgedrag beïnvloed. Corrigeren daarvoor introduceert een schijnverband.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WAT JE ONDERSCHEIDT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"Een oorzakelijke uitspraak</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is hier niet verdedigbaar."</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Er is geen vergelijkbare groep · de interventie viel samen met iets anders · de uitkomst is beïnvloed door de meting · de aanname is niet te toetsen. In alle vier de gevallen geef je het verband, benoem je wat je niet kunt uitsluiten, en zeg je dit. Dat voelt als falen en is het tegendeel.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PLANNING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Twaalf weken plus het dossier — parallel</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737360"/>
                <a:gridCol w="5120640"/>
                <a:gridCol w="402336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Toets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 t/m 5</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randgebieden die je bij Practitioner liet liggen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Proefvragen per gebied op 80%-niveau</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6 t/m 8</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Diepte: onderscheidingen, volgordes, uitzonderingen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Gecombineerde vragen over twee gebieden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Volledig proefexamen op de bovenste band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Consistentie over twee proefexamens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10 t/m 12</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drie examens, verspreid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Parallel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Ervaringsdossier samenstellen en laten tegenlezen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Beoordeling door een vakgenoot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Het dossier na de examens plannen betekent het uitstellen — en dat is de meest voorkomende reden dat mensen op Practitioner blijven staan terwijl ze de examens allang hebben.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 Master</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Tachtig procent op drie examens plus een ervaringsbeoordeling.</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Onderscheidingen die eerder als synoniem konden gelden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Volgorde en afhankelijkheid — en de gevolgen van omdraaien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Uitzonderingen op vuistregels: daar toetst de bovenste band op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Vragen die twee kennisgebieden combineren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causal inference, confounder, collider, sensitivity analysis</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Proefexamen</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Honderd vragen op de bovenste band. Markeer de gecombineerde vragen.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90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Methode</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Vier methoden, vier aannames — en welke drie afvallen.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60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Falsificeren</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Vier toetsen, één diagram, en de collider die je niet mag corrigeren.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65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Je eigen uitspraak</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Wat had je destijds tegen de opdrachtgever moeten zeggen?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40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Examentraining Master en causale analyse</dc:title>
  <dc:subject>PptxGenJS Presentation</dc:subject>
  <dc:creator>Ductus B.V.</dc:creator>
  <cp:lastModifiedBy>Ductus B.V.</cp:lastModifiedBy>
  <cp:revision>1</cp:revision>
  <dcterms:created xsi:type="dcterms:W3CDTF">2026-08-05T14:04:35Z</dcterms:created>
  <dcterms:modified xsi:type="dcterms:W3CDTF">2026-08-05T14:04:35Z</dcterms:modified>
</cp:coreProperties>
</file>