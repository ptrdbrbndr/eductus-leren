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met "moeten we investeren in het portaal?" en laat de groep de onderliggende onderzoeksvraag zoeken.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 voorkomt de discussie achteraf over of vier procentpunt "ook al wel wat"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bronbeoordeling hoort in de verantwoording — anders kan niemand anders de analyse beoordelen.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analyse die niemand kan reviewen, is geen analyse maar een bewering.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formulering die werkt: "6,4 procentpunt vaker, met een marge van 2,1 — groot genoeg volgens de vooraf afgesproken grens van vijf."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Rapporteer altijd puntresultaat én marge. Eén getal wordt gelezen als een belofte.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twintig uitkomstmaten is er gemiddeld één significant zonder dat er iets aan de hand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uitleg in vier zinnen aan een directeur is de eigenlijke opdracht. Wie het alleen zelf begrijpt, heeft de helft gedaan.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Rapporteer altijd een interval. Een forecast zonder marge wordt gelezen als een belofte.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precies wat een besluitnemer nodig heeft en wat een niveau-1-oplevering niet biedt.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Deel 19 dekt domein 5 en 6. Dit deel raakt daarnaast het CDMP-kennisgebied Big Data &amp; Data Science.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opdracht 7 — een volledige analyse mét onzekerheid — plus de zelftoets.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2 · PRAKTIJK · DEEL 18</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Data-analyse voor</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besluitvorming</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Niveau 1 rapporteert een getal. Niveau 2 rapporteert een getal met een marge — en zegt welke uitkomst het advies zou veranderen.</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6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 VERTAALSLAG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Van bestuurlijke vraag naar toetsbaar</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Populatie · maat · periode · beslisregel.</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3291840"/>
                <a:gridCol w="7589520"/>
              </a:tblGrid>
              <a:tr h="10972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Zoals gesteld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Zoals toetsbaar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109728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Werkt onze deelnemerscommunicatie?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Van de actieve deelnemers 55-65 die in Q1 de pensioenbrief kregen, logde binnen 30 dagen een hoger aandeel in dan van de vergelijkbare groep zonder brief. Boven vijf procentpunt breiden we uit.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109728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Zijn onze werkgevers tevreden?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 gemiddelde beoordeling van werkgevers met meer dan vijftig deelnemers is in 2026 gestegen ten opzichte van 2025. Bij een daling van meer dan een halve punt herzien we het model.</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Leg de beslisregel schriftelijk vast vóórdat je de uitkomst kent, en laat hem bevestigen.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VOORAF</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Beoordeel waarmee je rekent</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1737360"/>
                <a:gridCol w="4023360"/>
                <a:gridCol w="512064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Vraag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Waar je op let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Meridiaan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Dekking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Wie ontbreekt, en verschilt die groep?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Deelnemers zonder e-mailadres ontbreken digitaal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Herkomst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Uit welk systeem, via welke keten?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lineage uit deel 13 — let op filters onderweg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Definitie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Welke definitie, door wie vastgesteld?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Vier varianten van "actieve deelnemer"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Actualiteit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Hoe oud, en stoort dat?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Premiegegevens lopen drie dagen achter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Kwaliteit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Wat weten we uit deel 15?</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Dummywaarden, weeskinderen, dubbelen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"Nee, niet met deze bronnen" is een legitiem en waardevol antwoord aan een opdrachtgever.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SQL</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Window functions</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Aggregeren zonder rijen samen te voegen.</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377440"/>
                <a:gridCol w="3840480"/>
                <a:gridCol w="466344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Functie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het doet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 Meridiaan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ROW_NUMBER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Nummert rijen binnen een groep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meest recente mutatie per deelnemer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RANK / DENSE_RANK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Rangschikt met of zonder gaten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Top tien werkgevers per premie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LAG / LEAD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Kijkt naar de vorige of volgende rij</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Verandering ten opzichte van vorig kwartaal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SUM OVER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Cumulatief of voortschrijdend totaal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Premie naast het sectorgemiddelde, zonder join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38912">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NTILE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Verdeelt in gelijke groepen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Kwintielen naar opgebouwde aanspraak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CTE’s maken een query reviewbaar. EXCEPT beslecht de discussie uit niveau 1 in één regel: wie zit wel in de ene selectie en niet in de andere?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GROOTSTE FOUT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Bij 340.000 deelnemers is 0,2 procentpunt significant</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en bestuurlijk betekenisloos.</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Bij grote steekproeven wordt vrijwel elk verschil significant. Rapporteer daarom de effectgrootte en het interval, en laat de significantie een bijzin zijn. Een bestuurder kan niets met "p kleiner dan 0,05".</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BEGRIPPEN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Wat zegt het wel en niet</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651760"/>
                <a:gridCol w="4206240"/>
                <a:gridCol w="4023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Begrip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het zegt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het níét zegt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P-waarde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Hoe waarschijnlijk dit resultaat is zonder effect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Hoe groot het effect 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Significantie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 het verschil waarschijnlijk geen toeval 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 het verschil ertoe doet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Effectgrootte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Hoe groot het verschil is, in begrijpelijke eenheden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Of het betrouwbaar is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Betrouwbaarheidsinterval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marge waarbinnen de waarde vermoedelijk ligt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Een garantie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EXPERIMENT</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Zes beslissingen — allemaal vooraf</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Ontwerpfouten zijn achteraf niet te repareren.</a:t>
            </a:r>
            <a:endParaRPr lang="en-US" sz="1600" dirty="0"/>
          </a:p>
        </p:txBody>
      </p:sp>
      <p:sp>
        <p:nvSpPr>
          <p:cNvPr id="5" name="Shape 3"/>
          <p:cNvSpPr/>
          <p:nvPr/>
        </p:nvSpPr>
        <p:spPr>
          <a:xfrm>
            <a:off x="640080" y="2286000"/>
            <a:ext cx="2528316" cy="2651760"/>
          </a:xfrm>
          <a:prstGeom prst="roundRect">
            <a:avLst>
              <a:gd name="adj" fmla="val 2893"/>
            </a:avLst>
          </a:prstGeom>
          <a:solidFill>
            <a:srgbClr val="F1F4F2"/>
          </a:solidFill>
          <a:ln w="12700">
            <a:solidFill>
              <a:srgbClr val="D5DED8"/>
            </a:solidFill>
            <a:prstDash val="solid"/>
          </a:ln>
        </p:spPr>
      </p:sp>
      <p:sp>
        <p:nvSpPr>
          <p:cNvPr id="6" name="Shape 4"/>
          <p:cNvSpPr/>
          <p:nvPr/>
        </p:nvSpPr>
        <p:spPr>
          <a:xfrm>
            <a:off x="859536" y="2505456"/>
            <a:ext cx="384048" cy="384048"/>
          </a:xfrm>
          <a:prstGeom prst="ellipse">
            <a:avLst/>
          </a:prstGeom>
          <a:solidFill>
            <a:srgbClr val="3F7D74"/>
          </a:solidFill>
          <a:ln w="12700">
            <a:solidFill>
              <a:srgbClr val="3F7D74"/>
            </a:solidFill>
            <a:prstDash val="solid"/>
          </a:ln>
        </p:spPr>
      </p:sp>
      <p:sp>
        <p:nvSpPr>
          <p:cNvPr id="7" name="Text 5"/>
          <p:cNvSpPr/>
          <p:nvPr/>
        </p:nvSpPr>
        <p:spPr>
          <a:xfrm>
            <a:off x="859536"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59536"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Randomisatie-eenheid</a:t>
            </a:r>
            <a:endParaRPr lang="en-US" sz="1600" dirty="0"/>
          </a:p>
        </p:txBody>
      </p:sp>
      <p:sp>
        <p:nvSpPr>
          <p:cNvPr id="9" name="Text 7"/>
          <p:cNvSpPr/>
          <p:nvPr/>
        </p:nvSpPr>
        <p:spPr>
          <a:xfrm>
            <a:off x="859536"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Deelnemer of werkgever? Bij een brief per werkgever is dát de eenheid — en je effectieve steekproef veel kleiner.</a:t>
            </a:r>
            <a:endParaRPr lang="en-US" sz="1200" dirty="0"/>
          </a:p>
        </p:txBody>
      </p:sp>
      <p:sp>
        <p:nvSpPr>
          <p:cNvPr id="10" name="Shape 8"/>
          <p:cNvSpPr/>
          <p:nvPr/>
        </p:nvSpPr>
        <p:spPr>
          <a:xfrm>
            <a:off x="3424428" y="2286000"/>
            <a:ext cx="2528316" cy="2651760"/>
          </a:xfrm>
          <a:prstGeom prst="roundRect">
            <a:avLst>
              <a:gd name="adj" fmla="val 2893"/>
            </a:avLst>
          </a:prstGeom>
          <a:solidFill>
            <a:srgbClr val="F1F4F2"/>
          </a:solidFill>
          <a:ln w="12700">
            <a:solidFill>
              <a:srgbClr val="D5DED8"/>
            </a:solidFill>
            <a:prstDash val="solid"/>
          </a:ln>
        </p:spPr>
      </p:sp>
      <p:sp>
        <p:nvSpPr>
          <p:cNvPr id="11" name="Shape 9"/>
          <p:cNvSpPr/>
          <p:nvPr/>
        </p:nvSpPr>
        <p:spPr>
          <a:xfrm>
            <a:off x="3643884" y="2505456"/>
            <a:ext cx="384048" cy="384048"/>
          </a:xfrm>
          <a:prstGeom prst="ellipse">
            <a:avLst/>
          </a:prstGeom>
          <a:solidFill>
            <a:srgbClr val="3F7D74"/>
          </a:solidFill>
          <a:ln w="12700">
            <a:solidFill>
              <a:srgbClr val="3F7D74"/>
            </a:solidFill>
            <a:prstDash val="solid"/>
          </a:ln>
        </p:spPr>
      </p:sp>
      <p:sp>
        <p:nvSpPr>
          <p:cNvPr id="12" name="Text 10"/>
          <p:cNvSpPr/>
          <p:nvPr/>
        </p:nvSpPr>
        <p:spPr>
          <a:xfrm>
            <a:off x="3643884"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3643884"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Uitkomstmaat</a:t>
            </a:r>
            <a:endParaRPr lang="en-US" sz="1600" dirty="0"/>
          </a:p>
        </p:txBody>
      </p:sp>
      <p:sp>
        <p:nvSpPr>
          <p:cNvPr id="14" name="Text 12"/>
          <p:cNvSpPr/>
          <p:nvPr/>
        </p:nvSpPr>
        <p:spPr>
          <a:xfrm>
            <a:off x="3643884"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Eén primaire maat met meetmoment. De rest is secundair en verkennend.</a:t>
            </a:r>
            <a:endParaRPr lang="en-US" sz="1200" dirty="0"/>
          </a:p>
        </p:txBody>
      </p:sp>
      <p:sp>
        <p:nvSpPr>
          <p:cNvPr id="15" name="Shape 13"/>
          <p:cNvSpPr/>
          <p:nvPr/>
        </p:nvSpPr>
        <p:spPr>
          <a:xfrm>
            <a:off x="6208776" y="2286000"/>
            <a:ext cx="2528316" cy="2651760"/>
          </a:xfrm>
          <a:prstGeom prst="roundRect">
            <a:avLst>
              <a:gd name="adj" fmla="val 2893"/>
            </a:avLst>
          </a:prstGeom>
          <a:solidFill>
            <a:srgbClr val="F1F4F2"/>
          </a:solidFill>
          <a:ln w="12700">
            <a:solidFill>
              <a:srgbClr val="D5DED8"/>
            </a:solidFill>
            <a:prstDash val="solid"/>
          </a:ln>
        </p:spPr>
      </p:sp>
      <p:sp>
        <p:nvSpPr>
          <p:cNvPr id="16" name="Shape 14"/>
          <p:cNvSpPr/>
          <p:nvPr/>
        </p:nvSpPr>
        <p:spPr>
          <a:xfrm>
            <a:off x="6428232" y="2505456"/>
            <a:ext cx="384048" cy="384048"/>
          </a:xfrm>
          <a:prstGeom prst="ellipse">
            <a:avLst/>
          </a:prstGeom>
          <a:solidFill>
            <a:srgbClr val="3F7D74"/>
          </a:solidFill>
          <a:ln w="12700">
            <a:solidFill>
              <a:srgbClr val="3F7D74"/>
            </a:solidFill>
            <a:prstDash val="solid"/>
          </a:ln>
        </p:spPr>
      </p:sp>
      <p:sp>
        <p:nvSpPr>
          <p:cNvPr id="17" name="Text 15"/>
          <p:cNvSpPr/>
          <p:nvPr/>
        </p:nvSpPr>
        <p:spPr>
          <a:xfrm>
            <a:off x="6428232"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6428232"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Steekproefgrootte</a:t>
            </a:r>
            <a:endParaRPr lang="en-US" sz="1600" dirty="0"/>
          </a:p>
        </p:txBody>
      </p:sp>
      <p:sp>
        <p:nvSpPr>
          <p:cNvPr id="19" name="Text 17"/>
          <p:cNvSpPr/>
          <p:nvPr/>
        </p:nvSpPr>
        <p:spPr>
          <a:xfrm>
            <a:off x="6428232"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Berekend op het kleinste effect dat je wilt kunnen aantonen. Te klein betekent een echt effect missen.</a:t>
            </a:r>
            <a:endParaRPr lang="en-US" sz="1200" dirty="0"/>
          </a:p>
        </p:txBody>
      </p:sp>
      <p:sp>
        <p:nvSpPr>
          <p:cNvPr id="20" name="Shape 18"/>
          <p:cNvSpPr/>
          <p:nvPr/>
        </p:nvSpPr>
        <p:spPr>
          <a:xfrm>
            <a:off x="8993124" y="2286000"/>
            <a:ext cx="2528316" cy="2651760"/>
          </a:xfrm>
          <a:prstGeom prst="roundRect">
            <a:avLst>
              <a:gd name="adj" fmla="val 2893"/>
            </a:avLst>
          </a:prstGeom>
          <a:solidFill>
            <a:srgbClr val="F1F4F2"/>
          </a:solidFill>
          <a:ln w="12700">
            <a:solidFill>
              <a:srgbClr val="D5DED8"/>
            </a:solidFill>
            <a:prstDash val="solid"/>
          </a:ln>
        </p:spPr>
      </p:sp>
      <p:sp>
        <p:nvSpPr>
          <p:cNvPr id="21" name="Shape 19"/>
          <p:cNvSpPr/>
          <p:nvPr/>
        </p:nvSpPr>
        <p:spPr>
          <a:xfrm>
            <a:off x="9212580" y="2505456"/>
            <a:ext cx="384048" cy="384048"/>
          </a:xfrm>
          <a:prstGeom prst="ellipse">
            <a:avLst/>
          </a:prstGeom>
          <a:solidFill>
            <a:srgbClr val="3F7D74"/>
          </a:solidFill>
          <a:ln w="12700">
            <a:solidFill>
              <a:srgbClr val="3F7D74"/>
            </a:solidFill>
            <a:prstDash val="solid"/>
          </a:ln>
        </p:spPr>
      </p:sp>
      <p:sp>
        <p:nvSpPr>
          <p:cNvPr id="22" name="Text 20"/>
          <p:cNvSpPr/>
          <p:nvPr/>
        </p:nvSpPr>
        <p:spPr>
          <a:xfrm>
            <a:off x="9212580"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9212580" y="2999232"/>
            <a:ext cx="2089404"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Looptijd en stopregel</a:t>
            </a:r>
            <a:endParaRPr lang="en-US" sz="1600" dirty="0"/>
          </a:p>
        </p:txBody>
      </p:sp>
      <p:sp>
        <p:nvSpPr>
          <p:cNvPr id="24" name="Text 22"/>
          <p:cNvSpPr/>
          <p:nvPr/>
        </p:nvSpPr>
        <p:spPr>
          <a:xfrm>
            <a:off x="9212580" y="3419856"/>
            <a:ext cx="2089404" cy="1335024"/>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Vooraf vastgelegd. Niet stoppen zodra het significant is — dat is p-hacking.</a:t>
            </a:r>
            <a:endParaRPr lang="en-US" sz="1200" dirty="0"/>
          </a:p>
        </p:txBody>
      </p:sp>
      <p:sp>
        <p:nvSpPr>
          <p:cNvPr id="25" name="Text 2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Plus: de stopregel bij schade · en wat je doet bij een niet-significant resultaat. Dat laatste is een uitkomst, geen mislukking.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SIMPSON</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Digitaal verliest in het totaal</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en wint in elke subgroep.</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De digitale uitvraag is vooral bij grote werkgevers ingezet, en grote werkgevers hebben structureel een lagere respons. Op de totalen zou de directie digitaal hebben afgeschaft. Splits uit als een derde variabele ongelijk verdeeld is én de uitkomst beïnvloedt — maar nooit op iets dat ná de interventie is beïnvloed.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FORECASTING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Begin bij het naïeve model</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743200"/>
                <a:gridCol w="3840480"/>
                <a:gridCol w="429768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het doet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Wanneer het volstaat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Naïef</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 volgende periode is gelijk aan de vorige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Als vertrekpunt en als ondergrens voor elk ander model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Voortschrijdend gemiddelde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Middelt over een venster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 ruis zonder duidelijke trend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Trend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Extrapoleert een lijn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 stabiele groei of krimp over meerdere jaren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Trend met seizoen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Voegt een terugkerend patroon toe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 kwartaal- of maandpatronen, zoals premie-inning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Backtest: train tot vorig jaar, voorspel het afgelopen jaar. Is de fout niet kleiner dan naïef, gebruik dan naïef — eerlijker en goedkoper.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HET VERSCHIL</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Wat er op niveau 2 bij komt</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In elke oplevering</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Het puntresultaat, in begrijpelijke eenheden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marge, en wat die betekent voor het besluit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Wat je niet kunt uitsluiten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Welke uitkomst je advies zou hebben veranderd</a:t>
            </a:r>
            <a:endParaRPr lang="en-US" sz="15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"Hoe zeker weet je dit?"</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Geen college over betrouwbaarheidsintervallen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Eén zin met richting:</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"Als ik het mis heb, is dat vermoedelijk doordat de 4,2% zonder e-mailadres ontbreekt — die groep is minder digitaal actief, dus mijn schatting is eerder te hoog dan te laag."</a:t>
            </a:r>
            <a:endParaRPr lang="en-US" sz="15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Blijkt dat elke uitkomst tot hetzelfde advies leidt, dan was de analyse niet nodig. Meld dat.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IIBA-CBDA, domeinen 1 tot en met 4</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Onderzoeksvraag · databronnen · analyseren · interpreteren en rapporteren.</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Het onderscheid tussen vraag, hypothese en beslisregel</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Bronbeoordeling als expliciete stap vóór de analyse</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Significantie versus effectgrootte, en onzekerheid rapporteren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Experimentopzet: randomisatie-eenheid, steekproef, stopregel</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 research question, effect size, confounding, cohort analysis</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2528316"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SQL</a:t>
            </a:r>
            <a:endParaRPr lang="en-US" sz="1800" dirty="0"/>
          </a:p>
        </p:txBody>
      </p:sp>
      <p:sp>
        <p:nvSpPr>
          <p:cNvPr id="8" name="Text 6"/>
          <p:cNvSpPr/>
          <p:nvPr/>
        </p:nvSpPr>
        <p:spPr>
          <a:xfrm>
            <a:off x="859536"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CTE’s, window functions en de EXCEPT die de discussie uit niveau 1 beslecht.</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90 minuten.</a:t>
            </a:r>
            <a:endParaRPr lang="en-US" sz="1200" dirty="0"/>
          </a:p>
        </p:txBody>
      </p:sp>
      <p:sp>
        <p:nvSpPr>
          <p:cNvPr id="9" name="Shape 7"/>
          <p:cNvSpPr/>
          <p:nvPr/>
        </p:nvSpPr>
        <p:spPr>
          <a:xfrm>
            <a:off x="3424428" y="2377440"/>
            <a:ext cx="2528316"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3643884"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364388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3643884"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Experiment</a:t>
            </a:r>
            <a:endParaRPr lang="en-US" sz="1800" dirty="0"/>
          </a:p>
        </p:txBody>
      </p:sp>
      <p:sp>
        <p:nvSpPr>
          <p:cNvPr id="13" name="Text 11"/>
          <p:cNvSpPr/>
          <p:nvPr/>
        </p:nvSpPr>
        <p:spPr>
          <a:xfrm>
            <a:off x="3643884"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Zes beslissingen vooraf — te beginnen bij de randomisatie-eenheid.</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70 minuten.</a:t>
            </a:r>
            <a:endParaRPr lang="en-US" sz="1200" dirty="0"/>
          </a:p>
        </p:txBody>
      </p:sp>
      <p:sp>
        <p:nvSpPr>
          <p:cNvPr id="14" name="Shape 12"/>
          <p:cNvSpPr/>
          <p:nvPr/>
        </p:nvSpPr>
        <p:spPr>
          <a:xfrm>
            <a:off x="6208776" y="2377440"/>
            <a:ext cx="2528316"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6428232"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6428232"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6428232"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Simpson</a:t>
            </a:r>
            <a:endParaRPr lang="en-US" sz="1800" dirty="0"/>
          </a:p>
        </p:txBody>
      </p:sp>
      <p:sp>
        <p:nvSpPr>
          <p:cNvPr id="18" name="Text 16"/>
          <p:cNvSpPr/>
          <p:nvPr/>
        </p:nvSpPr>
        <p:spPr>
          <a:xfrm>
            <a:off x="6428232"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Een paradox ontrafelen, en hem in vier zinnen uitleggen.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60 minuten.</a:t>
            </a:r>
            <a:endParaRPr lang="en-US" sz="1200" dirty="0"/>
          </a:p>
        </p:txBody>
      </p:sp>
      <p:sp>
        <p:nvSpPr>
          <p:cNvPr id="19" name="Shape 17"/>
          <p:cNvSpPr/>
          <p:nvPr/>
        </p:nvSpPr>
        <p:spPr>
          <a:xfrm>
            <a:off x="8993124" y="2377440"/>
            <a:ext cx="2528316" cy="2468880"/>
          </a:xfrm>
          <a:prstGeom prst="roundRect">
            <a:avLst>
              <a:gd name="adj" fmla="val 2963"/>
            </a:avLst>
          </a:prstGeom>
          <a:solidFill>
            <a:srgbClr val="17423F"/>
          </a:solidFill>
          <a:ln w="12700">
            <a:solidFill>
              <a:srgbClr val="2C5A56"/>
            </a:solidFill>
            <a:prstDash val="solid"/>
          </a:ln>
        </p:spPr>
      </p:sp>
      <p:sp>
        <p:nvSpPr>
          <p:cNvPr id="20" name="Shape 18"/>
          <p:cNvSpPr/>
          <p:nvPr/>
        </p:nvSpPr>
        <p:spPr>
          <a:xfrm>
            <a:off x="9212580" y="2596896"/>
            <a:ext cx="384048" cy="384048"/>
          </a:xfrm>
          <a:prstGeom prst="ellipse">
            <a:avLst/>
          </a:prstGeom>
          <a:solidFill>
            <a:srgbClr val="3F7D74"/>
          </a:solidFill>
          <a:ln w="12700">
            <a:solidFill>
              <a:srgbClr val="3F7D74"/>
            </a:solidFill>
            <a:prstDash val="solid"/>
          </a:ln>
        </p:spPr>
      </p:sp>
      <p:sp>
        <p:nvSpPr>
          <p:cNvPr id="21" name="Text 19"/>
          <p:cNvSpPr/>
          <p:nvPr/>
        </p:nvSpPr>
        <p:spPr>
          <a:xfrm>
            <a:off x="921258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2" name="Text 20"/>
          <p:cNvSpPr/>
          <p:nvPr/>
        </p:nvSpPr>
        <p:spPr>
          <a:xfrm>
            <a:off x="9212580" y="3090672"/>
            <a:ext cx="2089404" cy="384048"/>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Forecast</a:t>
            </a:r>
            <a:endParaRPr lang="en-US" sz="1800" dirty="0"/>
          </a:p>
        </p:txBody>
      </p:sp>
      <p:sp>
        <p:nvSpPr>
          <p:cNvPr id="23" name="Text 21"/>
          <p:cNvSpPr/>
          <p:nvPr/>
        </p:nvSpPr>
        <p:spPr>
          <a:xfrm>
            <a:off x="9212580" y="3511296"/>
            <a:ext cx="2089404" cy="1152144"/>
          </a:xfrm>
          <a:prstGeom prst="rect">
            <a:avLst/>
          </a:prstGeom>
          <a:noFill/>
          <a:ln/>
        </p:spPr>
        <p:txBody>
          <a:bodyPr wrap="square" lIns="0" tIns="0" rIns="0" bIns="0" rtlCol="0" anchor="t"/>
          <a:lstStyle/>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Drie modellen, één backtest, en de moed om naïef te kiezen.</a:t>
            </a:r>
            <a:endParaRPr lang="en-US" sz="1200" dirty="0"/>
          </a:p>
          <a:p>
            <a:pPr indent="0" marL="0">
              <a:lnSpc>
                <a:spcPts val="1700"/>
              </a:lnSpc>
              <a:buNone/>
            </a:pPr>
            <a:r>
              <a:rPr lang="en-US" sz="1200" dirty="0">
                <a:solidFill>
                  <a:srgbClr val="7FA893"/>
                </a:solidFill>
                <a:latin typeface="Calibri" pitchFamily="34" charset="0"/>
                <a:ea typeface="Calibri" pitchFamily="34" charset="-122"/>
                <a:cs typeface="Calibri" pitchFamily="34" charset="-120"/>
              </a:rPr>
              <a:t>60 minuten.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Data-analyse voor besluitvorming</dc:title>
  <dc:subject>PptxGenJS Presentation</dc:subject>
  <dc:creator>Ductus B.V.</dc:creator>
  <cp:lastModifiedBy>Ductus B.V.</cp:lastModifiedBy>
  <cp:revision>1</cp:revision>
  <dcterms:created xsi:type="dcterms:W3CDTF">2026-08-05T12:05:56Z</dcterms:created>
  <dcterms:modified xsi:type="dcterms:W3CDTF">2026-08-05T12:05:56Z</dcterms:modified>
</cp:coreProperties>
</file>