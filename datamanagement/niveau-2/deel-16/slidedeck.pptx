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met de vraag: wie in deze zaal heeft een definitiediscussie meegemaakt die langer dan een half jaar duurde? Vrijwel iedere hand gaat omhoog. Dat is het onderwerp van vandaag.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de deelnemers eerst zelf benoemen waarom dit niet met een spreadsheet op te lossen is. Het antwoord moet uitkomen bij besluitrechten.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Benadruk: governance is geen kwaliteitsproject, geen vergaderstructuur en geen tool. Die drie misverstanden komen op de volgende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welk misverstand men bij de eigen opdrachtgever het meest tegenkomt. Meestal nummer twee.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Kondig aan dat elke bouwsteen een opdracht kent. Bouwsteen 6 komt terug in het huiswerk.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drie deelnemers een orgaan uit hun eigen praktijk langs de toets leggen. Dit is het moment waarop het kwartje valt.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Meridiaan heeft bron twee en drie, maar niet bron één. Dat is precies opdracht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wie deze afbakening ooit schriftelijk heeft zien staan. Bijna niemand — en daar komen de conflicten vandaan.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Wijs op de laatste rij: een community zonder besluitrecht is prima, mits je dat expliciet maakt.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Regel 4 is bij Meridiaan een harde eis: de CFO wil geen nieuwe overlegstructuren. Dat is geen obstakel maar een ontwerpeis.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custodian-fout is de meest voorkomende in verzekeringsland: IT krijgt de schuld van datakwaliteit die in de business ontstaat.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Koppel terug naar de vier definities van actieve deelnemer. Die zijn ontstaan doordat elk systeem zijn eigen waarheid mocht houden.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of iemand een achtste besluittype uit de eigen praktijk kan noemen. Vaak komt: archivering en vernietiging.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op: precies één A per rij. Een matrix met drie A’s is geen borging maar een uitgestelde keuze.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Dit is de meest praktisch bruikbare regel van de hele dag. Laat deelnemers hem opschrijven.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Rapporteer aantal en leeftijd van openstaande waivers per kwartaal. Het is de scherpste indicator of beleid nog leeft.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Deze drie slides zijn de kern voor deze doelgroep. Opdracht 4, 5 en 6 werken ze alle drie 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Bij First verbergt de volgorde de overlap in plaats van hem te melden. Dat lijkt prettig en sloopt het onderhoud.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tijdens opdracht 4 de gateways tellen. Dit is de meest concrete meeneemregel van de dag.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Presenteer de criteria vóór de conclusie. Een opdrachtgever die de criteria accepteert, accepteert de uitkomst.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Vraag welke KPI de groep als eerste zou rapporteren aan de CFO van Meridiaan. Meestal definitiedekking — dat raakt de DNB-bevinding het snelst.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Laat iedereen de twee aankruisen die bij de eigen opdrachtgever spelen. Dat is de brug naar de reflectievragen in het werkboek.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Wees hier expliciet. Deelnemers vragen elk jaar of dit als officiële examentraining telt. Het antwoord is nee.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Verdeel de tweetallen zelf en meng ervaring. Een ervaren architect met een beginnende steward levert het beste gesprek 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828800"/>
            <a:ext cx="9144000" cy="365760"/>
          </a:xfrm>
          <a:prstGeom prst="rect">
            <a:avLst/>
          </a:prstGeom>
          <a:noFill/>
          <a:ln/>
        </p:spPr>
        <p:txBody>
          <a:bodyPr wrap="square" lIns="0" tIns="0" rIns="0" bIns="0" rtlCol="0" anchor="ctr"/>
          <a:lstStyle/>
          <a:p>
            <a:pPr indent="0" marL="0">
              <a:buNone/>
            </a:pPr>
            <a:r>
              <a:rPr lang="en-US" sz="1300" b="1" spc="400" kern="0" dirty="0">
                <a:solidFill>
                  <a:srgbClr val="7FA893"/>
                </a:solidFill>
                <a:latin typeface="Calibri" pitchFamily="34" charset="0"/>
                <a:ea typeface="Calibri" pitchFamily="34" charset="-122"/>
                <a:cs typeface="Calibri" pitchFamily="34" charset="-120"/>
              </a:rPr>
              <a:t>NIVEAU 2  ·  PRAKTIJK  ·  DEEL 16</a:t>
            </a:r>
            <a:endParaRPr lang="en-US" sz="1300" dirty="0"/>
          </a:p>
        </p:txBody>
      </p:sp>
      <p:sp>
        <p:nvSpPr>
          <p:cNvPr id="3" name="Text 1"/>
          <p:cNvSpPr/>
          <p:nvPr/>
        </p:nvSpPr>
        <p:spPr>
          <a:xfrm>
            <a:off x="640080" y="2286000"/>
            <a:ext cx="10058400" cy="1828800"/>
          </a:xfrm>
          <a:prstGeom prst="rect">
            <a:avLst/>
          </a:prstGeom>
          <a:noFill/>
          <a:ln/>
        </p:spPr>
        <p:txBody>
          <a:bodyPr wrap="square" lIns="0" tIns="0" rIns="0" bIns="0" rtlCol="0" anchor="ctr"/>
          <a:lstStyle/>
          <a:p>
            <a:pPr indent="0" marL="0">
              <a:lnSpc>
                <a:spcPts val="5800"/>
              </a:lnSpc>
              <a:buNone/>
            </a:pPr>
            <a:r>
              <a:rPr lang="en-US" sz="5000" b="1" dirty="0">
                <a:solidFill>
                  <a:srgbClr val="FFFFFF"/>
                </a:solidFill>
                <a:latin typeface="Cambria" pitchFamily="34" charset="0"/>
                <a:ea typeface="Cambria" pitchFamily="34" charset="-122"/>
                <a:cs typeface="Cambria" pitchFamily="34" charset="-120"/>
              </a:rPr>
              <a:t>Data governance</a:t>
            </a:r>
            <a:endParaRPr lang="en-US" sz="5000" dirty="0"/>
          </a:p>
          <a:p>
            <a:pPr indent="0" marL="0">
              <a:lnSpc>
                <a:spcPts val="5800"/>
              </a:lnSpc>
              <a:buNone/>
            </a:pPr>
            <a:r>
              <a:rPr lang="en-US" sz="5000" b="1" dirty="0">
                <a:solidFill>
                  <a:srgbClr val="FFFFFF"/>
                </a:solidFill>
                <a:latin typeface="Cambria" pitchFamily="34" charset="0"/>
                <a:ea typeface="Cambria" pitchFamily="34" charset="-122"/>
                <a:cs typeface="Cambria" pitchFamily="34" charset="-120"/>
              </a:rPr>
              <a:t>operating model</a:t>
            </a:r>
            <a:endParaRPr lang="en-US" sz="5000" dirty="0"/>
          </a:p>
        </p:txBody>
      </p:sp>
      <p:sp>
        <p:nvSpPr>
          <p:cNvPr id="4" name="Text 2"/>
          <p:cNvSpPr/>
          <p:nvPr/>
        </p:nvSpPr>
        <p:spPr>
          <a:xfrm>
            <a:off x="640080" y="4206240"/>
            <a:ext cx="8686800" cy="548640"/>
          </a:xfrm>
          <a:prstGeom prst="rect">
            <a:avLst/>
          </a:prstGeom>
          <a:noFill/>
          <a:ln/>
        </p:spPr>
        <p:txBody>
          <a:bodyPr wrap="square" lIns="0" tIns="0" rIns="0" bIns="0" rtlCol="0" anchor="ctr"/>
          <a:lstStyle/>
          <a:p>
            <a:pPr indent="0" marL="0">
              <a:buNone/>
            </a:pPr>
            <a:r>
              <a:rPr lang="en-US" sz="1700" dirty="0">
                <a:solidFill>
                  <a:srgbClr val="7FA893"/>
                </a:solidFill>
                <a:latin typeface="Calibri" pitchFamily="34" charset="0"/>
                <a:ea typeface="Calibri" pitchFamily="34" charset="-122"/>
                <a:cs typeface="Calibri" pitchFamily="34" charset="-120"/>
              </a:rPr>
              <a:t>Wie beslist wat, op grond waarvan, binnen welke termijn — en wat er gebeurt bij onenigheid.</a:t>
            </a:r>
            <a:endParaRPr lang="en-US" sz="1700" dirty="0"/>
          </a:p>
        </p:txBody>
      </p:sp>
      <p:sp>
        <p:nvSpPr>
          <p:cNvPr id="5" name="Text 3"/>
          <p:cNvSpPr/>
          <p:nvPr/>
        </p:nvSpPr>
        <p:spPr>
          <a:xfrm>
            <a:off x="640080" y="6035040"/>
            <a:ext cx="10058400" cy="365760"/>
          </a:xfrm>
          <a:prstGeom prst="rect">
            <a:avLst/>
          </a:prstGeom>
          <a:noFill/>
          <a:ln/>
        </p:spPr>
        <p:txBody>
          <a:bodyPr wrap="square" lIns="0" tIns="0" rIns="0" bIns="0" rtlCol="0" anchor="ctr"/>
          <a:lstStyle/>
          <a:p>
            <a:pPr indent="0" marL="0">
              <a:buNone/>
            </a:pPr>
            <a:r>
              <a:rPr lang="en-US" sz="1200" dirty="0">
                <a:solidFill>
                  <a:srgbClr val="8FAFA5"/>
                </a:solidFill>
                <a:latin typeface="Calibri" pitchFamily="34" charset="0"/>
                <a:ea typeface="Calibri" pitchFamily="34" charset="-122"/>
                <a:cs typeface="Calibri" pitchFamily="34" charset="-120"/>
              </a:rPr>
              <a:t>Ductus B.V.  ·  4 uur klassikaal  ·  Casus Meridiaan Pensioen N.V.</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DE AANLEIDING</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Governance strandt zelden op inhoud</a:t>
            </a:r>
            <a:endParaRPr lang="en-US" sz="3400" dirty="0"/>
          </a:p>
        </p:txBody>
      </p:sp>
      <p:sp>
        <p:nvSpPr>
          <p:cNvPr id="4" name="Shape 2"/>
          <p:cNvSpPr/>
          <p:nvPr/>
        </p:nvSpPr>
        <p:spPr>
          <a:xfrm>
            <a:off x="640080" y="1920240"/>
            <a:ext cx="4937760" cy="3108960"/>
          </a:xfrm>
          <a:prstGeom prst="roundRect">
            <a:avLst>
              <a:gd name="adj" fmla="val 2941"/>
            </a:avLst>
          </a:prstGeom>
          <a:solidFill>
            <a:srgbClr val="1B4A48"/>
          </a:solidFill>
          <a:ln w="12700">
            <a:solidFill>
              <a:srgbClr val="1B4A48"/>
            </a:solidFill>
            <a:prstDash val="solid"/>
          </a:ln>
        </p:spPr>
      </p:sp>
      <p:sp>
        <p:nvSpPr>
          <p:cNvPr id="5" name="Text 3"/>
          <p:cNvSpPr/>
          <p:nvPr/>
        </p:nvSpPr>
        <p:spPr>
          <a:xfrm>
            <a:off x="1005840" y="2286000"/>
            <a:ext cx="4206240" cy="1371600"/>
          </a:xfrm>
          <a:prstGeom prst="rect">
            <a:avLst/>
          </a:prstGeom>
          <a:noFill/>
          <a:ln/>
        </p:spPr>
        <p:txBody>
          <a:bodyPr wrap="square" lIns="0" tIns="0" rIns="0" bIns="0" rtlCol="0" anchor="ctr"/>
          <a:lstStyle/>
          <a:p>
            <a:pPr indent="0" marL="0">
              <a:buNone/>
            </a:pPr>
            <a:r>
              <a:rPr lang="en-US" sz="8400" b="1" dirty="0">
                <a:solidFill>
                  <a:srgbClr val="FFFFFF"/>
                </a:solidFill>
                <a:latin typeface="Cambria" pitchFamily="34" charset="0"/>
                <a:ea typeface="Cambria" pitchFamily="34" charset="-122"/>
                <a:cs typeface="Cambria" pitchFamily="34" charset="-120"/>
              </a:rPr>
              <a:t>4</a:t>
            </a:r>
            <a:endParaRPr lang="en-US" sz="8400" dirty="0"/>
          </a:p>
        </p:txBody>
      </p:sp>
      <p:sp>
        <p:nvSpPr>
          <p:cNvPr id="6" name="Text 4"/>
          <p:cNvSpPr/>
          <p:nvPr/>
        </p:nvSpPr>
        <p:spPr>
          <a:xfrm>
            <a:off x="1005840" y="3657600"/>
            <a:ext cx="4206240" cy="1097280"/>
          </a:xfrm>
          <a:prstGeom prst="rect">
            <a:avLst/>
          </a:prstGeom>
          <a:noFill/>
          <a:ln/>
        </p:spPr>
        <p:txBody>
          <a:bodyPr wrap="square" lIns="0" tIns="0" rIns="0" bIns="0" rtlCol="0" anchor="ctr"/>
          <a:lstStyle/>
          <a:p>
            <a:pPr indent="0" marL="0">
              <a:lnSpc>
                <a:spcPts val="2100"/>
              </a:lnSpc>
              <a:buNone/>
            </a:pPr>
            <a:r>
              <a:rPr lang="en-US" sz="1500" dirty="0">
                <a:solidFill>
                  <a:srgbClr val="7FA893"/>
                </a:solidFill>
                <a:latin typeface="Calibri" pitchFamily="34" charset="0"/>
                <a:ea typeface="Calibri" pitchFamily="34" charset="-122"/>
                <a:cs typeface="Calibri" pitchFamily="34" charset="-120"/>
              </a:rPr>
              <a:t>definities van "actieve deelnemer" in omloop bij Meridiaan — over hetzelfde kwartaal, in drie rapportages.</a:t>
            </a:r>
            <a:endParaRPr lang="en-US" sz="1500" dirty="0"/>
          </a:p>
        </p:txBody>
      </p:sp>
      <p:sp>
        <p:nvSpPr>
          <p:cNvPr id="7" name="Text 5"/>
          <p:cNvSpPr/>
          <p:nvPr/>
        </p:nvSpPr>
        <p:spPr>
          <a:xfrm>
            <a:off x="6035040" y="2103120"/>
            <a:ext cx="5486400" cy="27432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0E1A1C"/>
                </a:solidFill>
                <a:latin typeface="Calibri" pitchFamily="34" charset="0"/>
                <a:ea typeface="Calibri" pitchFamily="34" charset="-122"/>
                <a:cs typeface="Calibri" pitchFamily="34" charset="-120"/>
              </a:rPr>
              <a:t>Het begrip is niet moeilijk — er is geen orgaan dat de knoop mág doorhakken.</a:t>
            </a:r>
            <a:endParaRPr lang="en-US" sz="1600" dirty="0"/>
          </a:p>
          <a:p>
            <a:pPr marL="342900" indent="-342900">
              <a:spcAft>
                <a:spcPts val="800"/>
              </a:spcAft>
              <a:buSzPct val="100000"/>
              <a:buChar char="•"/>
            </a:pPr>
            <a:r>
              <a:rPr lang="en-US" sz="1600" dirty="0">
                <a:solidFill>
                  <a:srgbClr val="0E1A1C"/>
                </a:solidFill>
                <a:latin typeface="Calibri" pitchFamily="34" charset="0"/>
                <a:ea typeface="Calibri" pitchFamily="34" charset="-122"/>
                <a:cs typeface="Calibri" pitchFamily="34" charset="-120"/>
              </a:rPr>
              <a:t>De begrippenlijst telt 400 termen en heeft geen eigenaar.</a:t>
            </a:r>
            <a:endParaRPr lang="en-US" sz="1600" dirty="0"/>
          </a:p>
          <a:p>
            <a:pPr marL="342900" indent="-342900">
              <a:spcAft>
                <a:spcPts val="800"/>
              </a:spcAft>
              <a:buSzPct val="100000"/>
              <a:buChar char="•"/>
            </a:pPr>
            <a:r>
              <a:rPr lang="en-US" sz="1600" dirty="0">
                <a:solidFill>
                  <a:srgbClr val="0E1A1C"/>
                </a:solidFill>
                <a:latin typeface="Calibri" pitchFamily="34" charset="0"/>
                <a:ea typeface="Calibri" pitchFamily="34" charset="-122"/>
                <a:cs typeface="Calibri" pitchFamily="34" charset="-120"/>
              </a:rPr>
              <a:t>De DNB-bevinding geeft vier maanden om dit aantoonbaar op te lossen.</a:t>
            </a:r>
            <a:endParaRPr lang="en-US" sz="1600" dirty="0"/>
          </a:p>
          <a:p>
            <a:pPr marL="342900" indent="-342900">
              <a:spcAft>
                <a:spcPts val="800"/>
              </a:spcAft>
              <a:buSzPct val="100000"/>
              <a:buChar char="•"/>
            </a:pPr>
            <a:r>
              <a:rPr lang="en-US" sz="1600" dirty="0">
                <a:solidFill>
                  <a:srgbClr val="0E1A1C"/>
                </a:solidFill>
                <a:latin typeface="Calibri" pitchFamily="34" charset="0"/>
                <a:ea typeface="Calibri" pitchFamily="34" charset="-122"/>
                <a:cs typeface="Calibri" pitchFamily="34" charset="-120"/>
              </a:rPr>
              <a:t>De CDO heeft 0,6 fte en een mandaat dat nergens is vastgelegd.</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DEFINITIE</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Governance doet twee dingen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algn="l" indent="0" marL="0">
              <a:buNone/>
            </a:pPr>
            <a:r>
              <a:rPr lang="en-US" sz="1600" dirty="0">
                <a:solidFill>
                  <a:srgbClr val="5F7375"/>
                </a:solidFill>
                <a:latin typeface="Calibri" pitchFamily="34" charset="0"/>
                <a:ea typeface="Calibri" pitchFamily="34" charset="-122"/>
                <a:cs typeface="Calibri" pitchFamily="34" charset="-120"/>
              </a:rPr>
              <a:t>Alles wat daar niet op terug te voeren is, is overhead.</a:t>
            </a:r>
            <a:endParaRPr lang="en-US" sz="1600" dirty="0"/>
          </a:p>
        </p:txBody>
      </p:sp>
      <p:sp>
        <p:nvSpPr>
          <p:cNvPr id="5" name="Shape 3"/>
          <p:cNvSpPr/>
          <p:nvPr/>
        </p:nvSpPr>
        <p:spPr>
          <a:xfrm>
            <a:off x="640080" y="2194560"/>
            <a:ext cx="5312664" cy="2377440"/>
          </a:xfrm>
          <a:prstGeom prst="roundRect">
            <a:avLst>
              <a:gd name="adj" fmla="val 3077"/>
            </a:avLst>
          </a:prstGeom>
          <a:solidFill>
            <a:srgbClr val="F1F4F2"/>
          </a:solidFill>
          <a:ln w="12700">
            <a:solidFill>
              <a:srgbClr val="D5DED8"/>
            </a:solidFill>
            <a:prstDash val="solid"/>
          </a:ln>
        </p:spPr>
      </p:sp>
      <p:sp>
        <p:nvSpPr>
          <p:cNvPr id="6" name="Text 4"/>
          <p:cNvSpPr/>
          <p:nvPr/>
        </p:nvSpPr>
        <p:spPr>
          <a:xfrm>
            <a:off x="859536" y="2414016"/>
            <a:ext cx="4873752" cy="384048"/>
          </a:xfrm>
          <a:prstGeom prst="rect">
            <a:avLst/>
          </a:prstGeom>
          <a:noFill/>
          <a:ln/>
        </p:spPr>
        <p:txBody>
          <a:bodyPr wrap="square" lIns="0" tIns="0" rIns="0" bIns="0" rtlCol="0" anchor="t"/>
          <a:lstStyle/>
          <a:p>
            <a:pPr indent="0" marL="0">
              <a:buNone/>
            </a:pPr>
            <a:r>
              <a:rPr lang="en-US" sz="2200" b="1" dirty="0">
                <a:solidFill>
                  <a:srgbClr val="0E1A1C"/>
                </a:solidFill>
                <a:latin typeface="Cambria" pitchFamily="34" charset="0"/>
                <a:ea typeface="Cambria" pitchFamily="34" charset="-122"/>
                <a:cs typeface="Cambria" pitchFamily="34" charset="-120"/>
              </a:rPr>
              <a:t>Schaarste verdelen</a:t>
            </a:r>
            <a:endParaRPr lang="en-US" sz="2200" dirty="0"/>
          </a:p>
        </p:txBody>
      </p:sp>
      <p:sp>
        <p:nvSpPr>
          <p:cNvPr id="7" name="Text 5"/>
          <p:cNvSpPr/>
          <p:nvPr/>
        </p:nvSpPr>
        <p:spPr>
          <a:xfrm>
            <a:off x="859536" y="2852928"/>
            <a:ext cx="4873752" cy="1499616"/>
          </a:xfrm>
          <a:prstGeom prst="rect">
            <a:avLst/>
          </a:prstGeom>
          <a:noFill/>
          <a:ln/>
        </p:spPr>
        <p:txBody>
          <a:bodyPr wrap="square" lIns="0" tIns="0" rIns="0" bIns="0" rtlCol="0" anchor="t"/>
          <a:lstStyle/>
          <a:p>
            <a:pPr indent="0" marL="0">
              <a:lnSpc>
                <a:spcPts val="1700"/>
              </a:lnSpc>
              <a:buNone/>
            </a:pPr>
            <a:r>
              <a:rPr lang="en-US" sz="1500" dirty="0">
                <a:solidFill>
                  <a:srgbClr val="5F7375"/>
                </a:solidFill>
                <a:latin typeface="Calibri" pitchFamily="34" charset="0"/>
                <a:ea typeface="Calibri" pitchFamily="34" charset="-122"/>
                <a:cs typeface="Calibri" pitchFamily="34" charset="-120"/>
              </a:rPr>
              <a:t>Aandacht, budget, prioriteit, de tijd van stewards. Er is altijd minder capaciteit dan vraag; governance maakt die verdeling expliciet in plaats van impliciet.</a:t>
            </a:r>
            <a:endParaRPr lang="en-US" sz="1500" dirty="0"/>
          </a:p>
        </p:txBody>
      </p:sp>
      <p:sp>
        <p:nvSpPr>
          <p:cNvPr id="8" name="Shape 6"/>
          <p:cNvSpPr/>
          <p:nvPr/>
        </p:nvSpPr>
        <p:spPr>
          <a:xfrm>
            <a:off x="6208776" y="2194560"/>
            <a:ext cx="5312664" cy="2377440"/>
          </a:xfrm>
          <a:prstGeom prst="roundRect">
            <a:avLst>
              <a:gd name="adj" fmla="val 3077"/>
            </a:avLst>
          </a:prstGeom>
          <a:solidFill>
            <a:srgbClr val="F1F4F2"/>
          </a:solidFill>
          <a:ln w="12700">
            <a:solidFill>
              <a:srgbClr val="D5DED8"/>
            </a:solidFill>
            <a:prstDash val="solid"/>
          </a:ln>
        </p:spPr>
      </p:sp>
      <p:sp>
        <p:nvSpPr>
          <p:cNvPr id="9" name="Text 7"/>
          <p:cNvSpPr/>
          <p:nvPr/>
        </p:nvSpPr>
        <p:spPr>
          <a:xfrm>
            <a:off x="6428232" y="2414016"/>
            <a:ext cx="4873752" cy="384048"/>
          </a:xfrm>
          <a:prstGeom prst="rect">
            <a:avLst/>
          </a:prstGeom>
          <a:noFill/>
          <a:ln/>
        </p:spPr>
        <p:txBody>
          <a:bodyPr wrap="square" lIns="0" tIns="0" rIns="0" bIns="0" rtlCol="0" anchor="t"/>
          <a:lstStyle/>
          <a:p>
            <a:pPr indent="0" marL="0">
              <a:buNone/>
            </a:pPr>
            <a:r>
              <a:rPr lang="en-US" sz="2200" b="1" dirty="0">
                <a:solidFill>
                  <a:srgbClr val="0E1A1C"/>
                </a:solidFill>
                <a:latin typeface="Cambria" pitchFamily="34" charset="0"/>
                <a:ea typeface="Cambria" pitchFamily="34" charset="-122"/>
                <a:cs typeface="Cambria" pitchFamily="34" charset="-120"/>
              </a:rPr>
              <a:t>Conflicten beslechten</a:t>
            </a:r>
            <a:endParaRPr lang="en-US" sz="2200" dirty="0"/>
          </a:p>
        </p:txBody>
      </p:sp>
      <p:sp>
        <p:nvSpPr>
          <p:cNvPr id="10" name="Text 8"/>
          <p:cNvSpPr/>
          <p:nvPr/>
        </p:nvSpPr>
        <p:spPr>
          <a:xfrm>
            <a:off x="6428232" y="2852928"/>
            <a:ext cx="4873752" cy="1499616"/>
          </a:xfrm>
          <a:prstGeom prst="rect">
            <a:avLst/>
          </a:prstGeom>
          <a:noFill/>
          <a:ln/>
        </p:spPr>
        <p:txBody>
          <a:bodyPr wrap="square" lIns="0" tIns="0" rIns="0" bIns="0" rtlCol="0" anchor="t"/>
          <a:lstStyle/>
          <a:p>
            <a:pPr indent="0" marL="0">
              <a:lnSpc>
                <a:spcPts val="1700"/>
              </a:lnSpc>
              <a:buNone/>
            </a:pPr>
            <a:r>
              <a:rPr lang="en-US" sz="1500" dirty="0">
                <a:solidFill>
                  <a:srgbClr val="5F7375"/>
                </a:solidFill>
                <a:latin typeface="Calibri" pitchFamily="34" charset="0"/>
                <a:ea typeface="Calibri" pitchFamily="34" charset="-122"/>
                <a:cs typeface="Calibri" pitchFamily="34" charset="-120"/>
              </a:rPr>
              <a:t>Over definities, over eigenaarschap, over toegang. Niet door consensus af te wachten, maar door vast te leggen wie de knoop doorhakt en wanneer.</a:t>
            </a:r>
            <a:endParaRPr lang="en-US" sz="1500" dirty="0"/>
          </a:p>
        </p:txBody>
      </p:sp>
      <p:sp>
        <p:nvSpPr>
          <p:cNvPr id="11" name="Text 9"/>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Data governance = besluitrechten en verantwoordingslijnen over data, plus de organen, rollen, processen en normen waarmee die worden uitgeoefend.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WAT HET NIET IS</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Drie hardnekkige misverstanden</a:t>
            </a:r>
            <a:endParaRPr lang="en-US" sz="3400" dirty="0"/>
          </a:p>
        </p:txBody>
      </p:sp>
      <p:sp>
        <p:nvSpPr>
          <p:cNvPr id="4" name="Shape 2"/>
          <p:cNvSpPr/>
          <p:nvPr/>
        </p:nvSpPr>
        <p:spPr>
          <a:xfrm>
            <a:off x="640080" y="2103120"/>
            <a:ext cx="3456432" cy="2560320"/>
          </a:xfrm>
          <a:prstGeom prst="roundRect">
            <a:avLst>
              <a:gd name="adj" fmla="val 2857"/>
            </a:avLst>
          </a:prstGeom>
          <a:solidFill>
            <a:srgbClr val="F1F4F2"/>
          </a:solidFill>
          <a:ln w="12700">
            <a:solidFill>
              <a:srgbClr val="D5DED8"/>
            </a:solidFill>
            <a:prstDash val="solid"/>
          </a:ln>
        </p:spPr>
      </p:sp>
      <p:sp>
        <p:nvSpPr>
          <p:cNvPr id="5" name="Shape 3"/>
          <p:cNvSpPr/>
          <p:nvPr/>
        </p:nvSpPr>
        <p:spPr>
          <a:xfrm>
            <a:off x="859536" y="232257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322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59536" y="2816352"/>
            <a:ext cx="3017520"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Geen kwaliteitsproject</a:t>
            </a:r>
            <a:endParaRPr lang="en-US" sz="1700" dirty="0"/>
          </a:p>
        </p:txBody>
      </p:sp>
      <p:sp>
        <p:nvSpPr>
          <p:cNvPr id="8" name="Text 6"/>
          <p:cNvSpPr/>
          <p:nvPr/>
        </p:nvSpPr>
        <p:spPr>
          <a:xfrm>
            <a:off x="859536" y="3236976"/>
            <a:ext cx="3017520" cy="1207008"/>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Kwaliteit is een van de onderwerpen waarover besloten wordt, niet het doel van de inrichting.</a:t>
            </a:r>
            <a:endParaRPr lang="en-US" sz="1300" dirty="0"/>
          </a:p>
        </p:txBody>
      </p:sp>
      <p:sp>
        <p:nvSpPr>
          <p:cNvPr id="9" name="Shape 7"/>
          <p:cNvSpPr/>
          <p:nvPr/>
        </p:nvSpPr>
        <p:spPr>
          <a:xfrm>
            <a:off x="4352544" y="2103120"/>
            <a:ext cx="3456432" cy="2560320"/>
          </a:xfrm>
          <a:prstGeom prst="roundRect">
            <a:avLst>
              <a:gd name="adj" fmla="val 2857"/>
            </a:avLst>
          </a:prstGeom>
          <a:solidFill>
            <a:srgbClr val="F1F4F2"/>
          </a:solidFill>
          <a:ln w="12700">
            <a:solidFill>
              <a:srgbClr val="D5DED8"/>
            </a:solidFill>
            <a:prstDash val="solid"/>
          </a:ln>
        </p:spPr>
      </p:sp>
      <p:sp>
        <p:nvSpPr>
          <p:cNvPr id="10" name="Shape 8"/>
          <p:cNvSpPr/>
          <p:nvPr/>
        </p:nvSpPr>
        <p:spPr>
          <a:xfrm>
            <a:off x="4572000" y="2322576"/>
            <a:ext cx="384048" cy="384048"/>
          </a:xfrm>
          <a:prstGeom prst="ellipse">
            <a:avLst/>
          </a:prstGeom>
          <a:solidFill>
            <a:srgbClr val="3F7D74"/>
          </a:solidFill>
          <a:ln w="12700">
            <a:solidFill>
              <a:srgbClr val="3F7D74"/>
            </a:solidFill>
            <a:prstDash val="solid"/>
          </a:ln>
        </p:spPr>
      </p:sp>
      <p:sp>
        <p:nvSpPr>
          <p:cNvPr id="11" name="Text 9"/>
          <p:cNvSpPr/>
          <p:nvPr/>
        </p:nvSpPr>
        <p:spPr>
          <a:xfrm>
            <a:off x="4572000" y="2322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4572000" y="2816352"/>
            <a:ext cx="3017520"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Geen vergaderstructuur</a:t>
            </a:r>
            <a:endParaRPr lang="en-US" sz="1700" dirty="0"/>
          </a:p>
        </p:txBody>
      </p:sp>
      <p:sp>
        <p:nvSpPr>
          <p:cNvPr id="13" name="Text 11"/>
          <p:cNvSpPr/>
          <p:nvPr/>
        </p:nvSpPr>
        <p:spPr>
          <a:xfrm>
            <a:off x="4572000" y="3236976"/>
            <a:ext cx="3017520" cy="1207008"/>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Organen zonder besluitrechten zijn overleg. Overleg verandert niets.</a:t>
            </a:r>
            <a:endParaRPr lang="en-US" sz="1300" dirty="0"/>
          </a:p>
        </p:txBody>
      </p:sp>
      <p:sp>
        <p:nvSpPr>
          <p:cNvPr id="14" name="Shape 12"/>
          <p:cNvSpPr/>
          <p:nvPr/>
        </p:nvSpPr>
        <p:spPr>
          <a:xfrm>
            <a:off x="8065008" y="2103120"/>
            <a:ext cx="3456432" cy="2560320"/>
          </a:xfrm>
          <a:prstGeom prst="roundRect">
            <a:avLst>
              <a:gd name="adj" fmla="val 2857"/>
            </a:avLst>
          </a:prstGeom>
          <a:solidFill>
            <a:srgbClr val="F1F4F2"/>
          </a:solidFill>
          <a:ln w="12700">
            <a:solidFill>
              <a:srgbClr val="D5DED8"/>
            </a:solidFill>
            <a:prstDash val="solid"/>
          </a:ln>
        </p:spPr>
      </p:sp>
      <p:sp>
        <p:nvSpPr>
          <p:cNvPr id="15" name="Shape 13"/>
          <p:cNvSpPr/>
          <p:nvPr/>
        </p:nvSpPr>
        <p:spPr>
          <a:xfrm>
            <a:off x="8284464" y="2322576"/>
            <a:ext cx="384048" cy="384048"/>
          </a:xfrm>
          <a:prstGeom prst="ellipse">
            <a:avLst/>
          </a:prstGeom>
          <a:solidFill>
            <a:srgbClr val="3F7D74"/>
          </a:solidFill>
          <a:ln w="12700">
            <a:solidFill>
              <a:srgbClr val="3F7D74"/>
            </a:solidFill>
            <a:prstDash val="solid"/>
          </a:ln>
        </p:spPr>
      </p:sp>
      <p:sp>
        <p:nvSpPr>
          <p:cNvPr id="16" name="Text 14"/>
          <p:cNvSpPr/>
          <p:nvPr/>
        </p:nvSpPr>
        <p:spPr>
          <a:xfrm>
            <a:off x="8284464" y="23225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284464" y="2816352"/>
            <a:ext cx="3017520"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Geen tool</a:t>
            </a:r>
            <a:endParaRPr lang="en-US" sz="1700" dirty="0"/>
          </a:p>
        </p:txBody>
      </p:sp>
      <p:sp>
        <p:nvSpPr>
          <p:cNvPr id="18" name="Text 16"/>
          <p:cNvSpPr/>
          <p:nvPr/>
        </p:nvSpPr>
        <p:spPr>
          <a:xfrm>
            <a:off x="8284464" y="3236976"/>
            <a:ext cx="3017520" cy="1207008"/>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Een catalogus registreert besluiten. Hij neemt ze niet.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HET RAAMWERK VAN VANDAAG</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Zes bouwstenen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algn="l" indent="0" marL="0">
              <a:buNone/>
            </a:pPr>
            <a:r>
              <a:rPr lang="en-US" sz="1600" dirty="0">
                <a:solidFill>
                  <a:srgbClr val="5F7375"/>
                </a:solidFill>
                <a:latin typeface="Calibri" pitchFamily="34" charset="0"/>
                <a:ea typeface="Calibri" pitchFamily="34" charset="-122"/>
                <a:cs typeface="Calibri" pitchFamily="34" charset="-120"/>
              </a:rPr>
              <a:t>Niet optioneel, en ze hangen aan elkaar.</a:t>
            </a:r>
            <a:endParaRPr lang="en-US" sz="1600" dirty="0"/>
          </a:p>
        </p:txBody>
      </p:sp>
      <p:sp>
        <p:nvSpPr>
          <p:cNvPr id="5" name="Shape 3"/>
          <p:cNvSpPr/>
          <p:nvPr/>
        </p:nvSpPr>
        <p:spPr>
          <a:xfrm>
            <a:off x="640080" y="2057400"/>
            <a:ext cx="3456432" cy="1920240"/>
          </a:xfrm>
          <a:prstGeom prst="roundRect">
            <a:avLst>
              <a:gd name="adj" fmla="val 3810"/>
            </a:avLst>
          </a:prstGeom>
          <a:solidFill>
            <a:srgbClr val="F1F4F2"/>
          </a:solidFill>
          <a:ln w="12700">
            <a:solidFill>
              <a:srgbClr val="D5DED8"/>
            </a:solidFill>
            <a:prstDash val="solid"/>
          </a:ln>
        </p:spPr>
      </p:sp>
      <p:sp>
        <p:nvSpPr>
          <p:cNvPr id="6" name="Shape 4"/>
          <p:cNvSpPr/>
          <p:nvPr/>
        </p:nvSpPr>
        <p:spPr>
          <a:xfrm>
            <a:off x="859536" y="2276856"/>
            <a:ext cx="384048" cy="384048"/>
          </a:xfrm>
          <a:prstGeom prst="ellipse">
            <a:avLst/>
          </a:prstGeom>
          <a:solidFill>
            <a:srgbClr val="3F7D74"/>
          </a:solidFill>
          <a:ln w="12700">
            <a:solidFill>
              <a:srgbClr val="3F7D74"/>
            </a:solidFill>
            <a:prstDash val="solid"/>
          </a:ln>
        </p:spPr>
      </p:sp>
      <p:sp>
        <p:nvSpPr>
          <p:cNvPr id="7" name="Text 5"/>
          <p:cNvSpPr/>
          <p:nvPr/>
        </p:nvSpPr>
        <p:spPr>
          <a:xfrm>
            <a:off x="859536" y="2276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p:nvPr/>
        </p:nvSpPr>
        <p:spPr>
          <a:xfrm>
            <a:off x="859536" y="2770632"/>
            <a:ext cx="3017520"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Mandaat en scope</a:t>
            </a:r>
            <a:endParaRPr lang="en-US" sz="1600" dirty="0"/>
          </a:p>
        </p:txBody>
      </p:sp>
      <p:sp>
        <p:nvSpPr>
          <p:cNvPr id="9" name="Text 7"/>
          <p:cNvSpPr/>
          <p:nvPr/>
        </p:nvSpPr>
        <p:spPr>
          <a:xfrm>
            <a:off x="859536" y="3191256"/>
            <a:ext cx="3017520" cy="566928"/>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Waar komt het gezag vandaan?</a:t>
            </a:r>
            <a:endParaRPr lang="en-US" sz="1200" dirty="0"/>
          </a:p>
        </p:txBody>
      </p:sp>
      <p:sp>
        <p:nvSpPr>
          <p:cNvPr id="10" name="Shape 8"/>
          <p:cNvSpPr/>
          <p:nvPr/>
        </p:nvSpPr>
        <p:spPr>
          <a:xfrm>
            <a:off x="4352544" y="2057400"/>
            <a:ext cx="3456432" cy="1920240"/>
          </a:xfrm>
          <a:prstGeom prst="roundRect">
            <a:avLst>
              <a:gd name="adj" fmla="val 3810"/>
            </a:avLst>
          </a:prstGeom>
          <a:solidFill>
            <a:srgbClr val="F1F4F2"/>
          </a:solidFill>
          <a:ln w="12700">
            <a:solidFill>
              <a:srgbClr val="D5DED8"/>
            </a:solidFill>
            <a:prstDash val="solid"/>
          </a:ln>
        </p:spPr>
      </p:sp>
      <p:sp>
        <p:nvSpPr>
          <p:cNvPr id="11" name="Shape 9"/>
          <p:cNvSpPr/>
          <p:nvPr/>
        </p:nvSpPr>
        <p:spPr>
          <a:xfrm>
            <a:off x="4572000" y="2276856"/>
            <a:ext cx="384048" cy="384048"/>
          </a:xfrm>
          <a:prstGeom prst="ellipse">
            <a:avLst/>
          </a:prstGeom>
          <a:solidFill>
            <a:srgbClr val="3F7D74"/>
          </a:solidFill>
          <a:ln w="12700">
            <a:solidFill>
              <a:srgbClr val="3F7D74"/>
            </a:solidFill>
            <a:prstDash val="solid"/>
          </a:ln>
        </p:spPr>
      </p:sp>
      <p:sp>
        <p:nvSpPr>
          <p:cNvPr id="12" name="Text 10"/>
          <p:cNvSpPr/>
          <p:nvPr/>
        </p:nvSpPr>
        <p:spPr>
          <a:xfrm>
            <a:off x="4572000" y="2276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4572000" y="2770632"/>
            <a:ext cx="3017520"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Organen</a:t>
            </a:r>
            <a:endParaRPr lang="en-US" sz="1600" dirty="0"/>
          </a:p>
        </p:txBody>
      </p:sp>
      <p:sp>
        <p:nvSpPr>
          <p:cNvPr id="14" name="Text 12"/>
          <p:cNvSpPr/>
          <p:nvPr/>
        </p:nvSpPr>
        <p:spPr>
          <a:xfrm>
            <a:off x="4572000" y="3191256"/>
            <a:ext cx="3017520" cy="566928"/>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Waar valt het besluit?</a:t>
            </a:r>
            <a:endParaRPr lang="en-US" sz="1200" dirty="0"/>
          </a:p>
        </p:txBody>
      </p:sp>
      <p:sp>
        <p:nvSpPr>
          <p:cNvPr id="15" name="Shape 13"/>
          <p:cNvSpPr/>
          <p:nvPr/>
        </p:nvSpPr>
        <p:spPr>
          <a:xfrm>
            <a:off x="8065008" y="2057400"/>
            <a:ext cx="3456432" cy="1920240"/>
          </a:xfrm>
          <a:prstGeom prst="roundRect">
            <a:avLst>
              <a:gd name="adj" fmla="val 3810"/>
            </a:avLst>
          </a:prstGeom>
          <a:solidFill>
            <a:srgbClr val="F1F4F2"/>
          </a:solidFill>
          <a:ln w="12700">
            <a:solidFill>
              <a:srgbClr val="D5DED8"/>
            </a:solidFill>
            <a:prstDash val="solid"/>
          </a:ln>
        </p:spPr>
      </p:sp>
      <p:sp>
        <p:nvSpPr>
          <p:cNvPr id="16" name="Shape 14"/>
          <p:cNvSpPr/>
          <p:nvPr/>
        </p:nvSpPr>
        <p:spPr>
          <a:xfrm>
            <a:off x="8284464" y="2276856"/>
            <a:ext cx="384048" cy="384048"/>
          </a:xfrm>
          <a:prstGeom prst="ellipse">
            <a:avLst/>
          </a:prstGeom>
          <a:solidFill>
            <a:srgbClr val="3F7D74"/>
          </a:solidFill>
          <a:ln w="12700">
            <a:solidFill>
              <a:srgbClr val="3F7D74"/>
            </a:solidFill>
            <a:prstDash val="solid"/>
          </a:ln>
        </p:spPr>
      </p:sp>
      <p:sp>
        <p:nvSpPr>
          <p:cNvPr id="17" name="Text 15"/>
          <p:cNvSpPr/>
          <p:nvPr/>
        </p:nvSpPr>
        <p:spPr>
          <a:xfrm>
            <a:off x="8284464" y="22768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p:nvPr/>
        </p:nvSpPr>
        <p:spPr>
          <a:xfrm>
            <a:off x="8284464" y="2770632"/>
            <a:ext cx="3017520"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Rollen</a:t>
            </a:r>
            <a:endParaRPr lang="en-US" sz="1600" dirty="0"/>
          </a:p>
        </p:txBody>
      </p:sp>
      <p:sp>
        <p:nvSpPr>
          <p:cNvPr id="19" name="Text 17"/>
          <p:cNvSpPr/>
          <p:nvPr/>
        </p:nvSpPr>
        <p:spPr>
          <a:xfrm>
            <a:off x="8284464" y="3191256"/>
            <a:ext cx="3017520" cy="566928"/>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Wie is aanspreekbaar?</a:t>
            </a:r>
            <a:endParaRPr lang="en-US" sz="1200" dirty="0"/>
          </a:p>
        </p:txBody>
      </p:sp>
      <p:sp>
        <p:nvSpPr>
          <p:cNvPr id="20" name="Shape 18"/>
          <p:cNvSpPr/>
          <p:nvPr/>
        </p:nvSpPr>
        <p:spPr>
          <a:xfrm>
            <a:off x="640080" y="4233672"/>
            <a:ext cx="3456432" cy="1920240"/>
          </a:xfrm>
          <a:prstGeom prst="roundRect">
            <a:avLst>
              <a:gd name="adj" fmla="val 3810"/>
            </a:avLst>
          </a:prstGeom>
          <a:solidFill>
            <a:srgbClr val="F1F4F2"/>
          </a:solidFill>
          <a:ln w="12700">
            <a:solidFill>
              <a:srgbClr val="D5DED8"/>
            </a:solidFill>
            <a:prstDash val="solid"/>
          </a:ln>
        </p:spPr>
      </p:sp>
      <p:sp>
        <p:nvSpPr>
          <p:cNvPr id="21" name="Shape 19"/>
          <p:cNvSpPr/>
          <p:nvPr/>
        </p:nvSpPr>
        <p:spPr>
          <a:xfrm>
            <a:off x="859536" y="4453128"/>
            <a:ext cx="384048" cy="384048"/>
          </a:xfrm>
          <a:prstGeom prst="ellipse">
            <a:avLst/>
          </a:prstGeom>
          <a:solidFill>
            <a:srgbClr val="3F7D74"/>
          </a:solidFill>
          <a:ln w="12700">
            <a:solidFill>
              <a:srgbClr val="3F7D74"/>
            </a:solidFill>
            <a:prstDash val="solid"/>
          </a:ln>
        </p:spPr>
      </p:sp>
      <p:sp>
        <p:nvSpPr>
          <p:cNvPr id="22" name="Text 20"/>
          <p:cNvSpPr/>
          <p:nvPr/>
        </p:nvSpPr>
        <p:spPr>
          <a:xfrm>
            <a:off x="859536" y="4453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p:nvPr/>
        </p:nvSpPr>
        <p:spPr>
          <a:xfrm>
            <a:off x="859536" y="4946904"/>
            <a:ext cx="3017520"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Besluitrechten</a:t>
            </a:r>
            <a:endParaRPr lang="en-US" sz="1600" dirty="0"/>
          </a:p>
        </p:txBody>
      </p:sp>
      <p:sp>
        <p:nvSpPr>
          <p:cNvPr id="24" name="Text 22"/>
          <p:cNvSpPr/>
          <p:nvPr/>
        </p:nvSpPr>
        <p:spPr>
          <a:xfrm>
            <a:off x="859536" y="5367528"/>
            <a:ext cx="3017520" cy="566928"/>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Wie beslist wat, binnen welke termijn?</a:t>
            </a:r>
            <a:endParaRPr lang="en-US" sz="1200" dirty="0"/>
          </a:p>
        </p:txBody>
      </p:sp>
      <p:sp>
        <p:nvSpPr>
          <p:cNvPr id="25" name="Shape 23"/>
          <p:cNvSpPr/>
          <p:nvPr/>
        </p:nvSpPr>
        <p:spPr>
          <a:xfrm>
            <a:off x="4352544" y="4233672"/>
            <a:ext cx="3456432" cy="1920240"/>
          </a:xfrm>
          <a:prstGeom prst="roundRect">
            <a:avLst>
              <a:gd name="adj" fmla="val 3810"/>
            </a:avLst>
          </a:prstGeom>
          <a:solidFill>
            <a:srgbClr val="F1F4F2"/>
          </a:solidFill>
          <a:ln w="12700">
            <a:solidFill>
              <a:srgbClr val="D5DED8"/>
            </a:solidFill>
            <a:prstDash val="solid"/>
          </a:ln>
        </p:spPr>
      </p:sp>
      <p:sp>
        <p:nvSpPr>
          <p:cNvPr id="26" name="Shape 24"/>
          <p:cNvSpPr/>
          <p:nvPr/>
        </p:nvSpPr>
        <p:spPr>
          <a:xfrm>
            <a:off x="4572000" y="4453128"/>
            <a:ext cx="384048" cy="384048"/>
          </a:xfrm>
          <a:prstGeom prst="ellipse">
            <a:avLst/>
          </a:prstGeom>
          <a:solidFill>
            <a:srgbClr val="3F7D74"/>
          </a:solidFill>
          <a:ln w="12700">
            <a:solidFill>
              <a:srgbClr val="3F7D74"/>
            </a:solidFill>
            <a:prstDash val="solid"/>
          </a:ln>
        </p:spPr>
      </p:sp>
      <p:sp>
        <p:nvSpPr>
          <p:cNvPr id="27" name="Text 25"/>
          <p:cNvSpPr/>
          <p:nvPr/>
        </p:nvSpPr>
        <p:spPr>
          <a:xfrm>
            <a:off x="4572000" y="4453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p:nvPr/>
        </p:nvSpPr>
        <p:spPr>
          <a:xfrm>
            <a:off x="4572000" y="4946904"/>
            <a:ext cx="3017520"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Processen en normen</a:t>
            </a:r>
            <a:endParaRPr lang="en-US" sz="1600" dirty="0"/>
          </a:p>
        </p:txBody>
      </p:sp>
      <p:sp>
        <p:nvSpPr>
          <p:cNvPr id="29" name="Text 27"/>
          <p:cNvSpPr/>
          <p:nvPr/>
        </p:nvSpPr>
        <p:spPr>
          <a:xfrm>
            <a:off x="4572000" y="5367528"/>
            <a:ext cx="3017520" cy="566928"/>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Hoe verloopt het en wat geldt er?</a:t>
            </a:r>
            <a:endParaRPr lang="en-US" sz="1200" dirty="0"/>
          </a:p>
        </p:txBody>
      </p:sp>
      <p:sp>
        <p:nvSpPr>
          <p:cNvPr id="30" name="Shape 28"/>
          <p:cNvSpPr/>
          <p:nvPr/>
        </p:nvSpPr>
        <p:spPr>
          <a:xfrm>
            <a:off x="8065008" y="4233672"/>
            <a:ext cx="3456432" cy="1920240"/>
          </a:xfrm>
          <a:prstGeom prst="roundRect">
            <a:avLst>
              <a:gd name="adj" fmla="val 3810"/>
            </a:avLst>
          </a:prstGeom>
          <a:solidFill>
            <a:srgbClr val="F1F4F2"/>
          </a:solidFill>
          <a:ln w="12700">
            <a:solidFill>
              <a:srgbClr val="D5DED8"/>
            </a:solidFill>
            <a:prstDash val="solid"/>
          </a:ln>
        </p:spPr>
      </p:sp>
      <p:sp>
        <p:nvSpPr>
          <p:cNvPr id="31" name="Shape 29"/>
          <p:cNvSpPr/>
          <p:nvPr/>
        </p:nvSpPr>
        <p:spPr>
          <a:xfrm>
            <a:off x="8284464" y="4453128"/>
            <a:ext cx="384048" cy="384048"/>
          </a:xfrm>
          <a:prstGeom prst="ellipse">
            <a:avLst/>
          </a:prstGeom>
          <a:solidFill>
            <a:srgbClr val="3F7D74"/>
          </a:solidFill>
          <a:ln w="12700">
            <a:solidFill>
              <a:srgbClr val="3F7D74"/>
            </a:solidFill>
            <a:prstDash val="solid"/>
          </a:ln>
        </p:spPr>
      </p:sp>
      <p:sp>
        <p:nvSpPr>
          <p:cNvPr id="32" name="Text 30"/>
          <p:cNvSpPr/>
          <p:nvPr/>
        </p:nvSpPr>
        <p:spPr>
          <a:xfrm>
            <a:off x="8284464" y="44531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p:nvPr/>
        </p:nvSpPr>
        <p:spPr>
          <a:xfrm>
            <a:off x="8284464" y="4946904"/>
            <a:ext cx="3017520" cy="384048"/>
          </a:xfrm>
          <a:prstGeom prst="rect">
            <a:avLst/>
          </a:prstGeom>
          <a:noFill/>
          <a:ln/>
        </p:spPr>
        <p:txBody>
          <a:bodyPr wrap="square" lIns="0" tIns="0" rIns="0" bIns="0" rtlCol="0" anchor="t"/>
          <a:lstStyle/>
          <a:p>
            <a:pPr indent="0" marL="0">
              <a:buNone/>
            </a:pPr>
            <a:r>
              <a:rPr lang="en-US" sz="1600" b="1" dirty="0">
                <a:solidFill>
                  <a:srgbClr val="0E1A1C"/>
                </a:solidFill>
                <a:latin typeface="Cambria" pitchFamily="34" charset="0"/>
                <a:ea typeface="Cambria" pitchFamily="34" charset="-122"/>
                <a:cs typeface="Cambria" pitchFamily="34" charset="-120"/>
              </a:rPr>
              <a:t>Meting</a:t>
            </a:r>
            <a:endParaRPr lang="en-US" sz="1600" dirty="0"/>
          </a:p>
        </p:txBody>
      </p:sp>
      <p:sp>
        <p:nvSpPr>
          <p:cNvPr id="34" name="Text 32"/>
          <p:cNvSpPr/>
          <p:nvPr/>
        </p:nvSpPr>
        <p:spPr>
          <a:xfrm>
            <a:off x="8284464" y="5367528"/>
            <a:ext cx="3017520" cy="566928"/>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Werkt het?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DE VERGADERTOETS</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Merkt niemand het wanneer een orgaan een half jaar</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niet bijeenkomt, dan had het geen besluitrechten.</a:t>
            </a:r>
            <a:endParaRPr lang="en-US" sz="3200" dirty="0"/>
          </a:p>
        </p:txBody>
      </p:sp>
      <p:sp>
        <p:nvSpPr>
          <p:cNvPr id="4" name="Text 2"/>
          <p:cNvSpPr/>
          <p:nvPr/>
        </p:nvSpPr>
        <p:spPr>
          <a:xfrm>
            <a:off x="640080" y="4160520"/>
            <a:ext cx="8686800" cy="109728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Leg elk voorgesteld orgaan langs deze toets vóórdat je het in het ontwerp opneemt. In de praktijk sneuvelt hier ongeveer de helft.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BOUWSTEEN 1</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Mandaat is geen draagvlak</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algn="l" indent="0" marL="0">
              <a:buNone/>
            </a:pPr>
            <a:r>
              <a:rPr lang="en-US" sz="1600" dirty="0">
                <a:solidFill>
                  <a:srgbClr val="5F7375"/>
                </a:solidFill>
                <a:latin typeface="Calibri" pitchFamily="34" charset="0"/>
                <a:ea typeface="Calibri" pitchFamily="34" charset="-122"/>
                <a:cs typeface="Calibri" pitchFamily="34" charset="-120"/>
              </a:rPr>
              <a:t>Draagvlak is prettig. Mandaat is de bevoegdheid om te beslissen voor wie het er niet mee eens is.</a:t>
            </a:r>
            <a:endParaRPr lang="en-US" sz="1600" dirty="0"/>
          </a:p>
        </p:txBody>
      </p:sp>
      <p:sp>
        <p:nvSpPr>
          <p:cNvPr id="5" name="Shape 3"/>
          <p:cNvSpPr/>
          <p:nvPr/>
        </p:nvSpPr>
        <p:spPr>
          <a:xfrm>
            <a:off x="640080" y="2377440"/>
            <a:ext cx="3456432" cy="2286000"/>
          </a:xfrm>
          <a:prstGeom prst="roundRect">
            <a:avLst>
              <a:gd name="adj" fmla="val 3200"/>
            </a:avLst>
          </a:prstGeom>
          <a:solidFill>
            <a:srgbClr val="F1F4F2"/>
          </a:solidFill>
          <a:ln w="12700">
            <a:solidFill>
              <a:srgbClr val="D5DED8"/>
            </a:solidFill>
            <a:prstDash val="solid"/>
          </a:ln>
        </p:spPr>
      </p:sp>
      <p:sp>
        <p:nvSpPr>
          <p:cNvPr id="6" name="Text 4"/>
          <p:cNvSpPr/>
          <p:nvPr/>
        </p:nvSpPr>
        <p:spPr>
          <a:xfrm>
            <a:off x="859536" y="2596896"/>
            <a:ext cx="3017520"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Bestuursbesluit</a:t>
            </a:r>
            <a:endParaRPr lang="en-US" sz="1700" dirty="0"/>
          </a:p>
        </p:txBody>
      </p:sp>
      <p:sp>
        <p:nvSpPr>
          <p:cNvPr id="7" name="Text 5"/>
          <p:cNvSpPr/>
          <p:nvPr/>
        </p:nvSpPr>
        <p:spPr>
          <a:xfrm>
            <a:off x="859536" y="3035808"/>
            <a:ext cx="3017520" cy="1408176"/>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Het sterkst en het duurzaamst. Traag te verkrijgen, dus begin er vroeg aan.</a:t>
            </a:r>
            <a:endParaRPr lang="en-US" sz="1300" dirty="0"/>
          </a:p>
        </p:txBody>
      </p:sp>
      <p:sp>
        <p:nvSpPr>
          <p:cNvPr id="8" name="Shape 6"/>
          <p:cNvSpPr/>
          <p:nvPr/>
        </p:nvSpPr>
        <p:spPr>
          <a:xfrm>
            <a:off x="4352544" y="2377440"/>
            <a:ext cx="3456432" cy="2286000"/>
          </a:xfrm>
          <a:prstGeom prst="roundRect">
            <a:avLst>
              <a:gd name="adj" fmla="val 3200"/>
            </a:avLst>
          </a:prstGeom>
          <a:solidFill>
            <a:srgbClr val="F1F4F2"/>
          </a:solidFill>
          <a:ln w="12700">
            <a:solidFill>
              <a:srgbClr val="D5DED8"/>
            </a:solidFill>
            <a:prstDash val="solid"/>
          </a:ln>
        </p:spPr>
      </p:sp>
      <p:sp>
        <p:nvSpPr>
          <p:cNvPr id="9" name="Text 7"/>
          <p:cNvSpPr/>
          <p:nvPr/>
        </p:nvSpPr>
        <p:spPr>
          <a:xfrm>
            <a:off x="4572000" y="2596896"/>
            <a:ext cx="3017520"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Toezichtseis</a:t>
            </a:r>
            <a:endParaRPr lang="en-US" sz="1700" dirty="0"/>
          </a:p>
        </p:txBody>
      </p:sp>
      <p:sp>
        <p:nvSpPr>
          <p:cNvPr id="10" name="Text 8"/>
          <p:cNvSpPr/>
          <p:nvPr/>
        </p:nvSpPr>
        <p:spPr>
          <a:xfrm>
            <a:off x="4572000" y="3035808"/>
            <a:ext cx="3017520" cy="1408176"/>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Snel effectief. Verdampt zodra de bevinding is afgesloten — leg intussen iets duurzamers vast.</a:t>
            </a:r>
            <a:endParaRPr lang="en-US" sz="1300" dirty="0"/>
          </a:p>
        </p:txBody>
      </p:sp>
      <p:sp>
        <p:nvSpPr>
          <p:cNvPr id="11" name="Shape 9"/>
          <p:cNvSpPr/>
          <p:nvPr/>
        </p:nvSpPr>
        <p:spPr>
          <a:xfrm>
            <a:off x="8065008" y="2377440"/>
            <a:ext cx="3456432" cy="2286000"/>
          </a:xfrm>
          <a:prstGeom prst="roundRect">
            <a:avLst>
              <a:gd name="adj" fmla="val 3200"/>
            </a:avLst>
          </a:prstGeom>
          <a:solidFill>
            <a:srgbClr val="F1F4F2"/>
          </a:solidFill>
          <a:ln w="12700">
            <a:solidFill>
              <a:srgbClr val="D5DED8"/>
            </a:solidFill>
            <a:prstDash val="solid"/>
          </a:ln>
        </p:spPr>
      </p:sp>
      <p:sp>
        <p:nvSpPr>
          <p:cNvPr id="12" name="Text 10"/>
          <p:cNvSpPr/>
          <p:nvPr/>
        </p:nvSpPr>
        <p:spPr>
          <a:xfrm>
            <a:off x="8284464" y="2596896"/>
            <a:ext cx="3017520"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Incident</a:t>
            </a:r>
            <a:endParaRPr lang="en-US" sz="1700" dirty="0"/>
          </a:p>
        </p:txBody>
      </p:sp>
      <p:sp>
        <p:nvSpPr>
          <p:cNvPr id="13" name="Text 11"/>
          <p:cNvSpPr/>
          <p:nvPr/>
        </p:nvSpPr>
        <p:spPr>
          <a:xfrm>
            <a:off x="8284464" y="3035808"/>
            <a:ext cx="3017520" cy="1408176"/>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Hooguit enkele maanden momentum. Gebruik het, maar bouw er niets structureels op.</a:t>
            </a:r>
            <a:endParaRPr lang="en-US" sz="1300" dirty="0"/>
          </a:p>
        </p:txBody>
      </p:sp>
      <p:sp>
        <p:nvSpPr>
          <p:cNvPr id="14" name="Text 12"/>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Leg het mandaat vast in een charter van maximaal één A4 — met een herzieningstermijn voor het charter zelf.</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BOUWSTEEN 1</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Afbakening naar de buren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algn="l" indent="0" marL="0">
              <a:buNone/>
            </a:pPr>
            <a:r>
              <a:rPr lang="en-US" sz="1600" dirty="0">
                <a:solidFill>
                  <a:srgbClr val="5F7375"/>
                </a:solidFill>
                <a:latin typeface="Calibri" pitchFamily="34" charset="0"/>
                <a:ea typeface="Calibri" pitchFamily="34" charset="-122"/>
                <a:cs typeface="Calibri" pitchFamily="34" charset="-120"/>
              </a:rPr>
              <a:t>De meeste conflicten in jaar één gaan niet over data maar over territorium. Beschrijf raakvlakken in besluiten, niet in onderwerpen.</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651760"/>
          <a:ext cx="10881360" cy="914400"/>
        </p:xfrm>
        <a:graphic>
          <a:graphicData uri="http://schemas.openxmlformats.org/drawingml/2006/table">
            <a:tbl>
              <a:tblPr/>
              <a:tblGrid>
                <a:gridCol w="2377440"/>
                <a:gridCol w="3931920"/>
                <a:gridCol w="4572000"/>
              </a:tblGrid>
              <a:tr h="47548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Discipline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Beslist over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Data governance beslist over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7548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Informatiebeveiliging</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Beveiligingsmaatregelen en -normen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Classificatie van datadomeinen en wie toegang krijgt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Privacy / FG</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Rechtmatigheid van de verwerking</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Definitie, kwaliteit en herkomst van de gegevens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7548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Architectuur</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Landschap en technologiekeuzes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Betekenis, eigenaarschap en normen voor data</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75488">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Risicomanagement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Risicobereidheid en beheersing</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Data-risico’s aanleveren en maatregelen uitvoeren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BOUWSTEEN 2</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Organen: ontwerp van onderaf</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algn="l" indent="0" marL="0">
              <a:buNone/>
            </a:pPr>
            <a:r>
              <a:rPr lang="en-US" sz="1600" dirty="0">
                <a:solidFill>
                  <a:srgbClr val="5F7375"/>
                </a:solidFill>
                <a:latin typeface="Calibri" pitchFamily="34" charset="0"/>
                <a:ea typeface="Calibri" pitchFamily="34" charset="-122"/>
                <a:cs typeface="Calibri" pitchFamily="34" charset="-120"/>
              </a:rPr>
              <a:t>Begin bij de besluiten die dagelijks vallen en werk omhoog naar wat werkelijk bestuurlijk is.</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2606040"/>
          <a:ext cx="10881360" cy="914400"/>
        </p:xfrm>
        <a:graphic>
          <a:graphicData uri="http://schemas.openxmlformats.org/drawingml/2006/table">
            <a:tbl>
              <a:tblPr/>
              <a:tblGrid>
                <a:gridCol w="2651760"/>
                <a:gridCol w="2651760"/>
                <a:gridCol w="1828800"/>
                <a:gridCol w="374904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Orgaan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Mandaat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Ritme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Typische besluiten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Governance board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Strategisch, vaststellend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Per kwartaal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Beleid, budget, escalaties, zware waivers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Domeinraad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Tactisch, beslissend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Per maand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Definities, kwaliteitsnormen, toegang, prioritering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Stewardship-overleg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Operationeel, uitvoerend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Tweewekelijks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Uitzonderingen, incidenten, regelwijzigingen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Werkgroep</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Tijdelijk, adviserend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Tot einddatum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Voorbereiding van één specifiek besluit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Community of practice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Geen besluitrecht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Per twee maanden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Kennisdeling, signalering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BOUWSTEEN 2</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Vier ontwerpregels</a:t>
            </a:r>
            <a:endParaRPr lang="en-US" sz="3400" dirty="0"/>
          </a:p>
        </p:txBody>
      </p:sp>
      <p:sp>
        <p:nvSpPr>
          <p:cNvPr id="4" name="Shape 2"/>
          <p:cNvSpPr/>
          <p:nvPr/>
        </p:nvSpPr>
        <p:spPr>
          <a:xfrm>
            <a:off x="640080" y="1965960"/>
            <a:ext cx="5312664" cy="2057400"/>
          </a:xfrm>
          <a:prstGeom prst="roundRect">
            <a:avLst>
              <a:gd name="adj" fmla="val 3556"/>
            </a:avLst>
          </a:prstGeom>
          <a:solidFill>
            <a:srgbClr val="F1F4F2"/>
          </a:solidFill>
          <a:ln w="12700">
            <a:solidFill>
              <a:srgbClr val="D5DED8"/>
            </a:solidFill>
            <a:prstDash val="solid"/>
          </a:ln>
        </p:spPr>
      </p:sp>
      <p:sp>
        <p:nvSpPr>
          <p:cNvPr id="5" name="Shape 3"/>
          <p:cNvSpPr/>
          <p:nvPr/>
        </p:nvSpPr>
        <p:spPr>
          <a:xfrm>
            <a:off x="859536" y="218541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185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859536" y="2679192"/>
            <a:ext cx="4873752"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Nooit meer organen dan besluittypen</a:t>
            </a:r>
            <a:endParaRPr lang="en-US" sz="1700" dirty="0"/>
          </a:p>
        </p:txBody>
      </p:sp>
      <p:sp>
        <p:nvSpPr>
          <p:cNvPr id="8" name="Text 6"/>
          <p:cNvSpPr/>
          <p:nvPr/>
        </p:nvSpPr>
        <p:spPr>
          <a:xfrm>
            <a:off x="859536" y="3099816"/>
            <a:ext cx="4873752" cy="704088"/>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Twee organen die over hetzelfde beslissen, leiden tot forumshoppen.</a:t>
            </a:r>
            <a:endParaRPr lang="en-US" sz="1300" dirty="0"/>
          </a:p>
        </p:txBody>
      </p:sp>
      <p:sp>
        <p:nvSpPr>
          <p:cNvPr id="9" name="Shape 7"/>
          <p:cNvSpPr/>
          <p:nvPr/>
        </p:nvSpPr>
        <p:spPr>
          <a:xfrm>
            <a:off x="6208776" y="1965960"/>
            <a:ext cx="5312664" cy="2057400"/>
          </a:xfrm>
          <a:prstGeom prst="roundRect">
            <a:avLst>
              <a:gd name="adj" fmla="val 3556"/>
            </a:avLst>
          </a:prstGeom>
          <a:solidFill>
            <a:srgbClr val="F1F4F2"/>
          </a:solidFill>
          <a:ln w="12700">
            <a:solidFill>
              <a:srgbClr val="D5DED8"/>
            </a:solidFill>
            <a:prstDash val="solid"/>
          </a:ln>
        </p:spPr>
      </p:sp>
      <p:sp>
        <p:nvSpPr>
          <p:cNvPr id="10" name="Shape 8"/>
          <p:cNvSpPr/>
          <p:nvPr/>
        </p:nvSpPr>
        <p:spPr>
          <a:xfrm>
            <a:off x="6428232" y="2185416"/>
            <a:ext cx="384048" cy="384048"/>
          </a:xfrm>
          <a:prstGeom prst="ellipse">
            <a:avLst/>
          </a:prstGeom>
          <a:solidFill>
            <a:srgbClr val="3F7D74"/>
          </a:solidFill>
          <a:ln w="12700">
            <a:solidFill>
              <a:srgbClr val="3F7D74"/>
            </a:solidFill>
            <a:prstDash val="solid"/>
          </a:ln>
        </p:spPr>
      </p:sp>
      <p:sp>
        <p:nvSpPr>
          <p:cNvPr id="11" name="Text 9"/>
          <p:cNvSpPr/>
          <p:nvPr/>
        </p:nvSpPr>
        <p:spPr>
          <a:xfrm>
            <a:off x="6428232" y="218541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6428232" y="2679192"/>
            <a:ext cx="4873752"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Elk orgaan heeft een agendabron</a:t>
            </a:r>
            <a:endParaRPr lang="en-US" sz="1700" dirty="0"/>
          </a:p>
        </p:txBody>
      </p:sp>
      <p:sp>
        <p:nvSpPr>
          <p:cNvPr id="13" name="Text 11"/>
          <p:cNvSpPr/>
          <p:nvPr/>
        </p:nvSpPr>
        <p:spPr>
          <a:xfrm>
            <a:off x="6428232" y="3099816"/>
            <a:ext cx="4873752" cy="704088"/>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Wie mag agenderen en waar komt de aanvraag binnen? Zonder aanvoer valt een orgaan binnen een half jaar stil.</a:t>
            </a:r>
            <a:endParaRPr lang="en-US" sz="1300" dirty="0"/>
          </a:p>
        </p:txBody>
      </p:sp>
      <p:sp>
        <p:nvSpPr>
          <p:cNvPr id="14" name="Shape 12"/>
          <p:cNvSpPr/>
          <p:nvPr/>
        </p:nvSpPr>
        <p:spPr>
          <a:xfrm>
            <a:off x="640080" y="4279392"/>
            <a:ext cx="5312664" cy="2057400"/>
          </a:xfrm>
          <a:prstGeom prst="roundRect">
            <a:avLst>
              <a:gd name="adj" fmla="val 3556"/>
            </a:avLst>
          </a:prstGeom>
          <a:solidFill>
            <a:srgbClr val="F1F4F2"/>
          </a:solidFill>
          <a:ln w="12700">
            <a:solidFill>
              <a:srgbClr val="D5DED8"/>
            </a:solidFill>
            <a:prstDash val="solid"/>
          </a:ln>
        </p:spPr>
      </p:sp>
      <p:sp>
        <p:nvSpPr>
          <p:cNvPr id="15" name="Shape 13"/>
          <p:cNvSpPr/>
          <p:nvPr/>
        </p:nvSpPr>
        <p:spPr>
          <a:xfrm>
            <a:off x="859536" y="4498848"/>
            <a:ext cx="384048" cy="384048"/>
          </a:xfrm>
          <a:prstGeom prst="ellipse">
            <a:avLst/>
          </a:prstGeom>
          <a:solidFill>
            <a:srgbClr val="3F7D74"/>
          </a:solidFill>
          <a:ln w="12700">
            <a:solidFill>
              <a:srgbClr val="3F7D74"/>
            </a:solidFill>
            <a:prstDash val="solid"/>
          </a:ln>
        </p:spPr>
      </p:sp>
      <p:sp>
        <p:nvSpPr>
          <p:cNvPr id="16" name="Text 14"/>
          <p:cNvSpPr/>
          <p:nvPr/>
        </p:nvSpPr>
        <p:spPr>
          <a:xfrm>
            <a:off x="859536" y="4498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859536" y="4992624"/>
            <a:ext cx="4873752"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Escalatie omhoog, delegatie omlaag</a:t>
            </a:r>
            <a:endParaRPr lang="en-US" sz="1700" dirty="0"/>
          </a:p>
        </p:txBody>
      </p:sp>
      <p:sp>
        <p:nvSpPr>
          <p:cNvPr id="18" name="Text 16"/>
          <p:cNvSpPr/>
          <p:nvPr/>
        </p:nvSpPr>
        <p:spPr>
          <a:xfrm>
            <a:off x="859536" y="5413248"/>
            <a:ext cx="4873752" cy="704088"/>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Een orgaan dat alles zelf doet, wordt de bottleneck van het programma.</a:t>
            </a:r>
            <a:endParaRPr lang="en-US" sz="1300" dirty="0"/>
          </a:p>
        </p:txBody>
      </p:sp>
      <p:sp>
        <p:nvSpPr>
          <p:cNvPr id="19" name="Shape 17"/>
          <p:cNvSpPr/>
          <p:nvPr/>
        </p:nvSpPr>
        <p:spPr>
          <a:xfrm>
            <a:off x="6208776" y="4279392"/>
            <a:ext cx="5312664" cy="2057400"/>
          </a:xfrm>
          <a:prstGeom prst="roundRect">
            <a:avLst>
              <a:gd name="adj" fmla="val 3556"/>
            </a:avLst>
          </a:prstGeom>
          <a:solidFill>
            <a:srgbClr val="F1F4F2"/>
          </a:solidFill>
          <a:ln w="12700">
            <a:solidFill>
              <a:srgbClr val="D5DED8"/>
            </a:solidFill>
            <a:prstDash val="solid"/>
          </a:ln>
        </p:spPr>
      </p:sp>
      <p:sp>
        <p:nvSpPr>
          <p:cNvPr id="20" name="Shape 18"/>
          <p:cNvSpPr/>
          <p:nvPr/>
        </p:nvSpPr>
        <p:spPr>
          <a:xfrm>
            <a:off x="6428232" y="4498848"/>
            <a:ext cx="384048" cy="384048"/>
          </a:xfrm>
          <a:prstGeom prst="ellipse">
            <a:avLst/>
          </a:prstGeom>
          <a:solidFill>
            <a:srgbClr val="3F7D74"/>
          </a:solidFill>
          <a:ln w="12700">
            <a:solidFill>
              <a:srgbClr val="3F7D74"/>
            </a:solidFill>
            <a:prstDash val="solid"/>
          </a:ln>
        </p:spPr>
      </p:sp>
      <p:sp>
        <p:nvSpPr>
          <p:cNvPr id="21" name="Text 19"/>
          <p:cNvSpPr/>
          <p:nvPr/>
        </p:nvSpPr>
        <p:spPr>
          <a:xfrm>
            <a:off x="6428232" y="44988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6428232" y="4992624"/>
            <a:ext cx="4873752"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Sluit aan op wat er al is</a:t>
            </a:r>
            <a:endParaRPr lang="en-US" sz="1700" dirty="0"/>
          </a:p>
        </p:txBody>
      </p:sp>
      <p:sp>
        <p:nvSpPr>
          <p:cNvPr id="23" name="Text 21"/>
          <p:cNvSpPr/>
          <p:nvPr/>
        </p:nvSpPr>
        <p:spPr>
          <a:xfrm>
            <a:off x="6428232" y="5413248"/>
            <a:ext cx="4873752" cy="704088"/>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Een bestaand overleg met een uitgebreide agenda werkt beter dan een nieuw gremium met een mooie naam.</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BOUWSTEEN 3</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Rollen zijn geen functies</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algn="l" indent="0" marL="0">
              <a:buNone/>
            </a:pPr>
            <a:r>
              <a:rPr lang="en-US" sz="1600" dirty="0">
                <a:solidFill>
                  <a:srgbClr val="5F7375"/>
                </a:solidFill>
                <a:latin typeface="Calibri" pitchFamily="34" charset="0"/>
                <a:ea typeface="Calibri" pitchFamily="34" charset="-122"/>
                <a:cs typeface="Calibri" pitchFamily="34" charset="-120"/>
              </a:rPr>
              <a:t>Een stewardrol zonder uren in het functieprofiel is binnen twee kwartalen verdwenen.</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881360" cy="914400"/>
        </p:xfrm>
        <a:graphic>
          <a:graphicData uri="http://schemas.openxmlformats.org/drawingml/2006/table">
            <a:tbl>
              <a:tblPr/>
              <a:tblGrid>
                <a:gridCol w="2468880"/>
                <a:gridCol w="4114800"/>
                <a:gridCol w="429768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Verantwoordelijk voor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Veelgemaakte fout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Data owner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Eindverantwoordelijk voor een datadomein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Beleggen per systeem in plaats van per domein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Business steward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Betekenis en kwaliteit in de praktijk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Rol toekennen zonder uren en zonder mandaat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Technical steward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Herkomst, lineage, technische regels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Verwarren met de systeembeheerder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Data custodian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Opslag, beschikbaarheid, technische toegang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Aanspreken op inhoudelijke kwaliteit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CDO</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Samenhang, programma, bestuursrapportage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Eigenaar maken van álle data — dan is niemand het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BOUWSTEEN 3</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Beleg eigenaarschap op een datadomein,</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nooit op een applicatie.</a:t>
            </a:r>
            <a:endParaRPr lang="en-US" sz="3200" dirty="0"/>
          </a:p>
        </p:txBody>
      </p:sp>
      <p:sp>
        <p:nvSpPr>
          <p:cNvPr id="4" name="Text 2"/>
          <p:cNvSpPr/>
          <p:nvPr/>
        </p:nvSpPr>
        <p:spPr>
          <a:xfrm>
            <a:off x="640080" y="4160520"/>
            <a:ext cx="8686800" cy="109728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Systemen worden vervangen, domeinen niet. Wie eigenaarschap aan applicaties koppelt, herhaalt bij elke migratie dezelfde discussie en krijgt per systeem afwijkende definities. Bij Meridiaan loopt op dit moment precies zo’n migratie.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BOUWSTEEN 4 — HET HART VAN HET MODEL</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Zeven besluiten die altijd terugkomen</a:t>
            </a:r>
            <a:endParaRPr lang="en-US" sz="3400" dirty="0"/>
          </a:p>
        </p:txBody>
      </p:sp>
      <p:sp>
        <p:nvSpPr>
          <p:cNvPr id="4" name="Text 2"/>
          <p:cNvSpPr/>
          <p:nvPr/>
        </p:nvSpPr>
        <p:spPr>
          <a:xfrm>
            <a:off x="640080" y="2286000"/>
            <a:ext cx="5303520" cy="23774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0E1A1C"/>
                </a:solidFill>
                <a:latin typeface="Calibri" pitchFamily="34" charset="0"/>
                <a:ea typeface="Calibri" pitchFamily="34" charset="-122"/>
                <a:cs typeface="Calibri" pitchFamily="34" charset="-120"/>
              </a:rPr>
              <a:t>Vaststellen of wijzigen van een begripsdefinitie</a:t>
            </a:r>
            <a:endParaRPr lang="en-US" sz="1700" dirty="0"/>
          </a:p>
          <a:p>
            <a:pPr marL="342900" indent="-342900">
              <a:spcAft>
                <a:spcPts val="800"/>
              </a:spcAft>
              <a:buSzPct val="100000"/>
              <a:buChar char="•"/>
            </a:pPr>
            <a:r>
              <a:rPr lang="en-US" sz="1700" dirty="0">
                <a:solidFill>
                  <a:srgbClr val="0E1A1C"/>
                </a:solidFill>
                <a:latin typeface="Calibri" pitchFamily="34" charset="0"/>
                <a:ea typeface="Calibri" pitchFamily="34" charset="-122"/>
                <a:cs typeface="Calibri" pitchFamily="34" charset="-120"/>
              </a:rPr>
              <a:t>Beleggen van eigenaarschap over een datadomein</a:t>
            </a:r>
            <a:endParaRPr lang="en-US" sz="1700" dirty="0"/>
          </a:p>
          <a:p>
            <a:pPr marL="342900" indent="-342900">
              <a:spcAft>
                <a:spcPts val="800"/>
              </a:spcAft>
              <a:buSzPct val="100000"/>
              <a:buChar char="•"/>
            </a:pPr>
            <a:r>
              <a:rPr lang="en-US" sz="1700" dirty="0">
                <a:solidFill>
                  <a:srgbClr val="0E1A1C"/>
                </a:solidFill>
                <a:latin typeface="Calibri" pitchFamily="34" charset="0"/>
                <a:ea typeface="Calibri" pitchFamily="34" charset="-122"/>
                <a:cs typeface="Calibri" pitchFamily="34" charset="-120"/>
              </a:rPr>
              <a:t>Vaststellen van een kwaliteitsnorm en drempelwaarde</a:t>
            </a:r>
            <a:endParaRPr lang="en-US" sz="1700" dirty="0"/>
          </a:p>
          <a:p>
            <a:pPr marL="342900" indent="-342900">
              <a:spcAft>
                <a:spcPts val="800"/>
              </a:spcAft>
              <a:buSzPct val="100000"/>
              <a:buChar char="•"/>
            </a:pPr>
            <a:r>
              <a:rPr lang="en-US" sz="1700" dirty="0">
                <a:solidFill>
                  <a:srgbClr val="0E1A1C"/>
                </a:solidFill>
                <a:latin typeface="Calibri" pitchFamily="34" charset="0"/>
                <a:ea typeface="Calibri" pitchFamily="34" charset="-122"/>
                <a:cs typeface="Calibri" pitchFamily="34" charset="-120"/>
              </a:rPr>
              <a:t>Verlenen van toegang tot een dataset of domein</a:t>
            </a:r>
            <a:endParaRPr lang="en-US" sz="1700" dirty="0"/>
          </a:p>
        </p:txBody>
      </p:sp>
      <p:sp>
        <p:nvSpPr>
          <p:cNvPr id="5" name="Text 3"/>
          <p:cNvSpPr/>
          <p:nvPr/>
        </p:nvSpPr>
        <p:spPr>
          <a:xfrm>
            <a:off x="6309360" y="2286000"/>
            <a:ext cx="5212080" cy="237744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0E1A1C"/>
                </a:solidFill>
                <a:latin typeface="Calibri" pitchFamily="34" charset="0"/>
                <a:ea typeface="Calibri" pitchFamily="34" charset="-122"/>
                <a:cs typeface="Calibri" pitchFamily="34" charset="-120"/>
              </a:rPr>
              <a:t>Toestaan van een uitzondering op beleid (waiver)</a:t>
            </a:r>
            <a:endParaRPr lang="en-US" sz="1700" dirty="0"/>
          </a:p>
          <a:p>
            <a:pPr marL="342900" indent="-342900">
              <a:spcAft>
                <a:spcPts val="800"/>
              </a:spcAft>
              <a:buSzPct val="100000"/>
              <a:buChar char="•"/>
            </a:pPr>
            <a:r>
              <a:rPr lang="en-US" sz="1700" dirty="0">
                <a:solidFill>
                  <a:srgbClr val="0E1A1C"/>
                </a:solidFill>
                <a:latin typeface="Calibri" pitchFamily="34" charset="0"/>
                <a:ea typeface="Calibri" pitchFamily="34" charset="-122"/>
                <a:cs typeface="Calibri" pitchFamily="34" charset="-120"/>
              </a:rPr>
              <a:t>Prioriteren van datainitiatieven bij schaarste</a:t>
            </a:r>
            <a:endParaRPr lang="en-US" sz="1700" dirty="0"/>
          </a:p>
          <a:p>
            <a:pPr marL="342900" indent="-342900">
              <a:spcAft>
                <a:spcPts val="800"/>
              </a:spcAft>
              <a:buSzPct val="100000"/>
              <a:buChar char="•"/>
            </a:pPr>
            <a:r>
              <a:rPr lang="en-US" sz="1700" dirty="0">
                <a:solidFill>
                  <a:srgbClr val="0E1A1C"/>
                </a:solidFill>
                <a:latin typeface="Calibri" pitchFamily="34" charset="0"/>
                <a:ea typeface="Calibri" pitchFamily="34" charset="-122"/>
                <a:cs typeface="Calibri" pitchFamily="34" charset="-120"/>
              </a:rPr>
              <a:t>Aangaan van uitwisseling of inkoop van externe data</a:t>
            </a:r>
            <a:endParaRPr lang="en-US" sz="1700" dirty="0"/>
          </a:p>
        </p:txBody>
      </p:sp>
      <p:sp>
        <p:nvSpPr>
          <p:cNvPr id="6" name="Text 4"/>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Per besluittype vastleggen: wie adviseert, wie besluit, wie wordt geïnformeerd, binnen welke termijn, waarheen het escaleert. Dat is opdracht 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BOUWSTEEN 4</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De besluitrechtenmatrix</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algn="l" indent="0" marL="0">
              <a:buNone/>
            </a:pPr>
            <a:r>
              <a:rPr lang="en-US" sz="1600" dirty="0">
                <a:solidFill>
                  <a:srgbClr val="5F7375"/>
                </a:solidFill>
                <a:latin typeface="Calibri" pitchFamily="34" charset="0"/>
                <a:ea typeface="Calibri" pitchFamily="34" charset="-122"/>
                <a:cs typeface="Calibri" pitchFamily="34" charset="-120"/>
              </a:rPr>
              <a:t>De belangrijkste kolom is niet "besluit" maar "termijn".</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40080" y="2514600"/>
          <a:ext cx="10881360" cy="914400"/>
        </p:xfrm>
        <a:graphic>
          <a:graphicData uri="http://schemas.openxmlformats.org/drawingml/2006/table">
            <a:tbl>
              <a:tblPr/>
              <a:tblGrid>
                <a:gridCol w="2377440"/>
                <a:gridCol w="2560320"/>
                <a:gridCol w="2286000"/>
                <a:gridCol w="1828800"/>
                <a:gridCol w="182880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Besluittype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Adviseert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Besluit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Termijn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Escaleert naar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36576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Begripsdefinitie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Business steward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Domeinraad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15 werkdagen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Board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Eigenaarschap domein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CDO</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Board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1 kwartaal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Directie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36576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Kwaliteitsnorm</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Steward + architect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Domeinraad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15 werkdagen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Board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Toegang tot data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Steward + security</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Data owner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5 werkdagen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Domeinraad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36576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Waiver op beleid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Risk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Board of domeinraad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10 werkdagen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Directie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36576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Prioritering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CDO</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Board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Per kwartaal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Directie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365760">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Externe data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Inkoop, privacy, risk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Board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1 kwartaal</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Directie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BOUWSTEEN 4</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Een escalatiepad zonder termijn</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wordt nooit gebruikt.</a:t>
            </a:r>
            <a:endParaRPr lang="en-US" sz="3200" dirty="0"/>
          </a:p>
        </p:txBody>
      </p:sp>
      <p:sp>
        <p:nvSpPr>
          <p:cNvPr id="4" name="Text 2"/>
          <p:cNvSpPr/>
          <p:nvPr/>
        </p:nvSpPr>
        <p:spPr>
          <a:xfrm>
            <a:off x="640080" y="4160520"/>
            <a:ext cx="8686800" cy="109728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Formuleer het als automatisme: neemt de domeinraad binnen vijftien werkdagen geen besluit, dan gaat het dossier ongewijzigd naar de board. Dat verschuift het gesprek van "wie heeft gelijk" naar "willen we dit echt door de board laten beslissen" — en dat lost verrassend veel op.</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BOUWSTEEN 5</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Niet alles is beleid</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algn="l" indent="0" marL="0">
              <a:buNone/>
            </a:pPr>
            <a:r>
              <a:rPr lang="en-US" sz="1600" dirty="0">
                <a:solidFill>
                  <a:srgbClr val="5F7375"/>
                </a:solidFill>
                <a:latin typeface="Calibri" pitchFamily="34" charset="0"/>
                <a:ea typeface="Calibri" pitchFamily="34" charset="-122"/>
                <a:cs typeface="Calibri" pitchFamily="34" charset="-120"/>
              </a:rPr>
              <a:t>Wie alles beleid noemt, moet voor elke wijziging naar het bestuur. En dus verandert er niets.</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40080" y="2697480"/>
          <a:ext cx="10881360" cy="914400"/>
        </p:xfrm>
        <a:graphic>
          <a:graphicData uri="http://schemas.openxmlformats.org/drawingml/2006/table">
            <a:tbl>
              <a:tblPr/>
              <a:tblGrid>
                <a:gridCol w="2103120"/>
                <a:gridCol w="3657600"/>
                <a:gridCol w="2743200"/>
                <a:gridCol w="2377440"/>
              </a:tblGrid>
              <a:tr h="42062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Niveau</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Beantwoordt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Vastgesteld door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Afwijken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20624">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Beleid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Wat willen we en waarom</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Bestuur</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Alleen via bestuursbesluit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Standaard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Welke norm geldt verplicht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Governance board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Waiver met einddatum</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Richtlijn</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Wat adviseren we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Domeinraad</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Motiveren volstaat</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20624">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Procedure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Hoe verloopt het proces</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Proceseigenaar</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Niet van toepassing</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20624">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Werkinstructie</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Wie doet wat, waar, wanneer</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Teamleider</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300" dirty="0">
                          <a:solidFill>
                            <a:srgbClr val="0E1A1C"/>
                          </a:solidFill>
                          <a:latin typeface="Calibri" pitchFamily="34" charset="0"/>
                          <a:ea typeface="Calibri" pitchFamily="34" charset="-122"/>
                          <a:cs typeface="Calibri" pitchFamily="34" charset="-120"/>
                        </a:rPr>
                        <a:t>Niet van toepassing</a:t>
                      </a:r>
                      <a:endParaRPr lang="en-US" sz="13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Geef elke waiver een einddatum en een eigenaar. Een uitzondering zonder vervaldatum is een stille beleidswijziging.</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BOUWSTEEN 6</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Governanceprocessen zijn processen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algn="l" indent="0" marL="0">
              <a:buNone/>
            </a:pPr>
            <a:r>
              <a:rPr lang="en-US" sz="1600" dirty="0">
                <a:solidFill>
                  <a:srgbClr val="5F7375"/>
                </a:solidFill>
                <a:latin typeface="Calibri" pitchFamily="34" charset="0"/>
                <a:ea typeface="Calibri" pitchFamily="34" charset="-122"/>
                <a:cs typeface="Calibri" pitchFamily="34" charset="-120"/>
              </a:rPr>
              <a:t>De notatiekeuze is geen smaakkwestie: hij volgt uit de aard van het werk.</a:t>
            </a:r>
            <a:endParaRPr lang="en-US" sz="1600" dirty="0"/>
          </a:p>
        </p:txBody>
      </p:sp>
      <p:sp>
        <p:nvSpPr>
          <p:cNvPr id="5" name="Shape 3"/>
          <p:cNvSpPr/>
          <p:nvPr/>
        </p:nvSpPr>
        <p:spPr>
          <a:xfrm>
            <a:off x="640080" y="2331720"/>
            <a:ext cx="3456432" cy="2651760"/>
          </a:xfrm>
          <a:prstGeom prst="roundRect">
            <a:avLst>
              <a:gd name="adj" fmla="val 2759"/>
            </a:avLst>
          </a:prstGeom>
          <a:solidFill>
            <a:srgbClr val="F1F4F2"/>
          </a:solidFill>
          <a:ln w="12700">
            <a:solidFill>
              <a:srgbClr val="D5DED8"/>
            </a:solidFill>
            <a:prstDash val="solid"/>
          </a:ln>
        </p:spPr>
      </p:sp>
      <p:sp>
        <p:nvSpPr>
          <p:cNvPr id="6" name="Text 4"/>
          <p:cNvSpPr/>
          <p:nvPr/>
        </p:nvSpPr>
        <p:spPr>
          <a:xfrm>
            <a:off x="859536" y="2551176"/>
            <a:ext cx="3017520" cy="384048"/>
          </a:xfrm>
          <a:prstGeom prst="rect">
            <a:avLst/>
          </a:prstGeom>
          <a:noFill/>
          <a:ln/>
        </p:spPr>
        <p:txBody>
          <a:bodyPr wrap="square" lIns="0" tIns="0" rIns="0" bIns="0" rtlCol="0" anchor="t"/>
          <a:lstStyle/>
          <a:p>
            <a:pPr indent="0" marL="0">
              <a:buNone/>
            </a:pPr>
            <a:r>
              <a:rPr lang="en-US" sz="2400" b="1" dirty="0">
                <a:solidFill>
                  <a:srgbClr val="0E1A1C"/>
                </a:solidFill>
                <a:latin typeface="Cambria" pitchFamily="34" charset="0"/>
                <a:ea typeface="Cambria" pitchFamily="34" charset="-122"/>
                <a:cs typeface="Cambria" pitchFamily="34" charset="-120"/>
              </a:rPr>
              <a:t>BPMN</a:t>
            </a:r>
            <a:endParaRPr lang="en-US" sz="2400" dirty="0"/>
          </a:p>
        </p:txBody>
      </p:sp>
      <p:sp>
        <p:nvSpPr>
          <p:cNvPr id="7" name="Text 5"/>
          <p:cNvSpPr/>
          <p:nvPr/>
        </p:nvSpPr>
        <p:spPr>
          <a:xfrm>
            <a:off x="859536" y="2990088"/>
            <a:ext cx="3017520" cy="1773936"/>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De volgorde ligt vast, duidelijk begin en eind, afwijkingen zijn uitzondering.</a:t>
            </a:r>
            <a:endParaRPr lang="en-US" sz="1300" dirty="0"/>
          </a:p>
          <a:p>
            <a:pPr indent="0" marL="0">
              <a:lnSpc>
                <a:spcPts val="1700"/>
              </a:lnSpc>
              <a:buNone/>
            </a:pPr>
            <a:endParaRPr lang="en-US" sz="1300" dirty="0"/>
          </a:p>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Voorbeeld: een begripsdefinitie wijzigen en publiceren.</a:t>
            </a:r>
            <a:endParaRPr lang="en-US" sz="1300" dirty="0"/>
          </a:p>
        </p:txBody>
      </p:sp>
      <p:sp>
        <p:nvSpPr>
          <p:cNvPr id="8" name="Shape 6"/>
          <p:cNvSpPr/>
          <p:nvPr/>
        </p:nvSpPr>
        <p:spPr>
          <a:xfrm>
            <a:off x="4352544" y="2331720"/>
            <a:ext cx="3456432" cy="2651760"/>
          </a:xfrm>
          <a:prstGeom prst="roundRect">
            <a:avLst>
              <a:gd name="adj" fmla="val 2759"/>
            </a:avLst>
          </a:prstGeom>
          <a:solidFill>
            <a:srgbClr val="F1F4F2"/>
          </a:solidFill>
          <a:ln w="12700">
            <a:solidFill>
              <a:srgbClr val="D5DED8"/>
            </a:solidFill>
            <a:prstDash val="solid"/>
          </a:ln>
        </p:spPr>
      </p:sp>
      <p:sp>
        <p:nvSpPr>
          <p:cNvPr id="9" name="Text 7"/>
          <p:cNvSpPr/>
          <p:nvPr/>
        </p:nvSpPr>
        <p:spPr>
          <a:xfrm>
            <a:off x="4572000" y="2551176"/>
            <a:ext cx="3017520" cy="384048"/>
          </a:xfrm>
          <a:prstGeom prst="rect">
            <a:avLst/>
          </a:prstGeom>
          <a:noFill/>
          <a:ln/>
        </p:spPr>
        <p:txBody>
          <a:bodyPr wrap="square" lIns="0" tIns="0" rIns="0" bIns="0" rtlCol="0" anchor="t"/>
          <a:lstStyle/>
          <a:p>
            <a:pPr indent="0" marL="0">
              <a:buNone/>
            </a:pPr>
            <a:r>
              <a:rPr lang="en-US" sz="2400" b="1" dirty="0">
                <a:solidFill>
                  <a:srgbClr val="0E1A1C"/>
                </a:solidFill>
                <a:latin typeface="Cambria" pitchFamily="34" charset="0"/>
                <a:ea typeface="Cambria" pitchFamily="34" charset="-122"/>
                <a:cs typeface="Cambria" pitchFamily="34" charset="-120"/>
              </a:rPr>
              <a:t>CMMN</a:t>
            </a:r>
            <a:endParaRPr lang="en-US" sz="2400" dirty="0"/>
          </a:p>
        </p:txBody>
      </p:sp>
      <p:sp>
        <p:nvSpPr>
          <p:cNvPr id="10" name="Text 8"/>
          <p:cNvSpPr/>
          <p:nvPr/>
        </p:nvSpPr>
        <p:spPr>
          <a:xfrm>
            <a:off x="4572000" y="2990088"/>
            <a:ext cx="3017520" cy="1773936"/>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De volgorde is onbekend of hangt van het geval af; de behandelaar bepaalt wat nodig is.</a:t>
            </a:r>
            <a:endParaRPr lang="en-US" sz="1300" dirty="0"/>
          </a:p>
          <a:p>
            <a:pPr indent="0" marL="0">
              <a:lnSpc>
                <a:spcPts val="1700"/>
              </a:lnSpc>
              <a:buNone/>
            </a:pPr>
            <a:endParaRPr lang="en-US" sz="1300" dirty="0"/>
          </a:p>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Voorbeeld: een kwaliteitsincident onderzoeken.</a:t>
            </a:r>
            <a:endParaRPr lang="en-US" sz="1300" dirty="0"/>
          </a:p>
        </p:txBody>
      </p:sp>
      <p:sp>
        <p:nvSpPr>
          <p:cNvPr id="11" name="Shape 9"/>
          <p:cNvSpPr/>
          <p:nvPr/>
        </p:nvSpPr>
        <p:spPr>
          <a:xfrm>
            <a:off x="8065008" y="2331720"/>
            <a:ext cx="3456432" cy="2651760"/>
          </a:xfrm>
          <a:prstGeom prst="roundRect">
            <a:avLst>
              <a:gd name="adj" fmla="val 2759"/>
            </a:avLst>
          </a:prstGeom>
          <a:solidFill>
            <a:srgbClr val="F1F4F2"/>
          </a:solidFill>
          <a:ln w="12700">
            <a:solidFill>
              <a:srgbClr val="D5DED8"/>
            </a:solidFill>
            <a:prstDash val="solid"/>
          </a:ln>
        </p:spPr>
      </p:sp>
      <p:sp>
        <p:nvSpPr>
          <p:cNvPr id="12" name="Text 10"/>
          <p:cNvSpPr/>
          <p:nvPr/>
        </p:nvSpPr>
        <p:spPr>
          <a:xfrm>
            <a:off x="8284464" y="2551176"/>
            <a:ext cx="3017520" cy="384048"/>
          </a:xfrm>
          <a:prstGeom prst="rect">
            <a:avLst/>
          </a:prstGeom>
          <a:noFill/>
          <a:ln/>
        </p:spPr>
        <p:txBody>
          <a:bodyPr wrap="square" lIns="0" tIns="0" rIns="0" bIns="0" rtlCol="0" anchor="t"/>
          <a:lstStyle/>
          <a:p>
            <a:pPr indent="0" marL="0">
              <a:buNone/>
            </a:pPr>
            <a:r>
              <a:rPr lang="en-US" sz="2400" b="1" dirty="0">
                <a:solidFill>
                  <a:srgbClr val="0E1A1C"/>
                </a:solidFill>
                <a:latin typeface="Cambria" pitchFamily="34" charset="0"/>
                <a:ea typeface="Cambria" pitchFamily="34" charset="-122"/>
                <a:cs typeface="Cambria" pitchFamily="34" charset="-120"/>
              </a:rPr>
              <a:t>DMN</a:t>
            </a:r>
            <a:endParaRPr lang="en-US" sz="2400" dirty="0"/>
          </a:p>
        </p:txBody>
      </p:sp>
      <p:sp>
        <p:nvSpPr>
          <p:cNvPr id="13" name="Text 11"/>
          <p:cNvSpPr/>
          <p:nvPr/>
        </p:nvSpPr>
        <p:spPr>
          <a:xfrm>
            <a:off x="8284464" y="2990088"/>
            <a:ext cx="3017520" cy="1773936"/>
          </a:xfrm>
          <a:prstGeom prst="rect">
            <a:avLst/>
          </a:prstGeom>
          <a:noFill/>
          <a:ln/>
        </p:spPr>
        <p:txBody>
          <a:bodyPr wrap="square" lIns="0" tIns="0" rIns="0" bIns="0" rtlCol="0" anchor="t"/>
          <a:lstStyle/>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Een herhaalbaar besluit op grond van expliciete regels, los van wie het uitvoert.</a:t>
            </a:r>
            <a:endParaRPr lang="en-US" sz="1300" dirty="0"/>
          </a:p>
          <a:p>
            <a:pPr indent="0" marL="0">
              <a:lnSpc>
                <a:spcPts val="1700"/>
              </a:lnSpc>
              <a:buNone/>
            </a:pPr>
            <a:endParaRPr lang="en-US" sz="1300" dirty="0"/>
          </a:p>
          <a:p>
            <a:pPr indent="0" marL="0">
              <a:lnSpc>
                <a:spcPts val="1700"/>
              </a:lnSpc>
              <a:buNone/>
            </a:pPr>
            <a:r>
              <a:rPr lang="en-US" sz="1300" dirty="0">
                <a:solidFill>
                  <a:srgbClr val="5F7375"/>
                </a:solidFill>
                <a:latin typeface="Calibri" pitchFamily="34" charset="0"/>
                <a:ea typeface="Calibri" pitchFamily="34" charset="-122"/>
                <a:cs typeface="Calibri" pitchFamily="34" charset="-120"/>
              </a:rPr>
              <a:t>Voorbeeld: de classificatie van een dataset bepalen.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BOUWSTEEN 6 — DMN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Beslistabel: classificatie</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algn="l" indent="0" marL="0">
              <a:buNone/>
            </a:pPr>
            <a:r>
              <a:rPr lang="en-US" sz="1600" dirty="0">
                <a:solidFill>
                  <a:srgbClr val="5F7375"/>
                </a:solidFill>
                <a:latin typeface="Calibri" pitchFamily="34" charset="0"/>
                <a:ea typeface="Calibri" pitchFamily="34" charset="-122"/>
                <a:cs typeface="Calibri" pitchFamily="34" charset="-120"/>
              </a:rPr>
              <a:t>Dezelfde invoer hoort altijd tot dezelfde uitkomst te leiden, ongeacht wie het uitvoert.</a:t>
            </a:r>
            <a:endParaRPr lang="en-US" sz="1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2651760"/>
          <a:ext cx="10881360" cy="914400"/>
        </p:xfrm>
        <a:graphic>
          <a:graphicData uri="http://schemas.openxmlformats.org/drawingml/2006/table">
            <a:tbl>
              <a:tblPr/>
              <a:tblGrid>
                <a:gridCol w="502920"/>
                <a:gridCol w="1965960"/>
                <a:gridCol w="2057400"/>
                <a:gridCol w="1691640"/>
                <a:gridCol w="2194560"/>
                <a:gridCol w="2468880"/>
              </a:tblGrid>
              <a:tr h="40233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Persoonsgegevens</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Bijzondere categorie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Extern gedeeld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Classificatie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Toegangsregime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1B4A48"/>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nee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nee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Intern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Domeinbreed, op aanvraag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nee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ja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Extern deelbaar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Contractueel vastgelegd</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3</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ja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nee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nee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Vertrouwelijk</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Named access, jaarlijkse review</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ja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nee</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ja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Vertrouwelijk — extern</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Verwerkersovereenkomst vereist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1F4F2"/>
                    </a:solidFill>
                  </a:tcPr>
                </a:tc>
              </a:tr>
              <a:tr h="402336">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5</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ja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ja</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Bijzonder</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c>
                  <a:txBody>
                    <a:bodyPr/>
                    <a:lstStyle/>
                    <a:p>
                      <a:pPr indent="0" marL="0">
                        <a:buNone/>
                      </a:pPr>
                      <a:r>
                        <a:rPr lang="en-US" sz="1200" dirty="0">
                          <a:solidFill>
                            <a:srgbClr val="0E1A1C"/>
                          </a:solidFill>
                          <a:latin typeface="Calibri" pitchFamily="34" charset="0"/>
                          <a:ea typeface="Calibri" pitchFamily="34" charset="-122"/>
                          <a:cs typeface="Calibri" pitchFamily="34" charset="-120"/>
                        </a:rPr>
                        <a:t>Named access + DPIA + logging</a:t>
                      </a:r>
                      <a:endParaRPr lang="en-US" sz="1200" dirty="0">
                        <a:latin typeface="Calibri" charset="0"/>
                        <a:ea typeface="Calibri" charset="0"/>
                        <a:cs typeface="Calibri" charset="0"/>
                      </a:endParaRPr>
                    </a:p>
                  </a:txBody>
                  <a:tcPr marL="76200" marR="76200" marT="76200" marB="76200" anchor="ctr">
                    <a:lnL w="12700" cap="flat" cmpd="sng" algn="ctr">
                      <a:solidFill>
                        <a:srgbClr val="D5DED8"/>
                      </a:solidFill>
                      <a:prstDash val="solid"/>
                      <a:round/>
                      <a:headEnd type="none" w="med" len="med"/>
                      <a:tailEnd type="none" w="med" len="med"/>
                    </a:lnL>
                    <a:lnR w="12700" cap="flat" cmpd="sng" algn="ctr">
                      <a:solidFill>
                        <a:srgbClr val="D5DED8"/>
                      </a:solidFill>
                      <a:prstDash val="solid"/>
                      <a:round/>
                      <a:headEnd type="none" w="med" len="med"/>
                      <a:tailEnd type="none" w="med" len="med"/>
                    </a:lnR>
                    <a:lnT w="12700" cap="flat" cmpd="sng" algn="ctr">
                      <a:solidFill>
                        <a:srgbClr val="D5DED8"/>
                      </a:solidFill>
                      <a:prstDash val="solid"/>
                      <a:round/>
                      <a:headEnd type="none" w="med" len="med"/>
                      <a:tailEnd type="none" w="med" len="med"/>
                    </a:lnT>
                    <a:lnB w="12700" cap="flat" cmpd="sng" algn="ctr">
                      <a:solidFill>
                        <a:srgbClr val="D5DED8"/>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Hit policy: Unique — elke combinatie valt onder precies één regel, en overlap wordt bij validatie zichtbaar als fout.</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VUISTREGEL</a:t>
            </a:r>
            <a:endParaRPr lang="en-US" sz="1100" dirty="0"/>
          </a:p>
        </p:txBody>
      </p:sp>
      <p:sp>
        <p:nvSpPr>
          <p:cNvPr id="3" name="Text 1"/>
          <p:cNvSpPr/>
          <p:nvPr/>
        </p:nvSpPr>
        <p:spPr>
          <a:xfrm>
            <a:off x="640080" y="201168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Acht exclusieve gateways achter elkaar?</a:t>
            </a:r>
            <a:endParaRPr lang="en-US" sz="3200" dirty="0"/>
          </a:p>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Dan teken je een besluit als een proces.</a:t>
            </a:r>
            <a:endParaRPr lang="en-US" sz="3200" dirty="0"/>
          </a:p>
        </p:txBody>
      </p:sp>
      <p:sp>
        <p:nvSpPr>
          <p:cNvPr id="4" name="Text 2"/>
          <p:cNvSpPr/>
          <p:nvPr/>
        </p:nvSpPr>
        <p:spPr>
          <a:xfrm>
            <a:off x="640080" y="4160520"/>
            <a:ext cx="8686800" cy="1097280"/>
          </a:xfrm>
          <a:prstGeom prst="rect">
            <a:avLst/>
          </a:prstGeom>
          <a:noFill/>
          <a:ln/>
        </p:spPr>
        <p:txBody>
          <a:bodyPr wrap="square" lIns="0" tIns="0" rIns="0" bIns="0" rtlCol="0" anchor="t"/>
          <a:lstStyle/>
          <a:p>
            <a:pPr indent="0" marL="0">
              <a:lnSpc>
                <a:spcPts val="2200"/>
              </a:lnSpc>
              <a:buNone/>
            </a:pPr>
            <a:r>
              <a:rPr lang="en-US" sz="1500" dirty="0">
                <a:solidFill>
                  <a:srgbClr val="7FA893"/>
                </a:solidFill>
                <a:latin typeface="Calibri" pitchFamily="34" charset="0"/>
                <a:ea typeface="Calibri" pitchFamily="34" charset="-122"/>
                <a:cs typeface="Calibri" pitchFamily="34" charset="-120"/>
              </a:rPr>
              <a:t>Haal de logica eruit en zet hem in een DMN-beslistabel. Het BPMN-model houdt één beslistaak over en wordt weer leesbaar. Kun je de gateways niet vooraf benoemen omdat het van het geval afhangt — dan is het geen BPMN maar CMMN.</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DE KEUZE</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Vier inrichtingsmodellen</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algn="l" indent="0" marL="0">
              <a:buNone/>
            </a:pPr>
            <a:r>
              <a:rPr lang="en-US" sz="1600" dirty="0">
                <a:solidFill>
                  <a:srgbClr val="5F7375"/>
                </a:solidFill>
                <a:latin typeface="Calibri" pitchFamily="34" charset="0"/>
                <a:ea typeface="Calibri" pitchFamily="34" charset="-122"/>
                <a:cs typeface="Calibri" pitchFamily="34" charset="-120"/>
              </a:rPr>
              <a:t>Geen ideologie maar een afweging tussen snelheid en uniformiteit.</a:t>
            </a:r>
            <a:endParaRPr lang="en-US" sz="1600" dirty="0"/>
          </a:p>
        </p:txBody>
      </p:sp>
      <p:sp>
        <p:nvSpPr>
          <p:cNvPr id="5" name="Shape 3"/>
          <p:cNvSpPr/>
          <p:nvPr/>
        </p:nvSpPr>
        <p:spPr>
          <a:xfrm>
            <a:off x="640080" y="2286000"/>
            <a:ext cx="2528316" cy="2468880"/>
          </a:xfrm>
          <a:prstGeom prst="roundRect">
            <a:avLst>
              <a:gd name="adj" fmla="val 2963"/>
            </a:avLst>
          </a:prstGeom>
          <a:solidFill>
            <a:srgbClr val="F1F4F2"/>
          </a:solidFill>
          <a:ln w="12700">
            <a:solidFill>
              <a:srgbClr val="D5DED8"/>
            </a:solidFill>
            <a:prstDash val="solid"/>
          </a:ln>
        </p:spPr>
      </p:sp>
      <p:sp>
        <p:nvSpPr>
          <p:cNvPr id="6" name="Text 4"/>
          <p:cNvSpPr/>
          <p:nvPr/>
        </p:nvSpPr>
        <p:spPr>
          <a:xfrm>
            <a:off x="859536" y="2505456"/>
            <a:ext cx="2089404"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Centraal</a:t>
            </a:r>
            <a:endParaRPr lang="en-US" sz="1700" dirty="0"/>
          </a:p>
        </p:txBody>
      </p:sp>
      <p:sp>
        <p:nvSpPr>
          <p:cNvPr id="7" name="Text 5"/>
          <p:cNvSpPr/>
          <p:nvPr/>
        </p:nvSpPr>
        <p:spPr>
          <a:xfrm>
            <a:off x="859536" y="2944368"/>
            <a:ext cx="2089404" cy="1591056"/>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Eén team stelt normen én voert uit.</a:t>
            </a:r>
            <a:endParaRPr lang="en-US" sz="1200" dirty="0"/>
          </a:p>
          <a:p>
            <a:pPr indent="0" marL="0">
              <a:lnSpc>
                <a:spcPts val="1700"/>
              </a:lnSpc>
              <a:buNone/>
            </a:pPr>
            <a:endParaRPr lang="en-US" sz="1200" dirty="0"/>
          </a:p>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Risico: bottleneck, business voelt zich geen eigenaar.</a:t>
            </a:r>
            <a:endParaRPr lang="en-US" sz="1200" dirty="0"/>
          </a:p>
        </p:txBody>
      </p:sp>
      <p:sp>
        <p:nvSpPr>
          <p:cNvPr id="8" name="Shape 6"/>
          <p:cNvSpPr/>
          <p:nvPr/>
        </p:nvSpPr>
        <p:spPr>
          <a:xfrm>
            <a:off x="3424428" y="2286000"/>
            <a:ext cx="2528316" cy="2468880"/>
          </a:xfrm>
          <a:prstGeom prst="roundRect">
            <a:avLst>
              <a:gd name="adj" fmla="val 2963"/>
            </a:avLst>
          </a:prstGeom>
          <a:solidFill>
            <a:srgbClr val="F1F4F2"/>
          </a:solidFill>
          <a:ln w="12700">
            <a:solidFill>
              <a:srgbClr val="D5DED8"/>
            </a:solidFill>
            <a:prstDash val="solid"/>
          </a:ln>
        </p:spPr>
      </p:sp>
      <p:sp>
        <p:nvSpPr>
          <p:cNvPr id="9" name="Text 7"/>
          <p:cNvSpPr/>
          <p:nvPr/>
        </p:nvSpPr>
        <p:spPr>
          <a:xfrm>
            <a:off x="3643884" y="2505456"/>
            <a:ext cx="2089404"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Decentraal</a:t>
            </a:r>
            <a:endParaRPr lang="en-US" sz="1700" dirty="0"/>
          </a:p>
        </p:txBody>
      </p:sp>
      <p:sp>
        <p:nvSpPr>
          <p:cNvPr id="10" name="Text 8"/>
          <p:cNvSpPr/>
          <p:nvPr/>
        </p:nvSpPr>
        <p:spPr>
          <a:xfrm>
            <a:off x="3643884" y="2944368"/>
            <a:ext cx="2089404" cy="1591056"/>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Domeinen bepalen zelf, geen centrale norm.</a:t>
            </a:r>
            <a:endParaRPr lang="en-US" sz="1200" dirty="0"/>
          </a:p>
          <a:p>
            <a:pPr indent="0" marL="0">
              <a:lnSpc>
                <a:spcPts val="1700"/>
              </a:lnSpc>
              <a:buNone/>
            </a:pPr>
            <a:endParaRPr lang="en-US" sz="1200" dirty="0"/>
          </a:p>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Risico: definities lopen uiteen, ketenrapportage klopt niet.</a:t>
            </a:r>
            <a:endParaRPr lang="en-US" sz="1200" dirty="0"/>
          </a:p>
        </p:txBody>
      </p:sp>
      <p:sp>
        <p:nvSpPr>
          <p:cNvPr id="11" name="Shape 9"/>
          <p:cNvSpPr/>
          <p:nvPr/>
        </p:nvSpPr>
        <p:spPr>
          <a:xfrm>
            <a:off x="6208776" y="2286000"/>
            <a:ext cx="2528316" cy="2468880"/>
          </a:xfrm>
          <a:prstGeom prst="roundRect">
            <a:avLst>
              <a:gd name="adj" fmla="val 2963"/>
            </a:avLst>
          </a:prstGeom>
          <a:solidFill>
            <a:srgbClr val="F1F4F2"/>
          </a:solidFill>
          <a:ln w="12700">
            <a:solidFill>
              <a:srgbClr val="D5DED8"/>
            </a:solidFill>
            <a:prstDash val="solid"/>
          </a:ln>
        </p:spPr>
      </p:sp>
      <p:sp>
        <p:nvSpPr>
          <p:cNvPr id="12" name="Text 10"/>
          <p:cNvSpPr/>
          <p:nvPr/>
        </p:nvSpPr>
        <p:spPr>
          <a:xfrm>
            <a:off x="6428232" y="2505456"/>
            <a:ext cx="2089404"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Federatief</a:t>
            </a:r>
            <a:endParaRPr lang="en-US" sz="1700" dirty="0"/>
          </a:p>
        </p:txBody>
      </p:sp>
      <p:sp>
        <p:nvSpPr>
          <p:cNvPr id="13" name="Text 11"/>
          <p:cNvSpPr/>
          <p:nvPr/>
        </p:nvSpPr>
        <p:spPr>
          <a:xfrm>
            <a:off x="6428232" y="2944368"/>
            <a:ext cx="2089404" cy="1591056"/>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Centrale normstelling, decentrale uitvoering.</a:t>
            </a:r>
            <a:endParaRPr lang="en-US" sz="1200" dirty="0"/>
          </a:p>
          <a:p>
            <a:pPr indent="0" marL="0">
              <a:lnSpc>
                <a:spcPts val="1700"/>
              </a:lnSpc>
              <a:buNone/>
            </a:pPr>
            <a:endParaRPr lang="en-US" sz="1200" dirty="0"/>
          </a:p>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Risico: onduidelijkheid over wat centraal is.</a:t>
            </a:r>
            <a:endParaRPr lang="en-US" sz="1200" dirty="0"/>
          </a:p>
        </p:txBody>
      </p:sp>
      <p:sp>
        <p:nvSpPr>
          <p:cNvPr id="14" name="Shape 12"/>
          <p:cNvSpPr/>
          <p:nvPr/>
        </p:nvSpPr>
        <p:spPr>
          <a:xfrm>
            <a:off x="8993124" y="2286000"/>
            <a:ext cx="2528316" cy="2468880"/>
          </a:xfrm>
          <a:prstGeom prst="roundRect">
            <a:avLst>
              <a:gd name="adj" fmla="val 2963"/>
            </a:avLst>
          </a:prstGeom>
          <a:solidFill>
            <a:srgbClr val="F1F4F2"/>
          </a:solidFill>
          <a:ln w="12700">
            <a:solidFill>
              <a:srgbClr val="D5DED8"/>
            </a:solidFill>
            <a:prstDash val="solid"/>
          </a:ln>
        </p:spPr>
      </p:sp>
      <p:sp>
        <p:nvSpPr>
          <p:cNvPr id="15" name="Text 13"/>
          <p:cNvSpPr/>
          <p:nvPr/>
        </p:nvSpPr>
        <p:spPr>
          <a:xfrm>
            <a:off x="9212580" y="2505456"/>
            <a:ext cx="2089404" cy="384048"/>
          </a:xfrm>
          <a:prstGeom prst="rect">
            <a:avLst/>
          </a:prstGeom>
          <a:noFill/>
          <a:ln/>
        </p:spPr>
        <p:txBody>
          <a:bodyPr wrap="square" lIns="0" tIns="0" rIns="0" bIns="0" rtlCol="0" anchor="t"/>
          <a:lstStyle/>
          <a:p>
            <a:pPr indent="0" marL="0">
              <a:buNone/>
            </a:pPr>
            <a:r>
              <a:rPr lang="en-US" sz="1700" b="1" dirty="0">
                <a:solidFill>
                  <a:srgbClr val="0E1A1C"/>
                </a:solidFill>
                <a:latin typeface="Cambria" pitchFamily="34" charset="0"/>
                <a:ea typeface="Cambria" pitchFamily="34" charset="-122"/>
                <a:cs typeface="Cambria" pitchFamily="34" charset="-120"/>
              </a:rPr>
              <a:t>Hub-and-spoke</a:t>
            </a:r>
            <a:endParaRPr lang="en-US" sz="1700" dirty="0"/>
          </a:p>
        </p:txBody>
      </p:sp>
      <p:sp>
        <p:nvSpPr>
          <p:cNvPr id="16" name="Text 14"/>
          <p:cNvSpPr/>
          <p:nvPr/>
        </p:nvSpPr>
        <p:spPr>
          <a:xfrm>
            <a:off x="9212580" y="2944368"/>
            <a:ext cx="2089404" cy="1591056"/>
          </a:xfrm>
          <a:prstGeom prst="rect">
            <a:avLst/>
          </a:prstGeom>
          <a:noFill/>
          <a:ln/>
        </p:spPr>
        <p:txBody>
          <a:bodyPr wrap="square" lIns="0" tIns="0" rIns="0" bIns="0" rtlCol="0" anchor="t"/>
          <a:lstStyle/>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Klein centraal team ondersteunt domeinstewards.</a:t>
            </a:r>
            <a:endParaRPr lang="en-US" sz="1200" dirty="0"/>
          </a:p>
          <a:p>
            <a:pPr indent="0" marL="0">
              <a:lnSpc>
                <a:spcPts val="1700"/>
              </a:lnSpc>
              <a:buNone/>
            </a:pPr>
            <a:endParaRPr lang="en-US" sz="1200" dirty="0"/>
          </a:p>
          <a:p>
            <a:pPr indent="0" marL="0">
              <a:lnSpc>
                <a:spcPts val="1700"/>
              </a:lnSpc>
              <a:buNone/>
            </a:pPr>
            <a:r>
              <a:rPr lang="en-US" sz="1200" dirty="0">
                <a:solidFill>
                  <a:srgbClr val="5F7375"/>
                </a:solidFill>
                <a:latin typeface="Calibri" pitchFamily="34" charset="0"/>
                <a:ea typeface="Calibri" pitchFamily="34" charset="-122"/>
                <a:cs typeface="Calibri" pitchFamily="34" charset="-120"/>
              </a:rPr>
              <a:t>Risico: de hub wordt uitvoerder in plaats van enabler.</a:t>
            </a:r>
            <a:endParaRPr lang="en-US" sz="1200" dirty="0"/>
          </a:p>
        </p:txBody>
      </p:sp>
      <p:sp>
        <p:nvSpPr>
          <p:cNvPr id="17" name="Text 15"/>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Criteria: omvang · homogeniteit van domeinen · volwassenheid · toezichtsdruk · staat van het IT-landschap.</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ADOPTIE EN METING</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Een ontwerp dat niet landt is een mislukking met goede documentatie</a:t>
            </a:r>
            <a:endParaRPr lang="en-US" sz="3400" dirty="0"/>
          </a:p>
        </p:txBody>
      </p:sp>
      <p:sp>
        <p:nvSpPr>
          <p:cNvPr id="4" name="Text 2"/>
          <p:cNvSpPr/>
          <p:nvPr/>
        </p:nvSpPr>
        <p:spPr>
          <a:xfrm>
            <a:off x="640080" y="2148840"/>
            <a:ext cx="530352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Adoptie</a:t>
            </a:r>
            <a:endParaRPr lang="en-US" sz="2000" dirty="0"/>
          </a:p>
        </p:txBody>
      </p:sp>
      <p:sp>
        <p:nvSpPr>
          <p:cNvPr id="5" name="Text 3"/>
          <p:cNvSpPr/>
          <p:nvPr/>
        </p:nvSpPr>
        <p:spPr>
          <a:xfrm>
            <a:off x="640080" y="2606040"/>
            <a:ext cx="530352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Sluit aan op bestaande overleggen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Zichtbare winst binnen negentig dagen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Stewardrollen mét uren in het functieprofiel</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Maak besluiten vindbaar — anders worden ze opnieuw genomen</a:t>
            </a:r>
            <a:endParaRPr lang="en-US" sz="1500" dirty="0"/>
          </a:p>
        </p:txBody>
      </p:sp>
      <p:sp>
        <p:nvSpPr>
          <p:cNvPr id="6" name="Text 4"/>
          <p:cNvSpPr/>
          <p:nvPr/>
        </p:nvSpPr>
        <p:spPr>
          <a:xfrm>
            <a:off x="6309360" y="2148840"/>
            <a:ext cx="5212080" cy="365760"/>
          </a:xfrm>
          <a:prstGeom prst="rect">
            <a:avLst/>
          </a:prstGeom>
          <a:noFill/>
          <a:ln/>
        </p:spPr>
        <p:txBody>
          <a:bodyPr wrap="square" lIns="0" tIns="0" rIns="0" bIns="0" rtlCol="0" anchor="ctr"/>
          <a:lstStyle/>
          <a:p>
            <a:pPr indent="0" marL="0">
              <a:buNone/>
            </a:pPr>
            <a:r>
              <a:rPr lang="en-US" sz="2000" b="1" dirty="0">
                <a:solidFill>
                  <a:srgbClr val="3F7D74"/>
                </a:solidFill>
                <a:latin typeface="Cambria" pitchFamily="34" charset="0"/>
                <a:ea typeface="Cambria" pitchFamily="34" charset="-122"/>
                <a:cs typeface="Cambria" pitchFamily="34" charset="-120"/>
              </a:rPr>
              <a:t>Meten</a:t>
            </a:r>
            <a:endParaRPr lang="en-US" sz="2000" dirty="0"/>
          </a:p>
        </p:txBody>
      </p:sp>
      <p:sp>
        <p:nvSpPr>
          <p:cNvPr id="7" name="Text 5"/>
          <p:cNvSpPr/>
          <p:nvPr/>
        </p:nvSpPr>
        <p:spPr>
          <a:xfrm>
            <a:off x="6309360" y="2606040"/>
            <a:ext cx="5212080" cy="21031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Dekking eigenaarschap op kritieke domeinen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Definitiedekking van kritieke begrippen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Mediane doorlooptijd per besluittype</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Aantal en leeftijd van openstaande waivers</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Kwaliteitsscore op kritieke data-elementen</a:t>
            </a:r>
            <a:endParaRPr lang="en-US" sz="1500" dirty="0"/>
          </a:p>
        </p:txBody>
      </p:sp>
      <p:sp>
        <p:nvSpPr>
          <p:cNvPr id="8" name="Text 6"/>
          <p:cNvSpPr/>
          <p:nvPr/>
        </p:nvSpPr>
        <p:spPr>
          <a:xfrm>
            <a:off x="640080" y="6355080"/>
            <a:ext cx="10881360" cy="274320"/>
          </a:xfrm>
          <a:prstGeom prst="rect">
            <a:avLst/>
          </a:prstGeom>
          <a:noFill/>
          <a:ln/>
        </p:spPr>
        <p:txBody>
          <a:bodyPr wrap="square" lIns="0" tIns="0" rIns="0" bIns="0" rtlCol="0" anchor="ctr"/>
          <a:lstStyle/>
          <a:p>
            <a:pPr indent="0" marL="0">
              <a:buNone/>
            </a:pPr>
            <a:r>
              <a:rPr lang="en-US" sz="1000" dirty="0">
                <a:solidFill>
                  <a:srgbClr val="5F7375"/>
                </a:solidFill>
                <a:latin typeface="Calibri" pitchFamily="34" charset="0"/>
                <a:ea typeface="Calibri" pitchFamily="34" charset="-122"/>
                <a:cs typeface="Calibri" pitchFamily="34" charset="-120"/>
              </a:rPr>
              <a:t>Meet gedrag en uitkomst, nooit activiteit. Het aantal gehouden vergaderingen zegt niets.</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UIT HET VELD</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Tien fouten die je gaat tegenkomen</a:t>
            </a:r>
            <a:endParaRPr lang="en-US" sz="3400" dirty="0"/>
          </a:p>
        </p:txBody>
      </p:sp>
      <p:sp>
        <p:nvSpPr>
          <p:cNvPr id="4" name="Text 2"/>
          <p:cNvSpPr/>
          <p:nvPr/>
        </p:nvSpPr>
        <p:spPr>
          <a:xfrm>
            <a:off x="640080" y="2103120"/>
            <a:ext cx="530352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Organen zonder besluitrechten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Eigenaarschap op systemen in plaats van domeinen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Stewardrollen zonder uren of mandaat</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Escalatiepaden zonder termijn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Alles "beleid" noemen</a:t>
            </a:r>
            <a:endParaRPr lang="en-US" sz="1500" dirty="0"/>
          </a:p>
        </p:txBody>
      </p:sp>
      <p:sp>
        <p:nvSpPr>
          <p:cNvPr id="5" name="Text 3"/>
          <p:cNvSpPr/>
          <p:nvPr/>
        </p:nvSpPr>
        <p:spPr>
          <a:xfrm>
            <a:off x="6309360" y="2103120"/>
            <a:ext cx="521208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Waivers zonder einddatum</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Een board die operationele uitzonderingen behandelt</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Governanceprocessen die nergens gemodelleerd zijn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KPI’s die activiteit meten in plaats van uitkomst</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Een raamwerk overnemen zonder het te snoeien</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3F7D74"/>
                </a:solidFill>
                <a:latin typeface="Calibri" pitchFamily="34" charset="0"/>
                <a:ea typeface="Calibri" pitchFamily="34" charset="-122"/>
                <a:cs typeface="Calibri" pitchFamily="34" charset="-120"/>
              </a:rPr>
              <a:t>EXAMENLIJN</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0E1A1C"/>
                </a:solidFill>
                <a:latin typeface="Cambria" pitchFamily="34" charset="0"/>
                <a:ea typeface="Cambria" pitchFamily="34" charset="-122"/>
                <a:cs typeface="Cambria" pitchFamily="34" charset="-120"/>
              </a:rPr>
              <a:t>CDMP-specialist Data Governance</a:t>
            </a:r>
            <a:endParaRPr lang="en-US" sz="3400" dirty="0"/>
          </a:p>
        </p:txBody>
      </p:sp>
      <p:sp>
        <p:nvSpPr>
          <p:cNvPr id="4" name="Text 2"/>
          <p:cNvSpPr/>
          <p:nvPr/>
        </p:nvSpPr>
        <p:spPr>
          <a:xfrm>
            <a:off x="640080" y="1207008"/>
            <a:ext cx="10881360" cy="457200"/>
          </a:xfrm>
          <a:prstGeom prst="rect">
            <a:avLst/>
          </a:prstGeom>
          <a:noFill/>
          <a:ln/>
        </p:spPr>
        <p:txBody>
          <a:bodyPr wrap="square" lIns="0" tIns="0" rIns="0" bIns="0" rtlCol="0" anchor="ctr"/>
          <a:lstStyle/>
          <a:p>
            <a:pPr algn="l" indent="0" marL="0">
              <a:buNone/>
            </a:pPr>
            <a:r>
              <a:rPr lang="en-US" sz="1600" dirty="0">
                <a:solidFill>
                  <a:srgbClr val="5F7375"/>
                </a:solidFill>
                <a:latin typeface="Calibri" pitchFamily="34" charset="0"/>
                <a:ea typeface="Calibri" pitchFamily="34" charset="-122"/>
                <a:cs typeface="Calibri" pitchFamily="34" charset="-120"/>
              </a:rPr>
              <a:t>Dit deel vormt samen met deel 11 de kern van de voorbereiding.</a:t>
            </a:r>
            <a:endParaRPr lang="en-US" sz="1600" dirty="0"/>
          </a:p>
        </p:txBody>
      </p:sp>
      <p:sp>
        <p:nvSpPr>
          <p:cNvPr id="5" name="Text 3"/>
          <p:cNvSpPr/>
          <p:nvPr/>
        </p:nvSpPr>
        <p:spPr>
          <a:xfrm>
            <a:off x="640080" y="2286000"/>
            <a:ext cx="603504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Ken het onderscheid owner / steward / custodian in DMBOK-bewoordingen</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Governance versus stewardship: waar houdt besluitrecht op?</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Beleid, standaard en richtlijn — en wie welk niveau vaststelt</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De verhouding tot security, privacy, architectuur en risk</a:t>
            </a:r>
            <a:endParaRPr lang="en-US" sz="1500" dirty="0"/>
          </a:p>
          <a:p>
            <a:pPr marL="342900" indent="-342900">
              <a:spcAft>
                <a:spcPts val="800"/>
              </a:spcAft>
              <a:buSzPct val="100000"/>
              <a:buChar char="•"/>
            </a:pPr>
            <a:r>
              <a:rPr lang="en-US" sz="1500" dirty="0">
                <a:solidFill>
                  <a:srgbClr val="0E1A1C"/>
                </a:solidFill>
                <a:latin typeface="Calibri" pitchFamily="34" charset="0"/>
                <a:ea typeface="Calibri" pitchFamily="34" charset="-122"/>
                <a:cs typeface="Calibri" pitchFamily="34" charset="-120"/>
              </a:rPr>
              <a:t>Engelse termen: decision rights, stewardship, charter, escalation path</a:t>
            </a:r>
            <a:endParaRPr lang="en-US" sz="1500" dirty="0"/>
          </a:p>
        </p:txBody>
      </p:sp>
      <p:sp>
        <p:nvSpPr>
          <p:cNvPr id="6" name="Shape 4"/>
          <p:cNvSpPr/>
          <p:nvPr/>
        </p:nvSpPr>
        <p:spPr>
          <a:xfrm>
            <a:off x="7223760" y="2148840"/>
            <a:ext cx="4297680" cy="2834640"/>
          </a:xfrm>
          <a:prstGeom prst="roundRect">
            <a:avLst>
              <a:gd name="adj" fmla="val 2581"/>
            </a:avLst>
          </a:prstGeom>
          <a:solidFill>
            <a:srgbClr val="F6F3EC"/>
          </a:solidFill>
          <a:ln w="12700">
            <a:solidFill>
              <a:srgbClr val="E2D9C4"/>
            </a:solidFill>
            <a:prstDash val="solid"/>
          </a:ln>
        </p:spPr>
      </p:sp>
      <p:sp>
        <p:nvSpPr>
          <p:cNvPr id="7" name="Text 5"/>
          <p:cNvSpPr/>
          <p:nvPr/>
        </p:nvSpPr>
        <p:spPr>
          <a:xfrm>
            <a:off x="7452360" y="2377440"/>
            <a:ext cx="3840480" cy="274320"/>
          </a:xfrm>
          <a:prstGeom prst="rect">
            <a:avLst/>
          </a:prstGeom>
          <a:noFill/>
          <a:ln/>
        </p:spPr>
        <p:txBody>
          <a:bodyPr wrap="square" lIns="0" tIns="0" rIns="0" bIns="0" rtlCol="0" anchor="ctr"/>
          <a:lstStyle/>
          <a:p>
            <a:pPr indent="0" marL="0">
              <a:buNone/>
            </a:pPr>
            <a:r>
              <a:rPr lang="en-US" sz="1100" b="1" spc="100" kern="0" dirty="0">
                <a:solidFill>
                  <a:srgbClr val="B0803A"/>
                </a:solidFill>
                <a:latin typeface="Calibri" pitchFamily="34" charset="0"/>
                <a:ea typeface="Calibri" pitchFamily="34" charset="-122"/>
                <a:cs typeface="Calibri" pitchFamily="34" charset="-120"/>
              </a:rPr>
              <a:t>VOORBEREIDING, GEEN VERVANGING</a:t>
            </a:r>
            <a:endParaRPr lang="en-US" sz="1100" dirty="0"/>
          </a:p>
        </p:txBody>
      </p:sp>
      <p:sp>
        <p:nvSpPr>
          <p:cNvPr id="8" name="Text 6"/>
          <p:cNvSpPr/>
          <p:nvPr/>
        </p:nvSpPr>
        <p:spPr>
          <a:xfrm>
            <a:off x="7452360" y="2743200"/>
            <a:ext cx="3840480" cy="2103120"/>
          </a:xfrm>
          <a:prstGeom prst="rect">
            <a:avLst/>
          </a:prstGeom>
          <a:noFill/>
          <a:ln/>
        </p:spPr>
        <p:txBody>
          <a:bodyPr wrap="square" lIns="0" tIns="0" rIns="0" bIns="0" rtlCol="0" anchor="t"/>
          <a:lstStyle/>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Ductus is niet gelieerd aan of geaccrediteerd door DAMA International. Dit materiaal reproduceert het DMBOK niet en vervangt het niet.</a:t>
            </a:r>
            <a:endParaRPr lang="en-US" sz="1250" dirty="0"/>
          </a:p>
          <a:p>
            <a:pPr indent="0" marL="0">
              <a:lnSpc>
                <a:spcPts val="1800"/>
              </a:lnSpc>
              <a:buNone/>
            </a:pPr>
            <a:endParaRPr lang="en-US" sz="1250" dirty="0"/>
          </a:p>
          <a:p>
            <a:pPr indent="0" marL="0">
              <a:lnSpc>
                <a:spcPts val="1800"/>
              </a:lnSpc>
              <a:buNone/>
            </a:pPr>
            <a:r>
              <a:rPr lang="en-US" sz="1250" dirty="0">
                <a:solidFill>
                  <a:srgbClr val="0E1A1C"/>
                </a:solidFill>
                <a:latin typeface="Calibri" pitchFamily="34" charset="0"/>
                <a:ea typeface="Calibri" pitchFamily="34" charset="-122"/>
                <a:cs typeface="Calibri" pitchFamily="34" charset="-120"/>
              </a:rPr>
              <a:t>Schaf de DMBOK2 Revised Edition zelf aan — tijdens het examen is dat het enige toegestane hulpmiddel, in papier óf digitaal.</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4A48"/>
        </a:solidFill>
      </p:bgPr>
    </p:bg>
    <p:spTree>
      <p:nvGrpSpPr>
        <p:cNvPr id="1" name=""/>
        <p:cNvGrpSpPr/>
        <p:nvPr/>
      </p:nvGrpSpPr>
      <p:grpSpPr>
        <a:xfrm>
          <a:off x="0" y="0"/>
          <a:ext cx="0" cy="0"/>
          <a:chOff x="0" y="0"/>
          <a:chExt cx="0" cy="0"/>
        </a:xfrm>
      </p:grpSpPr>
      <p:sp>
        <p:nvSpPr>
          <p:cNvPr id="2" name="Text 0"/>
          <p:cNvSpPr/>
          <p:nvPr/>
        </p:nvSpPr>
        <p:spPr>
          <a:xfrm>
            <a:off x="640080" y="109728"/>
            <a:ext cx="10881360" cy="274320"/>
          </a:xfrm>
          <a:prstGeom prst="rect">
            <a:avLst/>
          </a:prstGeom>
          <a:noFill/>
          <a:ln/>
        </p:spPr>
        <p:txBody>
          <a:bodyPr wrap="square" lIns="0" tIns="0" rIns="0" bIns="0" rtlCol="0" anchor="ctr"/>
          <a:lstStyle/>
          <a:p>
            <a:pPr indent="0" marL="0">
              <a:buNone/>
            </a:pPr>
            <a:r>
              <a:rPr lang="en-US" sz="1100" b="1" spc="300" kern="0" dirty="0">
                <a:solidFill>
                  <a:srgbClr val="7FA893"/>
                </a:solidFill>
                <a:latin typeface="Calibri" pitchFamily="34" charset="0"/>
                <a:ea typeface="Calibri" pitchFamily="34" charset="-122"/>
                <a:cs typeface="Calibri" pitchFamily="34" charset="-120"/>
              </a:rPr>
              <a:t>AAN HET WERK</a:t>
            </a:r>
            <a:endParaRPr lang="en-US" sz="1100" dirty="0"/>
          </a:p>
        </p:txBody>
      </p:sp>
      <p:sp>
        <p:nvSpPr>
          <p:cNvPr id="3" name="Text 1"/>
          <p:cNvSpPr/>
          <p:nvPr/>
        </p:nvSpPr>
        <p:spPr>
          <a:xfrm>
            <a:off x="640080" y="411480"/>
            <a:ext cx="10881360" cy="82296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Wat we vandaag doen</a:t>
            </a:r>
            <a:endParaRPr lang="en-US" sz="3400" dirty="0"/>
          </a:p>
        </p:txBody>
      </p:sp>
      <p:sp>
        <p:nvSpPr>
          <p:cNvPr id="4" name="Shape 2"/>
          <p:cNvSpPr/>
          <p:nvPr/>
        </p:nvSpPr>
        <p:spPr>
          <a:xfrm>
            <a:off x="640080" y="2377440"/>
            <a:ext cx="3456432" cy="2468880"/>
          </a:xfrm>
          <a:prstGeom prst="roundRect">
            <a:avLst>
              <a:gd name="adj" fmla="val 2963"/>
            </a:avLst>
          </a:prstGeom>
          <a:solidFill>
            <a:srgbClr val="17423F"/>
          </a:solidFill>
          <a:ln w="12700">
            <a:solidFill>
              <a:srgbClr val="2C5A56"/>
            </a:solidFill>
            <a:prstDash val="solid"/>
          </a:ln>
        </p:spPr>
      </p:sp>
      <p:sp>
        <p:nvSpPr>
          <p:cNvPr id="5" name="Shape 3"/>
          <p:cNvSpPr/>
          <p:nvPr/>
        </p:nvSpPr>
        <p:spPr>
          <a:xfrm>
            <a:off x="859536" y="2596896"/>
            <a:ext cx="384048" cy="384048"/>
          </a:xfrm>
          <a:prstGeom prst="ellipse">
            <a:avLst/>
          </a:prstGeom>
          <a:solidFill>
            <a:srgbClr val="3F7D74"/>
          </a:solidFill>
          <a:ln w="12700">
            <a:solidFill>
              <a:srgbClr val="3F7D74"/>
            </a:solidFill>
            <a:prstDash val="solid"/>
          </a:ln>
        </p:spPr>
      </p:sp>
      <p:sp>
        <p:nvSpPr>
          <p:cNvPr id="6" name="Text 4"/>
          <p:cNvSpPr/>
          <p:nvPr/>
        </p:nvSpPr>
        <p:spPr>
          <a:xfrm>
            <a:off x="859536"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7" name="Text 5"/>
          <p:cNvSpPr/>
          <p:nvPr/>
        </p:nvSpPr>
        <p:spPr>
          <a:xfrm>
            <a:off x="859536" y="3090672"/>
            <a:ext cx="3017520" cy="384048"/>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BPMN</a:t>
            </a:r>
            <a:endParaRPr lang="en-US" sz="2000" dirty="0"/>
          </a:p>
        </p:txBody>
      </p:sp>
      <p:sp>
        <p:nvSpPr>
          <p:cNvPr id="8" name="Text 6"/>
          <p:cNvSpPr/>
          <p:nvPr/>
        </p:nvSpPr>
        <p:spPr>
          <a:xfrm>
            <a:off x="859536" y="3511296"/>
            <a:ext cx="3017520" cy="1115568"/>
          </a:xfrm>
          <a:prstGeom prst="rect">
            <a:avLst/>
          </a:prstGeom>
          <a:noFill/>
          <a:ln/>
        </p:spPr>
        <p:txBody>
          <a:bodyPr wrap="square" lIns="0" tIns="0" rIns="0" bIns="0" rtlCol="0" anchor="t"/>
          <a:lstStyle/>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Het begripswijzigingsproces voor "actieve deelnemer".</a:t>
            </a:r>
            <a:endParaRPr lang="en-US" sz="1300" dirty="0"/>
          </a:p>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50 minuten, in tweetallen.</a:t>
            </a:r>
            <a:endParaRPr lang="en-US" sz="1300" dirty="0"/>
          </a:p>
        </p:txBody>
      </p:sp>
      <p:sp>
        <p:nvSpPr>
          <p:cNvPr id="9" name="Shape 7"/>
          <p:cNvSpPr/>
          <p:nvPr/>
        </p:nvSpPr>
        <p:spPr>
          <a:xfrm>
            <a:off x="4352544" y="2377440"/>
            <a:ext cx="3456432" cy="2468880"/>
          </a:xfrm>
          <a:prstGeom prst="roundRect">
            <a:avLst>
              <a:gd name="adj" fmla="val 2963"/>
            </a:avLst>
          </a:prstGeom>
          <a:solidFill>
            <a:srgbClr val="17423F"/>
          </a:solidFill>
          <a:ln w="12700">
            <a:solidFill>
              <a:srgbClr val="2C5A56"/>
            </a:solidFill>
            <a:prstDash val="solid"/>
          </a:ln>
        </p:spPr>
      </p:sp>
      <p:sp>
        <p:nvSpPr>
          <p:cNvPr id="10" name="Shape 8"/>
          <p:cNvSpPr/>
          <p:nvPr/>
        </p:nvSpPr>
        <p:spPr>
          <a:xfrm>
            <a:off x="4572000" y="2596896"/>
            <a:ext cx="384048" cy="384048"/>
          </a:xfrm>
          <a:prstGeom prst="ellipse">
            <a:avLst/>
          </a:prstGeom>
          <a:solidFill>
            <a:srgbClr val="3F7D74"/>
          </a:solidFill>
          <a:ln w="12700">
            <a:solidFill>
              <a:srgbClr val="3F7D74"/>
            </a:solidFill>
            <a:prstDash val="solid"/>
          </a:ln>
        </p:spPr>
      </p:sp>
      <p:sp>
        <p:nvSpPr>
          <p:cNvPr id="11" name="Text 9"/>
          <p:cNvSpPr/>
          <p:nvPr/>
        </p:nvSpPr>
        <p:spPr>
          <a:xfrm>
            <a:off x="4572000"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2" name="Text 10"/>
          <p:cNvSpPr/>
          <p:nvPr/>
        </p:nvSpPr>
        <p:spPr>
          <a:xfrm>
            <a:off x="4572000" y="3090672"/>
            <a:ext cx="3017520" cy="384048"/>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CMMN</a:t>
            </a:r>
            <a:endParaRPr lang="en-US" sz="2000" dirty="0"/>
          </a:p>
        </p:txBody>
      </p:sp>
      <p:sp>
        <p:nvSpPr>
          <p:cNvPr id="13" name="Text 11"/>
          <p:cNvSpPr/>
          <p:nvPr/>
        </p:nvSpPr>
        <p:spPr>
          <a:xfrm>
            <a:off x="4572000" y="3511296"/>
            <a:ext cx="3017520" cy="1115568"/>
          </a:xfrm>
          <a:prstGeom prst="rect">
            <a:avLst/>
          </a:prstGeom>
          <a:noFill/>
          <a:ln/>
        </p:spPr>
        <p:txBody>
          <a:bodyPr wrap="square" lIns="0" tIns="0" rIns="0" bIns="0" rtlCol="0" anchor="t"/>
          <a:lstStyle/>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Het onderzoek naar een kwaliteitsincident.</a:t>
            </a:r>
            <a:endParaRPr lang="en-US" sz="1300" dirty="0"/>
          </a:p>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40 minuten, in tweetallen.</a:t>
            </a:r>
            <a:endParaRPr lang="en-US" sz="1300" dirty="0"/>
          </a:p>
        </p:txBody>
      </p:sp>
      <p:sp>
        <p:nvSpPr>
          <p:cNvPr id="14" name="Shape 12"/>
          <p:cNvSpPr/>
          <p:nvPr/>
        </p:nvSpPr>
        <p:spPr>
          <a:xfrm>
            <a:off x="8065008" y="2377440"/>
            <a:ext cx="3456432" cy="2468880"/>
          </a:xfrm>
          <a:prstGeom prst="roundRect">
            <a:avLst>
              <a:gd name="adj" fmla="val 2963"/>
            </a:avLst>
          </a:prstGeom>
          <a:solidFill>
            <a:srgbClr val="17423F"/>
          </a:solidFill>
          <a:ln w="12700">
            <a:solidFill>
              <a:srgbClr val="2C5A56"/>
            </a:solidFill>
            <a:prstDash val="solid"/>
          </a:ln>
        </p:spPr>
      </p:sp>
      <p:sp>
        <p:nvSpPr>
          <p:cNvPr id="15" name="Shape 13"/>
          <p:cNvSpPr/>
          <p:nvPr/>
        </p:nvSpPr>
        <p:spPr>
          <a:xfrm>
            <a:off x="8284464" y="2596896"/>
            <a:ext cx="384048" cy="384048"/>
          </a:xfrm>
          <a:prstGeom prst="ellipse">
            <a:avLst/>
          </a:prstGeom>
          <a:solidFill>
            <a:srgbClr val="3F7D74"/>
          </a:solidFill>
          <a:ln w="12700">
            <a:solidFill>
              <a:srgbClr val="3F7D74"/>
            </a:solidFill>
            <a:prstDash val="solid"/>
          </a:ln>
        </p:spPr>
      </p:sp>
      <p:sp>
        <p:nvSpPr>
          <p:cNvPr id="16" name="Text 14"/>
          <p:cNvSpPr/>
          <p:nvPr/>
        </p:nvSpPr>
        <p:spPr>
          <a:xfrm>
            <a:off x="8284464" y="25968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17" name="Text 15"/>
          <p:cNvSpPr/>
          <p:nvPr/>
        </p:nvSpPr>
        <p:spPr>
          <a:xfrm>
            <a:off x="8284464" y="3090672"/>
            <a:ext cx="3017520" cy="384048"/>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DMN</a:t>
            </a:r>
            <a:endParaRPr lang="en-US" sz="2000" dirty="0"/>
          </a:p>
        </p:txBody>
      </p:sp>
      <p:sp>
        <p:nvSpPr>
          <p:cNvPr id="18" name="Text 16"/>
          <p:cNvSpPr/>
          <p:nvPr/>
        </p:nvSpPr>
        <p:spPr>
          <a:xfrm>
            <a:off x="8284464" y="3511296"/>
            <a:ext cx="3017520" cy="1115568"/>
          </a:xfrm>
          <a:prstGeom prst="rect">
            <a:avLst/>
          </a:prstGeom>
          <a:noFill/>
          <a:ln/>
        </p:spPr>
        <p:txBody>
          <a:bodyPr wrap="square" lIns="0" tIns="0" rIns="0" bIns="0" rtlCol="0" anchor="t"/>
          <a:lstStyle/>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De classificatiebeslistabel, met hit policy.</a:t>
            </a:r>
            <a:endParaRPr lang="en-US" sz="1300" dirty="0"/>
          </a:p>
          <a:p>
            <a:pPr indent="0" marL="0">
              <a:lnSpc>
                <a:spcPts val="1700"/>
              </a:lnSpc>
              <a:buNone/>
            </a:pPr>
            <a:r>
              <a:rPr lang="en-US" sz="1300" dirty="0">
                <a:solidFill>
                  <a:srgbClr val="7FA893"/>
                </a:solidFill>
                <a:latin typeface="Calibri" pitchFamily="34" charset="0"/>
                <a:ea typeface="Calibri" pitchFamily="34" charset="-122"/>
                <a:cs typeface="Calibri" pitchFamily="34" charset="-120"/>
              </a:rPr>
              <a:t>45 minuten, in tweetallen.</a:t>
            </a:r>
            <a:endParaRPr lang="en-US" sz="1300" dirty="0"/>
          </a:p>
        </p:txBody>
      </p:sp>
      <p:sp>
        <p:nvSpPr>
          <p:cNvPr id="19" name="Text 17"/>
          <p:cNvSpPr/>
          <p:nvPr/>
        </p:nvSpPr>
        <p:spPr>
          <a:xfrm>
            <a:off x="640080" y="5349240"/>
            <a:ext cx="10881360" cy="457200"/>
          </a:xfrm>
          <a:prstGeom prst="rect">
            <a:avLst/>
          </a:prstGeom>
          <a:noFill/>
          <a:ln/>
        </p:spPr>
        <p:txBody>
          <a:bodyPr wrap="square" lIns="0" tIns="0" rIns="0" bIns="0" rtlCol="0" anchor="ctr"/>
          <a:lstStyle/>
          <a:p>
            <a:pPr indent="0" marL="0">
              <a:buNone/>
            </a:pPr>
            <a:r>
              <a:rPr lang="en-US" sz="1400" dirty="0">
                <a:solidFill>
                  <a:srgbClr val="7FA893"/>
                </a:solidFill>
                <a:latin typeface="Calibri" pitchFamily="34" charset="0"/>
                <a:ea typeface="Calibri" pitchFamily="34" charset="-122"/>
                <a:cs typeface="Calibri" pitchFamily="34" charset="-120"/>
              </a:rPr>
              <a:t>Huiswerk: opdracht 7 (inrichtingsmodel), opdracht 8 (adoptieplan) en de zelftoets van twaalf vragen.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Deel 16 — Data governance operating model</dc:title>
  <dc:subject>PptxGenJS Presentation</dc:subject>
  <dc:creator>Ductus B.V.</dc:creator>
  <cp:lastModifiedBy>Ductus B.V.</cp:lastModifiedBy>
  <cp:revision>1</cp:revision>
  <dcterms:created xsi:type="dcterms:W3CDTF">2026-08-04T21:31:34Z</dcterms:created>
  <dcterms:modified xsi:type="dcterms:W3CDTF">2026-08-04T21:31:34Z</dcterms:modified>
</cp:coreProperties>
</file>