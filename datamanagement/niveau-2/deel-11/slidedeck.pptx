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bij iemand die in opdracht 1 geen DMBOK koos en laat die de keuze verdedigen. Dat zet meteen de toon van niveau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drie oorzaken zijn de structuur van het hele deel: tailoren, bewijs, rapporteren.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DMBOK is geen assessmentraamwerk. Wie erop scoort, bedenkt zijn eigen schaal — dat mag, mits hij het zegt.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groep bij opdracht 3 bijhouden op welk moment het gesprek kantelde. Bijna altijd na deze vraag.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Spreek altijd ook iemand die niet in het programma gelooft. Die levert het scherpste tegenbewijs.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begrippenlijst met 400 termen zonder eigenaar is het klassieke schijnbewijs. Vraag naar de laatste wijziging.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integraal overgenomen raamwerk produceert scores die de opdrachtgever terecht niet herkent — en dat verzwakt het geheel.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bij opdracht 4 rond om overleg tijdens het scoren te voorkomen. Zonder onafhankelijkheid werkt de oefening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rapport dat eindigt bij een spinnenweb is een diagnose zonder behandelplan.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Anonimiteit binnen het rapport beschermt de kwaliteit van de volgende meting.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DCAM zelf komt pas in deel 24 aan bod; voor het specialistexamen is het DMBOK leidend.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de assessmentrapportage van maximaal acht pagina's — plus de zelftoets.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2 · PRAKTIJK · DEEL 11</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Frameworks</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in de praktijk</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Waar staan wij, en wat moeten we als eerste doen? Dat is de opdracht waarmee je relatie met een klant begint — of eindigt.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WAAROM ZE STRANDEN</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Frameworks stranden zelden op inhoud.</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Ze stranden doordat iemand het hele raamwerk overneemt in plaats van het te snoeien, doordat scores op indrukken berusten in plaats van op bewijs, of doordat de rapportage eindigt bij een spinnenweb en niet bij een besluit.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LANDSCHAP</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raamwerken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Je hoeft ze niet te beheersen. Je moet kunnen uitleggen waarvoor ze bedoeld zijn.</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4114800"/>
                <a:gridCol w="457200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Raamwerk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Kern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Wanneer passend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DAMA-DMBOK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Veertien kennisgebieden; naslagwerk en 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Als vertrekpunt — het is geen assessmentinstrument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DCAM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Acht componenten, scorebaar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formeel assessment met vergelijkbaarheid over jaren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CMMI-DMM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Vijf niveaus, procesgericht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Waar CMMI al bekend is uit softwareontwikkeling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ISO 8000</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Normenreeks datakwaliteit, deels certificeerbaar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ketenafspraken en leveranciersuitwisseling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ISO/IEC 38505</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Governance of data, bestuurlijk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een gesprek op raad-van-bestuursniveau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CDMC</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Cloud en hybride, met kerncontroles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cloudmigratie of hybride landschap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DCAM en CDMC vereisen lidmaatschap van de EDM Association. Dat is een organisatiebesluit met kosten, geen detail.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VRAAG DIE ALLES VERANDERT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"Kunt u me dat laten zien?"</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Die ene vraag verplaatst het gesprek van meningen naar bewijs, en hij is beleefd genoeg om altijd te kunnen stellen. Wie hem consequent stelt, komt met een assessment terug dat niemand kan wegwuiven.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INTERVIEWTECHNIEK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Vraag naar gedrag, niet naar een score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4572000"/>
                <a:gridCol w="630936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Niet vragen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Wel vragen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 volwassen is jullie datakwaliteitsbeheer?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Wanneer is er voor het laatst een kwaliteitsprobleem gemeld, en wat gebeurde er toen?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Is er een begrippenkader?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Waar zoekt u de definitie op als u die nodig heeft? Laat het eens zien.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Wie is de eigenaar van deze data?</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Wie heeft de laatste wijziging in deze definitie goedgekeurd?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Werkt de governance?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Welk besluit is er in het laatste kwartaal genomen, en door wie?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Vraag je naar een score, dan krijg je een oordeel — meestal iets tussen de drie en de vier. Daar heb je niets aan.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BEWIJS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niveaus, oplopende waarde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Scoor op bewijs, niet op indruk.</a:t>
            </a:r>
            <a:endParaRPr lang="en-US" sz="1600" dirty="0"/>
          </a:p>
        </p:txBody>
      </p:sp>
      <p:sp>
        <p:nvSpPr>
          <p:cNvPr id="5" name="Shape 3"/>
          <p:cNvSpPr/>
          <p:nvPr/>
        </p:nvSpPr>
        <p:spPr>
          <a:xfrm>
            <a:off x="640080" y="2331720"/>
            <a:ext cx="3456432" cy="2560320"/>
          </a:xfrm>
          <a:prstGeom prst="roundRect">
            <a:avLst>
              <a:gd name="adj" fmla="val 2857"/>
            </a:avLst>
          </a:prstGeom>
          <a:solidFill>
            <a:srgbClr val="F1F4F2"/>
          </a:solidFill>
          <a:ln w="12700">
            <a:solidFill>
              <a:srgbClr val="D5DED8"/>
            </a:solidFill>
            <a:prstDash val="solid"/>
          </a:ln>
        </p:spPr>
      </p:sp>
      <p:sp>
        <p:nvSpPr>
          <p:cNvPr id="6" name="Shape 4"/>
          <p:cNvSpPr/>
          <p:nvPr/>
        </p:nvSpPr>
        <p:spPr>
          <a:xfrm>
            <a:off x="859536" y="255117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Uitspraak</a:t>
            </a:r>
            <a:endParaRPr lang="en-US" sz="1900" dirty="0"/>
          </a:p>
        </p:txBody>
      </p:sp>
      <p:sp>
        <p:nvSpPr>
          <p:cNvPr id="9" name="Text 7"/>
          <p:cNvSpPr/>
          <p:nvPr/>
        </p:nvSpPr>
        <p:spPr>
          <a:xfrm>
            <a:off x="859536"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Iemand zegt dat het zo werkt.</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Licht — vermeld het als bron, niet als bewijs.</a:t>
            </a:r>
            <a:endParaRPr lang="en-US" sz="1300" dirty="0"/>
          </a:p>
        </p:txBody>
      </p:sp>
      <p:sp>
        <p:nvSpPr>
          <p:cNvPr id="10" name="Shape 8"/>
          <p:cNvSpPr/>
          <p:nvPr/>
        </p:nvSpPr>
        <p:spPr>
          <a:xfrm>
            <a:off x="4352544" y="2331720"/>
            <a:ext cx="3456432" cy="2560320"/>
          </a:xfrm>
          <a:prstGeom prst="roundRect">
            <a:avLst>
              <a:gd name="adj" fmla="val 2857"/>
            </a:avLst>
          </a:prstGeom>
          <a:solidFill>
            <a:srgbClr val="F1F4F2"/>
          </a:solidFill>
          <a:ln w="12700">
            <a:solidFill>
              <a:srgbClr val="D5DED8"/>
            </a:solidFill>
            <a:prstDash val="solid"/>
          </a:ln>
        </p:spPr>
      </p:sp>
      <p:sp>
        <p:nvSpPr>
          <p:cNvPr id="11" name="Shape 9"/>
          <p:cNvSpPr/>
          <p:nvPr/>
        </p:nvSpPr>
        <p:spPr>
          <a:xfrm>
            <a:off x="4572000" y="255117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Document</a:t>
            </a:r>
            <a:endParaRPr lang="en-US" sz="1900" dirty="0"/>
          </a:p>
        </p:txBody>
      </p:sp>
      <p:sp>
        <p:nvSpPr>
          <p:cNvPr id="14" name="Text 12"/>
          <p:cNvSpPr/>
          <p:nvPr/>
        </p:nvSpPr>
        <p:spPr>
          <a:xfrm>
            <a:off x="4572000"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Er bestaat een vastgelegd artefact.</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Middel — bestaan is nog geen gebruik.</a:t>
            </a:r>
            <a:endParaRPr lang="en-US" sz="1300" dirty="0"/>
          </a:p>
        </p:txBody>
      </p:sp>
      <p:sp>
        <p:nvSpPr>
          <p:cNvPr id="15" name="Shape 13"/>
          <p:cNvSpPr/>
          <p:nvPr/>
        </p:nvSpPr>
        <p:spPr>
          <a:xfrm>
            <a:off x="8065008" y="2331720"/>
            <a:ext cx="3456432" cy="2560320"/>
          </a:xfrm>
          <a:prstGeom prst="roundRect">
            <a:avLst>
              <a:gd name="adj" fmla="val 2857"/>
            </a:avLst>
          </a:prstGeom>
          <a:solidFill>
            <a:srgbClr val="F1F4F2"/>
          </a:solidFill>
          <a:ln w="12700">
            <a:solidFill>
              <a:srgbClr val="D5DED8"/>
            </a:solidFill>
            <a:prstDash val="solid"/>
          </a:ln>
        </p:spPr>
      </p:sp>
      <p:sp>
        <p:nvSpPr>
          <p:cNvPr id="16" name="Shape 14"/>
          <p:cNvSpPr/>
          <p:nvPr/>
        </p:nvSpPr>
        <p:spPr>
          <a:xfrm>
            <a:off x="8284464" y="255117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Waarneming</a:t>
            </a:r>
            <a:endParaRPr lang="en-US" sz="1900" dirty="0"/>
          </a:p>
        </p:txBody>
      </p:sp>
      <p:sp>
        <p:nvSpPr>
          <p:cNvPr id="19" name="Text 17"/>
          <p:cNvSpPr/>
          <p:nvPr/>
        </p:nvSpPr>
        <p:spPr>
          <a:xfrm>
            <a:off x="8284464"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Je ziet het in gebruik of in een systeem.</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Zwaar — hier mag een score op rusten.</a:t>
            </a:r>
            <a:endParaRPr lang="en-US" sz="1300" dirty="0"/>
          </a:p>
        </p:txBody>
      </p:sp>
      <p:sp>
        <p:nvSpPr>
          <p:cNvPr id="20" name="Text 18"/>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Vuistregel: niveau 3 vraagt documentbewijs, niveau 4 vraagt waarneming. Wie op uitspraken een vier scoort, gaat bij de eerste audit onderuit.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TAILOREN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Snoeien is vakmanschap, geen concessie</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je snoeit</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Capabilities buiten de scope — vastleggen dat je ze niet mat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Detailniveaus waarvoor geen bewijs te halen is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Terminologie die in de organisatie niet leeft</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Wat je nooit snoeit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scoringsdefinities — dat kost je de vergelijkbaarheid</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Gebieden waarvan je vermoedt dat ze laag scoren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verantwoording van je snoeikeuzes</a:t>
            </a:r>
            <a:endParaRPr lang="en-US" sz="15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Een niet-gemeten gebied is iets anders dan een gebied dat slecht scoort. Zet het nooit op nul.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KALIBREREN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Eerst onafhankelijk, dan vergelijken</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Hoe</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Score onafhankelijk; samen scoren levert het oordeel van de dominantste op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Bespreek alleen verschillen van twee niveaus of meer</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Bij één niveau verschil: de laagste, met de spreiding erbij</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Herleid elk verschil naar bewijs, niet naar interpretatie</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Twee systematische afwijkingen</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interne assessor scoort structureel hoger</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Wie de meeste interviews deed, scoort structureel lager</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Leg de kalibratie vast — anders is de herhaalmeting betekenisloos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RAPPORTAGE</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Scores nodigen uit tot discussie.</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Scenario’s nodigen uit tot een keuze.</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Leg drie scenario’s voor — minimaal, gericht en volledig — elk met ambitieniveau per gebied, kosten, doorlooptijd en het gevolg van niets doen. Laat de opdrachtgever kiezen, en leg vast wat er bewust níét gebeurt.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RAPPORTAGE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erin hoort en wat niet</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Wel</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Scope, respondenten, periode — én wat niet is gemeten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schaal en scoringsdefinities, letterlijk</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Per score het zwaarste bewijs waarop hij rust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De spreiding waar die groot was — dat is zelf een bevinding</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Drie tot vijf bevindingen, geen twintig</a:t>
            </a:r>
            <a:endParaRPr lang="en-US" sz="14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Niet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Het spinnenweb als eindproduct</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Namen van respondenten bij individuele uitspraken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Aanbevelingen die niet uit een bevinding volgen</a:t>
            </a:r>
            <a:endParaRPr lang="en-US" sz="1400" dirty="0"/>
          </a:p>
          <a:p>
            <a:pPr marL="342900" indent="-342900">
              <a:spcAft>
                <a:spcPts val="800"/>
              </a:spcAft>
              <a:buSzPct val="100000"/>
              <a:buChar char="•"/>
            </a:pPr>
            <a:r>
              <a:rPr lang="en-US" sz="1400" dirty="0">
                <a:solidFill>
                  <a:srgbClr val="0E1A1C"/>
                </a:solidFill>
                <a:latin typeface="Calibri" pitchFamily="34" charset="0"/>
                <a:ea typeface="Calibri" pitchFamily="34" charset="-122"/>
                <a:cs typeface="Calibri" pitchFamily="34" charset="-120"/>
              </a:rPr>
              <a:t>Ambitie op niveau 5 omdat de opdrachtgever dat mooi vindt</a:t>
            </a:r>
            <a:endParaRPr lang="en-US" sz="14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Sluit af met een gevraagd besluit, van een aanwijsbare persoon, met een datum.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CDMP-specialist Data Governance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Dit deel vormt samen met deel 16 de kern van de voorbereiding.</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Het onderscheid tussen een body of knowledge en een assessmentraamwerk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Volwassenheidsniveaus en wat elk niveau kenmerkt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relatie tussen governance en het datamanagementprogramma</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Interoperabiliteit als capability, los van de techniek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maturity assessment, capability, baseline, calibration</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Interview</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Twee gesprekken van twintig minuten — één als assessor, één als respondent.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Kalibreren</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Onafhankelijk scoren, verschillen herleiden naar bewijs.</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50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Bewijs</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Acht stukken beoordelen. Twee lijken sterk en zijn het niet.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Ambitie</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Drie scenario’s met kosten, doorlooptijd en restrisico.</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40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Frameworks in de praktijk</dc:title>
  <dc:subject>PptxGenJS Presentation</dc:subject>
  <dc:creator>Ductus B.V.</dc:creator>
  <cp:lastModifiedBy>Ductus B.V.</cp:lastModifiedBy>
  <cp:revision>1</cp:revision>
  <dcterms:created xsi:type="dcterms:W3CDTF">2026-08-05T10:35:02Z</dcterms:created>
  <dcterms:modified xsi:type="dcterms:W3CDTF">2026-08-05T10:35:02Z</dcterms:modified>
</cp:coreProperties>
</file>