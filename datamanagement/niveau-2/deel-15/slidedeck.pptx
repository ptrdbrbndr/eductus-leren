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procestoets: draait de meting over een jaar nog, en merkt iemand het als hij stopt?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Definiëren, verbeteren en borgen zijn waar de blijvende verandering zit — en juist die worden overgeslagen.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vragen per regel: welk element, welke dimensie, waar, hoe vaak, en welke norm — afgeleid van het gebruik.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 elementen per regel: identificatie, conditie in code, drempel als parameter, ernst, eigenaar, versiebeheer.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geen technische instelling. Als niemand het besluit heeft genomen, heeft de ontwikkelaar het genomen.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incidentdossier in opdracht 3 laat meerdere plausibele verklaringen toe. Alleen de combinatie klopt.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Bewust niet oplossen is legitiem, mits vastgelegd met eigenaar en herzieningsdatum. Anders is het een stille beleidswijziging.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weigering betekent doorgaans dat de leverancier de afspraak niet kan waarmaken — beter vooraf bekend dan achteraf.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lezer herkent "e-mailadres deelnemer", niet "lz_pas_deelnemer.dlnm_eml".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overdrachtsmoment is de opdracht die consultants het minst graag maken en die het meeste bepaalt.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Normen worden vastgesteld, niet bedacht — daar raakt dit deel aan governance uit deel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het borgingsplan met een expliciet overdrachtsmoment — plus de zelftoets.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2 · PRAKTIJK · DEEL 15</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Datakwaliteits-</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management als proces</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Eén kwaliteitsrapportage, acht regels, eenmalig gemaakt. Geen drempels, geen eigenaren, geen vervolg. Dat is kwaliteit als project.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CYCLUS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stappen — organisaties doen er twee</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645920"/>
                <a:gridCol w="4023360"/>
                <a:gridCol w="521208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er gebeurt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 het misgaat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Definiëren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Vaststellen wat goed genoeg is, per element en gebruik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Meten zonder norm; elke uitkomst is dan een falen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Regels uitvoeren, herhaalbaar en op vaste momenten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Eenmalig meten en het een rapportage noemen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Analyseren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Van symptoom naar oorzaakcategorie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Blijven hangen bij "de data klopt niet"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Verbeteren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Ingrijpen bij de oorzaak, niet bij het symptoom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Schoonmaken in het platform; volgende maand staat het er weer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Borgen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Regel, eigenaar en meting naar de lijn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programma eindigt en de meting stopt stilzwijgend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procestoets: draait de meting over een jaar nog zonder handmatige start, en merkt iemand het als hij stopt?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MEETPLAN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Waar je meet bepaalt wie je kunt aanspreken</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3291840"/>
                <a:gridCol w="2743200"/>
                <a:gridCol w="265176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ziet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Wie je aanspreekt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Beperking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de bron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fout op het moment van ontstaan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Producer en proceseigenaar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Vaak geen toegang tot het bronsysteem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 de integratielaag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er binnenkomt en wat afvalt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Team Data &amp; Integratie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fout is al gemaakt; je ziet hem alleen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1206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 de consumptielaag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de gebruiker daadwerkelijk krijgt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rapportagebouwer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oorzaak ligt stroomopwaarts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Meet op minstens twee plekken. Het verschil tussen bron en consumptie is zelf een bevinding — daar zitten de 340 weggevallen records.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REGELS ALS CODE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regel in een document draait</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zolang iemand eraan denkt.</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Een regel als code draait mee met de verwerking en meldt zichzelf. Dat verschil bepaalt of je een proces hebt of een voornemen. Zet de drempel als parameter — een normwijziging hoort geen release te vragen, anders wordt de norm nooit meer aangepast.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EEN BUSINESSBESLUIT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Stoppen of doorgaan?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Een regel die de verwerking stopt, beschermt de kwaliteit en legt bij een fout de hele rapportageketen stil. Een regel die alleen meldt, houdt de keten draaiend en laat foute data door. Leg per regel vast wie dat besluit heeft genomen — bij een incident is dat de eerste vraag.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ANALYSE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technieken, want de eerste verklaring klopt zelden</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Technieken</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Vijf keer waarom — bij een enkelvoudige oorzaakketen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Visgraat — bij meerdere samenspelende factoren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Ketenanalyse — de acht vragen uit deel 3</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Categorieën die werken: proces, systeem, definitie, mens, keten</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De uitkomst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Een oorzaakcategorie uit deel 4</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Plus een aanwijsbare plek</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"Datakwaliteit" is geen oorzaak</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"Een verplicht veld waar de werkelijkheid uitzonderingen kent, in scherm KLT-04" wel</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Stop niet bij "de medewerker vulde het verkeerd in". Vraag door tot je bij het scherm of het proces bent.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REMEDIATIE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elementen van het pad</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4023360"/>
                <a:gridCol w="48463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Ontwerpvraag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Prioritering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 grond waarvan bepaal je wat eerst gebeurt?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Impact op de DNB-bevinding maal aantal geraakte records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Toewijzing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lost op, en wie beslist dat?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owner wijst toe, steward voert 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Doorlooptijd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Binnen hoeveel tijd, per ernstniveau?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Hoog: tien werkdagen. Midden: een kwartaal. Laag: backlog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Verificatie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stel je vast dat het echt is opgelost?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regel meet zichzelf; de volgende meting is het bewijs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Correctie repareert bestaande records. Preventie voorkomt nieuwe. Vrijwel elke bevinding vraagt beide — met verschillende eigenaren en doorlooptijden.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DATA CONTRACTS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volwassen vorm van een impliciete afspraak</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erin staat</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Dataset en schema — wijziging is een contractwijziging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Kwaliteitsafspraak per kritiek veld: regel en drempel</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Actualiteit: frequentie en maximale vertraging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Semantiek: verwijzing naar het begrippenkader</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Aankondigingstermijn voor schemawijzigingen</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Waarom ze falen</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Vrijwel nooit op de inhoud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Maar doordat er geen consequentie aan overtreding hangt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Spreek af: melding — escalatie — bij herhaling opschorten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Een weigering om te tekenen is informatie, geen obstakel</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Ondertekenaars: de data owner aan beide kanten. Niet de projectleider.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DASHBOARD</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keuzes die berusting voorkomen</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Doen</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Rapporteer per kritiek data-element, niet per tabel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Zet de norm naast de score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Toon de trend, niet alleen de stand</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Toon per afwijking de eigenaar en de remediatiestatus</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En verder</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Vermeld wat je níét meet — anders leest men het als het geheel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Kies drie getallen voor de eerste rij, op besluitrelevantie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Vraag een besluit, geen kennisname</a:t>
            </a:r>
            <a:endParaRPr lang="en-US" sz="15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dashboard zonder eigenaar en remediatiestatus is een klaagmuur. De board kan dan alleen constateren — en dan verdwijnt de rapportage van de agenda.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BORGEN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stap die bepaalt of je werk blijft bestaan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Zes punten. Het derde wordt het vaakst gemist.</a:t>
            </a:r>
            <a:endParaRPr lang="en-US" sz="1600" dirty="0"/>
          </a:p>
        </p:txBody>
      </p:sp>
      <p:sp>
        <p:nvSpPr>
          <p:cNvPr id="5" name="Shape 3"/>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6" name="Shape 4"/>
          <p:cNvSpPr/>
          <p:nvPr/>
        </p:nvSpPr>
        <p:spPr>
          <a:xfrm>
            <a:off x="859536" y="25054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Eigenaar in de lijn</a:t>
            </a:r>
            <a:endParaRPr lang="en-US" sz="1600" dirty="0"/>
          </a:p>
        </p:txBody>
      </p:sp>
      <p:sp>
        <p:nvSpPr>
          <p:cNvPr id="9" name="Text 7"/>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Per regel, met naam — en die eigenaar weet het.</a:t>
            </a:r>
            <a:endParaRPr lang="en-US" sz="1200" dirty="0"/>
          </a:p>
        </p:txBody>
      </p:sp>
      <p:sp>
        <p:nvSpPr>
          <p:cNvPr id="10" name="Shape 8"/>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1" name="Shape 9"/>
          <p:cNvSpPr/>
          <p:nvPr/>
        </p:nvSpPr>
        <p:spPr>
          <a:xfrm>
            <a:off x="3643884" y="2505456"/>
            <a:ext cx="384048" cy="384048"/>
          </a:xfrm>
          <a:prstGeom prst="ellipse">
            <a:avLst/>
          </a:prstGeom>
          <a:solidFill>
            <a:srgbClr val="3F7D74"/>
          </a:solidFill>
          <a:ln w="12700">
            <a:solidFill>
              <a:srgbClr val="3F7D74"/>
            </a:solidFill>
            <a:prstDash val="solid"/>
          </a:ln>
        </p:spPr>
      </p:sp>
      <p:sp>
        <p:nvSpPr>
          <p:cNvPr id="12" name="Text 10"/>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43884"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Automatische meting</a:t>
            </a:r>
            <a:endParaRPr lang="en-US" sz="1600" dirty="0"/>
          </a:p>
        </p:txBody>
      </p:sp>
      <p:sp>
        <p:nvSpPr>
          <p:cNvPr id="14" name="Text 12"/>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Draait en meldt zichzelf. Niemand hoeft hem te starten.</a:t>
            </a:r>
            <a:endParaRPr lang="en-US" sz="1200" dirty="0"/>
          </a:p>
        </p:txBody>
      </p:sp>
      <p:sp>
        <p:nvSpPr>
          <p:cNvPr id="15" name="Shape 13"/>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6" name="Shape 14"/>
          <p:cNvSpPr/>
          <p:nvPr/>
        </p:nvSpPr>
        <p:spPr>
          <a:xfrm>
            <a:off x="6428232" y="2505456"/>
            <a:ext cx="384048" cy="384048"/>
          </a:xfrm>
          <a:prstGeom prst="ellipse">
            <a:avLst/>
          </a:prstGeom>
          <a:solidFill>
            <a:srgbClr val="3F7D74"/>
          </a:solidFill>
          <a:ln w="12700">
            <a:solidFill>
              <a:srgbClr val="3F7D74"/>
            </a:solidFill>
            <a:prstDash val="solid"/>
          </a:ln>
        </p:spPr>
      </p:sp>
      <p:sp>
        <p:nvSpPr>
          <p:cNvPr id="17" name="Text 15"/>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28232"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Monitoring op de meting</a:t>
            </a:r>
            <a:endParaRPr lang="en-US" sz="1600" dirty="0"/>
          </a:p>
        </p:txBody>
      </p:sp>
      <p:sp>
        <p:nvSpPr>
          <p:cNvPr id="19" name="Text 17"/>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Iemand merkt het als zij niet draait. Een meting valt stil in stilte.</a:t>
            </a:r>
            <a:endParaRPr lang="en-US" sz="1200" dirty="0"/>
          </a:p>
        </p:txBody>
      </p:sp>
      <p:sp>
        <p:nvSpPr>
          <p:cNvPr id="20" name="Shape 18"/>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1" name="Shape 19"/>
          <p:cNvSpPr/>
          <p:nvPr/>
        </p:nvSpPr>
        <p:spPr>
          <a:xfrm>
            <a:off x="9212580" y="2505456"/>
            <a:ext cx="384048" cy="384048"/>
          </a:xfrm>
          <a:prstGeom prst="ellipse">
            <a:avLst/>
          </a:prstGeom>
          <a:solidFill>
            <a:srgbClr val="3F7D74"/>
          </a:solidFill>
          <a:ln w="12700">
            <a:solidFill>
              <a:srgbClr val="3F7D74"/>
            </a:solidFill>
            <a:prstDash val="solid"/>
          </a:ln>
        </p:spPr>
      </p:sp>
      <p:sp>
        <p:nvSpPr>
          <p:cNvPr id="22" name="Text 20"/>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12580"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Bestaand overleg</a:t>
            </a:r>
            <a:endParaRPr lang="en-US" sz="1600" dirty="0"/>
          </a:p>
        </p:txBody>
      </p:sp>
      <p:sp>
        <p:nvSpPr>
          <p:cNvPr id="24" name="Text 22"/>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De rapportage staat op een lijnoverleg, niet op een programmaoverleg.</a:t>
            </a:r>
            <a:endParaRPr lang="en-US" sz="1200" dirty="0"/>
          </a:p>
        </p:txBody>
      </p:sp>
      <p:sp>
        <p:nvSpPr>
          <p:cNvPr id="25" name="Text 2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Plus: een proces om regels toe te voegen, te wijzigen en te verwijderen · en de doorlooptijd van remediatie wordt gemeten en besproken.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CDMP-specialist Data Quality</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Samen met deel 4 de kern van de voorbereiding op dat examen.</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kwaliteitscyclus en de rol van elke stap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Dimensies toegepast in een meetplan, met norm uit het gebruik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Root cause analysis: symptoom versus oorzaak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Correctie versus preventie, en waarom beide nodig zijn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threshold, remediation, root cause, data contract, service level</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Oorzaak</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Een afwijking van 2.310 records. Drie technieken, want de eerste verklaring klopt niet.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Remediatie</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Prioritering, eigenaarschap, en de splitsing correctie/preventie.</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Contract</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Zeven onderdelen — en de vraag wat er gebeurt bij overtreding.</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Dashboard</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Van klaagmuur naar gevraagd besluit.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Datakwaliteitsmanagement als proces</dc:title>
  <dc:subject>PptxGenJS Presentation</dc:subject>
  <dc:creator>Ductus B.V.</dc:creator>
  <cp:lastModifiedBy>Ductus B.V.</cp:lastModifiedBy>
  <cp:revision>1</cp:revision>
  <dcterms:created xsi:type="dcterms:W3CDTF">2026-08-05T10:35:03Z</dcterms:created>
  <dcterms:modified xsi:type="dcterms:W3CDTF">2026-08-05T10:35:03Z</dcterms:modified>
</cp:coreProperties>
</file>