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</p:sldIdLst>
  <p:notesMasterIdLst>
    <p:notesMasterId r:id="rId17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notesMaster" Target="notesMasters/notesMaster1.xml"/><Relationship Id="rId18" Type="http://schemas.openxmlformats.org/officeDocument/2006/relationships/presProps" Target="presProps.xml"/><Relationship Id="rId19" Type="http://schemas.openxmlformats.org/officeDocument/2006/relationships/viewProps" Target="viewProps.xml"/><Relationship Id="rId20" Type="http://schemas.openxmlformats.org/officeDocument/2006/relationships/theme" Target="theme/theme1.xml"/><Relationship Id="rId21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/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5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1920240"/>
            <a:ext cx="1088136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 null · DEEL 20</a:t>
            </a:r>
            <a:endParaRPr lang="en-US" sz="1500" dirty="0"/>
          </a:p>
        </p:txBody>
      </p:sp>
      <p:sp>
        <p:nvSpPr>
          <p:cNvPr id="3" name="Text 1"/>
          <p:cNvSpPr/>
          <p:nvPr/>
        </p:nvSpPr>
        <p:spPr>
          <a:xfrm>
            <a:off x="640080" y="2377440"/>
            <a:ext cx="10881360" cy="16459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36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Architectuurvolwassenheid en capability-assessment</a:t>
            </a:r>
            <a:endParaRPr lang="en-US" sz="3600" dirty="0"/>
          </a:p>
        </p:txBody>
      </p:sp>
      <p:sp>
        <p:nvSpPr>
          <p:cNvPr id="4" name="Text 2"/>
          <p:cNvSpPr/>
          <p:nvPr/>
        </p:nvSpPr>
        <p:spPr>
          <a:xfrm>
            <a:off x="640080" y="411480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800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800" dirty="0"/>
          </a:p>
        </p:txBody>
      </p:sp>
      <p:sp>
        <p:nvSpPr>
          <p:cNvPr id="5" name="Text 3"/>
          <p:cNvSpPr/>
          <p:nvPr/>
        </p:nvSpPr>
        <p:spPr>
          <a:xfrm>
            <a:off x="640080" y="6263640"/>
            <a:ext cx="7315200" cy="36576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100" dirty="0">
                <a:solidFill>
                  <a:srgbClr val="7C8DA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Business &amp; Enterprise Architectuur</a:t>
            </a:r>
            <a:endParaRPr lang="en-US" sz="1100" dirty="0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"iemand tekent af en toe iets"...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...tot "architectuur is verweven in elke beslissing"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Architectuurvolwassenheid: hoe gestructureerd is uw architectuurfunctie?</a:t>
            </a:r>
            <a:endParaRPr lang="en-US" sz="1700" dirty="0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bg>
      <p:bgPr>
        <a:solidFill>
          <a:srgbClr val="EEF1F6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822960" y="1188720"/>
            <a:ext cx="73152" cy="4114800"/>
          </a:xfrm>
          <a:prstGeom prst="rect">
            <a:avLst/>
          </a:prstGeom>
          <a:solidFill>
            <a:srgbClr val="E9A13B"/>
          </a:solidFill>
          <a:ln/>
        </p:spPr>
      </p:sp>
      <p:sp>
        <p:nvSpPr>
          <p:cNvPr id="3" name="Text 1"/>
          <p:cNvSpPr/>
          <p:nvPr/>
        </p:nvSpPr>
        <p:spPr>
          <a:xfrm>
            <a:off x="1280160" y="1188720"/>
            <a:ext cx="9784080" cy="32918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400" i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eerlijk beginpunt · gerichte verbeterkansen · een concreet investeringsargument</a:t>
            </a:r>
            <a:endParaRPr lang="en-US" sz="2400" dirty="0"/>
          </a:p>
        </p:txBody>
      </p:sp>
      <p:sp>
        <p:nvSpPr>
          <p:cNvPr id="4" name="Text 2"/>
          <p:cNvSpPr/>
          <p:nvPr/>
        </p:nvSpPr>
        <p:spPr>
          <a:xfrm>
            <a:off x="1280160" y="4663440"/>
            <a:ext cx="978408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dirty="0">
                <a:solidFill>
                  <a:srgbClr val="6B728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"We hebben meer capaciteit nodig" vs. "we scoren laag op governance, hoog op modellering"</a:t>
            </a:r>
            <a:endParaRPr lang="en-US" sz="1500" dirty="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niveaus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Initieel · 2. Herhaalbaar · 3. Gedefinieerd · 4. Beheerst · 5. Optimaliserend</a:t>
            </a:r>
            <a:endParaRPr lang="en-US" sz="1700" dirty="0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dimensies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Governance · Engagement · Methode · Informatievoorziening · Business-koppeling</a:t>
            </a:r>
            <a:endParaRPr lang="en-US" sz="1700" dirty="0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 valkuil van één cijfer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"Wij zitten op niveau 3" verbergt vaak een scheve verdeling.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Meet per dimensie, nooit gemiddeld.</a:t>
            </a:r>
            <a:endParaRPr lang="en-US" sz="1700" dirty="0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1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Niveaus herkennen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25 min, individueel → plenair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vijf beschrijvingen,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Het assessment: drie stappen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Bewijs verzamelen (interviews, documenten, steekproeven)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Positioneren per dimensie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Prioriteren — niet alles naar niveau 5</a:t>
            </a:r>
            <a:endParaRPr lang="en-US" sz="1700" dirty="0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Meridiaan, vroege fase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Vrijwel overal niveau 1: geen gremium, geen kader, geen consistente methode.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Na opbouw: governance en methode groeien sneller dan business-koppeling.</a:t>
            </a:r>
            <a:endParaRPr lang="en-US" sz="1700" dirty="0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2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Een assessment ontwerpen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eigen organisatie of Meridiaan, werkboek p. 1</a:t>
            </a:r>
            <a:endParaRPr lang="en-US" sz="1400" dirty="0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Van assessment naar verbeterplan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alles tegelijk. Grootste kloof × meeste waarde = prioriteit.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Per stap: huidig niveau → volgend niveau, acties, meetpunt.</a:t>
            </a:r>
            <a:endParaRPr lang="en-US" sz="1700" dirty="0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640080" y="411480"/>
            <a:ext cx="10881360" cy="7315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600" b="1" dirty="0">
                <a:solidFill>
                  <a:srgbClr val="14213D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Niet meteen naar niveau 5</a:t>
            </a:r>
            <a:endParaRPr lang="en-US" sz="2600" dirty="0"/>
          </a:p>
        </p:txBody>
      </p:sp>
      <p:sp>
        <p:nvSpPr>
          <p:cNvPr id="3" name="Text 1"/>
          <p:cNvSpPr/>
          <p:nvPr/>
        </p:nvSpPr>
        <p:spPr>
          <a:xfrm>
            <a:off x="731520" y="1417320"/>
            <a:ext cx="10332720" cy="4937760"/>
          </a:xfrm>
          <a:prstGeom prst="rect">
            <a:avLst/>
          </a:prstGeom>
          <a:noFill/>
          <a:ln/>
        </p:spPr>
        <p:txBody>
          <a:bodyPr wrap="square" rtlCol="0" anchor="t"/>
          <a:lstStyle/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Overvraagt de organisatie → schijnvolwassenheid: papieren proces, niemand volgt het echt.</a:t>
            </a:r>
            <a:endParaRPr lang="en-US" sz="1700" dirty="0"/>
          </a:p>
          <a:p>
            <a:pPr marL="342900" indent="-342900">
              <a:spcAft>
                <a:spcPts val="1200"/>
              </a:spcAft>
              <a:buSzPct val="100000"/>
              <a:buChar char="•"/>
            </a:pPr>
            <a:r>
              <a:rPr lang="en-US" sz="1700" dirty="0">
                <a:solidFill>
                  <a:srgbClr val="2A2A2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Stapsgewijs — elke laag moet eerst landen.</a:t>
            </a:r>
            <a:endParaRPr lang="en-US" sz="1700" dirty="0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3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Verbeterplan opstellen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30 min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bg>
      <p:bgPr>
        <a:solidFill>
          <a:srgbClr val="2563A8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822960" y="1463040"/>
            <a:ext cx="10058400" cy="5486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600" b="1" spc="200" kern="0" dirty="0">
                <a:solidFill>
                  <a:srgbClr val="E9A13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OPDRACHT 4</a:t>
            </a:r>
            <a:endParaRPr lang="en-US" sz="1600" dirty="0"/>
          </a:p>
        </p:txBody>
      </p:sp>
      <p:sp>
        <p:nvSpPr>
          <p:cNvPr id="3" name="Text 1"/>
          <p:cNvSpPr/>
          <p:nvPr/>
        </p:nvSpPr>
        <p:spPr>
          <a:xfrm>
            <a:off x="822960" y="2011680"/>
            <a:ext cx="10332720" cy="118872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2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Reflectie: uw grootste verrassing</a:t>
            </a:r>
            <a:endParaRPr lang="en-US" sz="2800" dirty="0"/>
          </a:p>
        </p:txBody>
      </p:sp>
      <p:sp>
        <p:nvSpPr>
          <p:cNvPr id="4" name="Text 2"/>
          <p:cNvSpPr/>
          <p:nvPr/>
        </p:nvSpPr>
        <p:spPr>
          <a:xfrm>
            <a:off x="822960" y="320040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500" i="1" dirty="0">
                <a:solidFill>
                  <a:srgbClr val="C7D2E3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15 min, individueel</a:t>
            </a:r>
            <a:endParaRPr lang="en-US" sz="1500" dirty="0"/>
          </a:p>
        </p:txBody>
      </p:sp>
      <p:sp>
        <p:nvSpPr>
          <p:cNvPr id="5" name="Text 3"/>
          <p:cNvSpPr/>
          <p:nvPr/>
        </p:nvSpPr>
        <p:spPr>
          <a:xfrm>
            <a:off x="822960" y="3840480"/>
            <a:ext cx="10058400" cy="45720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indent="0" marL="0">
              <a:buNone/>
            </a:pPr>
            <a:r>
              <a:rPr lang="en-US" sz="1400" dirty="0">
                <a:solidFill>
                  <a:srgbClr val="9FB0C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werkboek p. 2</a:t>
            </a:r>
            <a:endParaRPr lang="en-US" sz="1400" dirty="0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bg>
      <p:bgPr>
        <a:solidFill>
          <a:srgbClr val="14213D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914400" y="2743200"/>
            <a:ext cx="10332720" cy="1463040"/>
          </a:xfrm>
          <a:prstGeom prst="rect">
            <a:avLst/>
          </a:prstGeom>
          <a:noFill/>
          <a:ln/>
        </p:spPr>
        <p:txBody>
          <a:bodyPr wrap="square" rtlCol="0" anchor="ctr"/>
          <a:lstStyle/>
          <a:p>
            <a:pPr algn="ctr" indent="0" marL="0">
              <a:buNone/>
            </a:pPr>
            <a:r>
              <a:rPr lang="en-US" sz="30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Afsluiting</a:t>
            </a:r>
            <a:endParaRPr lang="en-US" sz="300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 panose="020F050202020403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15</Slides>
  <Notes>15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15</vt:i4>
      </vt:variant>
    </vt:vector>
  </HeadingPairs>
  <TitlesOfParts>
    <vt:vector size="18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</vt:vector>
  </TitlesOfParts>
  <Company>PptxGenJS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PptxGenJS Presentation</dc:title>
  <dc:subject>PptxGenJS Presentation</dc:subject>
  <dc:creator>PptxGenJS</dc:creator>
  <cp:lastModifiedBy>PptxGenJS</cp:lastModifiedBy>
  <cp:revision>1</cp:revision>
  <dcterms:created xsi:type="dcterms:W3CDTF">2026-08-17T11:54:53Z</dcterms:created>
  <dcterms:modified xsi:type="dcterms:W3CDTF">2026-08-17T11:54:53Z</dcterms:modified>
</cp:coreProperties>
</file>