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1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377440"/>
            <a:ext cx="10332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DM Sans"/>
              </a:rPr>
              <a:t>OutSystems: Fundament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749039"/>
            <a:ext cx="103327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E9A13B"/>
                </a:solidFill>
                <a:latin typeface="DM Sans"/>
              </a:rPr>
              <a:t>Deel 1 — Wat low-code wél en niet oplost</a:t>
            </a:r>
          </a:p>
          <a:p>
            <a:pPr algn="l"/>
            <a:r>
              <a:rPr sz="2000" b="0">
                <a:solidFill>
                  <a:srgbClr val="E9A13B"/>
                </a:solidFill>
                <a:latin typeface="DM Sans"/>
              </a:rPr>
              <a:t>Meridiaan-casus: Verzuimmeldingen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563A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926080"/>
            <a:ext cx="10332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DM Sans"/>
              </a:rPr>
              <a:t>Waar dit deel in het geheel past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E9A13B"/>
                </a:solidFill>
                <a:latin typeface="DM Sans"/>
              </a:rPr>
              <a:t>De laag die nog ontbrak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73736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14213D"/>
                </a:solidFill>
                <a:latin typeface="DM Sans"/>
              </a:rPr>
              <a:t>•  Mutatieplatform levert logica (SA-cursus)</a:t>
            </a:r>
          </a:p>
          <a:p>
            <a:pPr algn="l"/>
            <a:r>
              <a:rPr sz="2000" b="0">
                <a:solidFill>
                  <a:srgbClr val="14213D"/>
                </a:solidFill>
                <a:latin typeface="DM Sans"/>
              </a:rPr>
              <a:t>•  Mutatie-API levert koppelvlak (API-cursus)</a:t>
            </a:r>
          </a:p>
          <a:p>
            <a:pPr algn="l"/>
            <a:r>
              <a:rPr sz="2000" b="0">
                <a:solidFill>
                  <a:srgbClr val="14213D"/>
                </a:solidFill>
                <a:latin typeface="DM Sans"/>
              </a:rPr>
              <a:t>•  WGP 1.0 en veertien satellieten leveren niets nieuws — die staan er al, in O11</a:t>
            </a:r>
          </a:p>
          <a:p>
            <a:pPr algn="l"/>
            <a:r>
              <a:rPr sz="2000" b="0">
                <a:solidFill>
                  <a:srgbClr val="14213D"/>
                </a:solidFill>
                <a:latin typeface="DM Sans"/>
              </a:rPr>
              <a:t>•  Deze cursus: de portaal- en applicatielaag erbovenop, in O11 én ODC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59436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99999"/>
                </a:solidFill>
                <a:latin typeface="DM Sans"/>
              </a:rPr>
              <a:t>[FIGUUR 1-1: Meridiaan-landschap — Mutatieplatform, Mutatie-API, WGP + satellieten, positie van deze cursus]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560320"/>
            <a:ext cx="103327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14213D"/>
                </a:solidFill>
                <a:latin typeface="DM Sans"/>
              </a:rPr>
              <a:t>Low-code verschuift complexiteit.</a:t>
            </a:r>
          </a:p>
          <a:p>
            <a:pPr algn="ctr"/>
            <a:r>
              <a:rPr sz="3400" b="1">
                <a:solidFill>
                  <a:srgbClr val="14213D"/>
                </a:solidFill>
                <a:latin typeface="DM Sans"/>
              </a:rPr>
              <a:t>Het elimineert haar niet.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E9A13B"/>
                </a:solidFill>
                <a:latin typeface="DM Sans"/>
              </a:rPr>
              <a:t>Wat low-code oplost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73736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14213D"/>
                </a:solidFill>
                <a:latin typeface="DM Sans"/>
              </a:rPr>
              <a:t>•  Snelheid van bouwen bij formulier- en procesgedreven apps</a:t>
            </a:r>
          </a:p>
          <a:p>
            <a:pPr algn="l"/>
            <a:r>
              <a:rPr sz="2000" b="0">
                <a:solidFill>
                  <a:srgbClr val="14213D"/>
                </a:solidFill>
                <a:latin typeface="DM Sans"/>
              </a:rPr>
              <a:t>•  Afgedwongen structuur en consistentie</a:t>
            </a:r>
          </a:p>
          <a:p>
            <a:pPr algn="l"/>
            <a:r>
              <a:rPr sz="2000" b="0">
                <a:solidFill>
                  <a:srgbClr val="14213D"/>
                </a:solidFill>
                <a:latin typeface="DM Sans"/>
              </a:rPr>
              <a:t>•  Snellere onboarding — visuele flow versus duizend regels code</a:t>
            </a:r>
          </a:p>
          <a:p>
            <a:pPr algn="l"/>
            <a:r>
              <a:rPr sz="2000" b="0">
                <a:solidFill>
                  <a:srgbClr val="14213D"/>
                </a:solidFill>
                <a:latin typeface="DM Sans"/>
              </a:rPr>
              <a:t>•  Traceerbaarheid tussen model en resultaat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E9A13B"/>
                </a:solidFill>
                <a:latin typeface="DM Sans"/>
              </a:rPr>
              <a:t>Wat low-code niet oplost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73736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14213D"/>
                </a:solidFill>
                <a:latin typeface="DM Sans"/>
              </a:rPr>
              <a:t>•  Domeincomplexiteit blijft complex</a:t>
            </a:r>
          </a:p>
          <a:p>
            <a:pPr algn="l"/>
            <a:r>
              <a:rPr sz="2000" b="0">
                <a:solidFill>
                  <a:srgbClr val="14213D"/>
                </a:solidFill>
                <a:latin typeface="DM Sans"/>
              </a:rPr>
              <a:t>•  Technische schuld bestaat ook hier</a:t>
            </a:r>
          </a:p>
          <a:p>
            <a:pPr algn="l"/>
            <a:r>
              <a:rPr sz="2000" b="0">
                <a:solidFill>
                  <a:srgbClr val="14213D"/>
                </a:solidFill>
                <a:latin typeface="DM Sans"/>
              </a:rPr>
              <a:t>•  Prestatie-eisen vragen nog steeds ontwerpkeuzes</a:t>
            </a:r>
          </a:p>
          <a:p>
            <a:pPr algn="l"/>
            <a:r>
              <a:rPr sz="2000" b="0">
                <a:solidFill>
                  <a:srgbClr val="14213D"/>
                </a:solidFill>
                <a:latin typeface="DM Sans"/>
              </a:rPr>
              <a:t>•  Het platform kiest niet voor je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E9A13B"/>
                </a:solidFill>
                <a:latin typeface="DM Sans"/>
              </a:rPr>
              <a:t>Opdracht 1.1 — Low-code herkennen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645920"/>
            <a:ext cx="108813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14213D"/>
                </a:solidFill>
                <a:latin typeface="DM Sans"/>
              </a:rPr>
              <a:t>Drie stellingen over Verzuimmeldingen.</a:t>
            </a:r>
          </a:p>
          <a:p>
            <a:pPr algn="l"/>
            <a:r>
              <a:rPr sz="2000" b="0">
                <a:solidFill>
                  <a:srgbClr val="14213D"/>
                </a:solidFill>
                <a:latin typeface="DM Sans"/>
              </a:rPr>
              <a:t>Los op door het platform, of ontwerpkeuze?</a:t>
            </a:r>
          </a:p>
          <a:p>
            <a:pPr algn="l"/>
            <a:r>
              <a:rPr sz="2000" b="0">
                <a:solidFill>
                  <a:srgbClr val="14213D"/>
                </a:solidFill>
                <a:latin typeface="DM Sans"/>
              </a:rPr>
              <a:t>→ Werkboek 1.1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563A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926080"/>
            <a:ext cx="10332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DM Sans"/>
              </a:rPr>
              <a:t>Wanneer OutSystems geen antwoord is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E9A13B"/>
                </a:solidFill>
                <a:latin typeface="DM Sans"/>
              </a:rPr>
              <a:t>Drie signalen om nee te zeggen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73736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E9A13B"/>
                </a:solidFill>
                <a:latin typeface="DM Sans"/>
              </a:rPr>
              <a:t>Opdracht 1.2 — Nee durven zeggen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645920"/>
            <a:ext cx="108813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14213D"/>
                </a:solidFill>
                <a:latin typeface="DM Sans"/>
              </a:rPr>
              <a:t>Drie toekomstige uitbreidingen bij Meridiaan.</a:t>
            </a:r>
          </a:p>
          <a:p>
            <a:pPr algn="l"/>
            <a:r>
              <a:rPr sz="2000" b="0">
                <a:solidFill>
                  <a:srgbClr val="14213D"/>
                </a:solidFill>
                <a:latin typeface="DM Sans"/>
              </a:rPr>
              <a:t>Past OutSystems hier, en waarom (niet)?</a:t>
            </a:r>
          </a:p>
          <a:p>
            <a:pPr algn="l"/>
            <a:r>
              <a:rPr sz="2000" b="0">
                <a:solidFill>
                  <a:srgbClr val="14213D"/>
                </a:solidFill>
                <a:latin typeface="DM Sans"/>
              </a:rPr>
              <a:t>→ Werkboek 1.2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563A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926080"/>
            <a:ext cx="10332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DM Sans"/>
              </a:rPr>
              <a:t>De twee platformen in vogelvlucht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4213D"/>
                </a:solidFill>
                <a:latin typeface="DM Sans"/>
              </a:rPr>
              <a:t>O11 versus ODC — eerste kennismaking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40080" y="1371600"/>
          <a:ext cx="1088136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27120"/>
                <a:gridCol w="3627120"/>
                <a:gridCol w="3627120"/>
              </a:tblGrid>
              <a:tr h="54864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 b="1"/>
                        <a:t>OutSystems 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 b="1"/>
                        <a:t>OutSystems Developer Cloud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600"/>
                        <a:t>Ontwikkelomgeving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/>
                        <a:t>Service Studio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/>
                        <a:t>ODC Studio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600"/>
                        <a:t>Lifecycle-beheer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/>
                        <a:t>LifeTime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/>
                        <a:t>ODC Portal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600"/>
                        <a:t>Deployment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/>
                        <a:t>Publish naar Environment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/>
                        <a:t>1-Click Publish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600"/>
                        <a:t>Bij Meridiaan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/>
                        <a:t>Zes jaar productie, 14 satellieten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/>
                        <a:t>Net afgesloten, nieuwbouw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560320"/>
            <a:ext cx="103327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14213D"/>
                </a:solidFill>
                <a:latin typeface="DM Sans"/>
              </a:rPr>
              <a:t>Gedeelde taal.</a:t>
            </a:r>
          </a:p>
          <a:p>
            <a:pPr algn="ctr"/>
            <a:r>
              <a:rPr sz="3400" b="1">
                <a:solidFill>
                  <a:srgbClr val="14213D"/>
                </a:solidFill>
                <a:latin typeface="DM Sans"/>
              </a:rPr>
              <a:t>Verschillende uitvoering.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E9A13B"/>
                </a:solidFill>
                <a:latin typeface="DM Sans"/>
              </a:rPr>
              <a:t>Baan A / Baan 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645920"/>
            <a:ext cx="108813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14213D"/>
                </a:solidFill>
                <a:latin typeface="DM Sans"/>
              </a:rPr>
              <a:t>A — Verkenning Service Studio (O11)</a:t>
            </a:r>
          </a:p>
          <a:p>
            <a:pPr algn="l"/>
            <a:r>
              <a:rPr sz="2000" b="0">
                <a:solidFill>
                  <a:srgbClr val="14213D"/>
                </a:solidFill>
                <a:latin typeface="DM Sans"/>
              </a:rPr>
              <a:t>B — Verkenning ODC Studio</a:t>
            </a:r>
          </a:p>
          <a:p>
            <a:pPr algn="l"/>
            <a:r>
              <a:rPr sz="2000" b="0">
                <a:solidFill>
                  <a:srgbClr val="14213D"/>
                </a:solidFill>
                <a:latin typeface="DM Sans"/>
              </a:rPr>
              <a:t>→ Werkboek, eigen baan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E9A13B"/>
                </a:solidFill>
                <a:latin typeface="DM Sans"/>
              </a:rPr>
              <a:t>Kernpunten deel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73736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14213D"/>
                </a:solidFill>
                <a:latin typeface="DM Sans"/>
              </a:rPr>
              <a:t>•  Low-code verschuift complexiteit, elimineert haar niet</a:t>
            </a:r>
          </a:p>
          <a:p>
            <a:pPr algn="l"/>
            <a:r>
              <a:rPr sz="2000" b="0">
                <a:solidFill>
                  <a:srgbClr val="14213D"/>
                </a:solidFill>
                <a:latin typeface="DM Sans"/>
              </a:rPr>
              <a:t>•  Elke architectuurkeuze blijft jouw keuze</a:t>
            </a:r>
          </a:p>
          <a:p>
            <a:pPr algn="l"/>
            <a:r>
              <a:rPr sz="2000" b="0">
                <a:solidFill>
                  <a:srgbClr val="14213D"/>
                </a:solidFill>
                <a:latin typeface="DM Sans"/>
              </a:rPr>
              <a:t>•  Drie signalen om OutSystems níét te kiezen</a:t>
            </a:r>
          </a:p>
          <a:p>
            <a:pPr algn="l"/>
            <a:r>
              <a:rPr sz="2000" b="0">
                <a:solidFill>
                  <a:srgbClr val="14213D"/>
                </a:solidFill>
                <a:latin typeface="DM Sans"/>
              </a:rPr>
              <a:t>•  O11 en ODC: gedeelde taal, eigen tooling — beide komen volledig aan bod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563A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926080"/>
            <a:ext cx="10332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DM Sans"/>
              </a:rPr>
              <a:t>Volgende deel: Platformanatomie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