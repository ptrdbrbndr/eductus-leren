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13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377440"/>
            <a:ext cx="103327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DM Sans"/>
              </a:rPr>
              <a:t>OutSystems: Vakbekwaam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749039"/>
            <a:ext cx="103327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E9A13B"/>
                </a:solidFill>
                <a:latin typeface="DM Sans"/>
              </a:rPr>
              <a:t>Deel 21 — Capstone: WGP 2.0 als landschapsontwerp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E9A13B"/>
                </a:solidFill>
                <a:latin typeface="DM Sans"/>
              </a:rPr>
              <a:t>Tien delen, één landschap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463040"/>
            <a:ext cx="50292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14213D"/>
                </a:solidFill>
                <a:latin typeface="DM Sans"/>
              </a:rPr>
              <a:t>•  Modules met eigenaarschap → performant en veilig op schaal</a:t>
            </a:r>
          </a:p>
          <a:p>
            <a:pPr algn="l"/>
            <a:r>
              <a:rPr sz="1700" b="0">
                <a:solidFill>
                  <a:srgbClr val="14213D"/>
                </a:solidFill>
                <a:latin typeface="DM Sans"/>
              </a:rPr>
              <a:t>•  Verbonden intern en extern → asynchroon waar nodig</a:t>
            </a:r>
          </a:p>
          <a:p>
            <a:pPr algn="l"/>
            <a:r>
              <a:rPr sz="1700" b="0">
                <a:solidFill>
                  <a:srgbClr val="14213D"/>
                </a:solidFill>
                <a:latin typeface="DM Sans"/>
              </a:rPr>
              <a:t>•  Beheerst uitgerold → bewust beheerd tegen technische schuld</a:t>
            </a:r>
          </a:p>
        </p:txBody>
      </p:sp>
      <p:pic>
        <p:nvPicPr>
          <p:cNvPr id="4" name="Picture 3" descr="figuur-21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2160" y="2074381"/>
            <a:ext cx="5669280" cy="3806516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563A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926080"/>
            <a:ext cx="103327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DM Sans"/>
              </a:rPr>
              <a:t>De opdracht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E9A13B"/>
                </a:solidFill>
                <a:latin typeface="DM Sans"/>
              </a:rPr>
              <a:t>Checklist: landschapsontwerp compleet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737360"/>
            <a:ext cx="10515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14213D"/>
                </a:solidFill>
                <a:latin typeface="DM Sans"/>
              </a:rPr>
              <a:t>•  Architecture Canvas, correct gelaagd</a:t>
            </a:r>
          </a:p>
          <a:p>
            <a:pPr algn="l"/>
            <a:r>
              <a:rPr sz="2000" b="0">
                <a:solidFill>
                  <a:srgbClr val="14213D"/>
                </a:solidFill>
                <a:latin typeface="DM Sans"/>
              </a:rPr>
              <a:t>•  MeridiaanMutatiesCore + MeridiaanDesignSystem werkend gedeeld</a:t>
            </a:r>
          </a:p>
          <a:p>
            <a:pPr algn="l"/>
            <a:r>
              <a:rPr sz="2000" b="0">
                <a:solidFill>
                  <a:srgbClr val="14213D"/>
                </a:solidFill>
                <a:latin typeface="DM Sans"/>
              </a:rPr>
              <a:t>•  Expliciete coëxistentiestrategie O11/ODC</a:t>
            </a:r>
          </a:p>
          <a:p>
            <a:pPr algn="l"/>
            <a:r>
              <a:rPr sz="2000" b="0">
                <a:solidFill>
                  <a:srgbClr val="14213D"/>
                </a:solidFill>
                <a:latin typeface="DM Sans"/>
              </a:rPr>
              <a:t>•  Beveiliging + audit aantoonbaar AVG-conform</a:t>
            </a:r>
          </a:p>
          <a:p>
            <a:pPr algn="l"/>
            <a:r>
              <a:rPr sz="2000" b="0">
                <a:solidFill>
                  <a:srgbClr val="14213D"/>
                </a:solidFill>
                <a:latin typeface="DM Sans"/>
              </a:rPr>
              <a:t>•  Lifecycle-opzet met rollback-scenario</a:t>
            </a:r>
          </a:p>
          <a:p>
            <a:pPr algn="l"/>
            <a:r>
              <a:rPr sz="2000" b="0">
                <a:solidFill>
                  <a:srgbClr val="14213D"/>
                </a:solidFill>
                <a:latin typeface="DM Sans"/>
              </a:rPr>
              <a:t>•  Technische-schuld-rapportage met prioritering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563A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926080"/>
            <a:ext cx="103327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DM Sans"/>
              </a:rPr>
              <a:t>De verdediging: vier rollen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E9A13B"/>
                </a:solidFill>
                <a:latin typeface="DM Sans"/>
              </a:rPr>
              <a:t>Drie bekend, één nieuw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737360"/>
            <a:ext cx="10515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14213D"/>
                </a:solidFill>
                <a:latin typeface="DM Sans"/>
              </a:rPr>
              <a:t>•  Consument — gebruiksgemak</a:t>
            </a:r>
          </a:p>
          <a:p>
            <a:pPr algn="l"/>
            <a:r>
              <a:rPr sz="2000" b="0">
                <a:solidFill>
                  <a:srgbClr val="14213D"/>
                </a:solidFill>
                <a:latin typeface="DM Sans"/>
              </a:rPr>
              <a:t>•  Beheerder — beheersbaarheid</a:t>
            </a:r>
          </a:p>
          <a:p>
            <a:pPr algn="l"/>
            <a:r>
              <a:rPr sz="2000" b="0">
                <a:solidFill>
                  <a:srgbClr val="14213D"/>
                </a:solidFill>
                <a:latin typeface="DM Sans"/>
              </a:rPr>
              <a:t>•  Stuurgroeplid — zakelijke afweging</a:t>
            </a:r>
          </a:p>
          <a:p>
            <a:pPr algn="l"/>
            <a:r>
              <a:rPr sz="2000" b="0">
                <a:solidFill>
                  <a:srgbClr val="14213D"/>
                </a:solidFill>
                <a:latin typeface="DM Sans"/>
              </a:rPr>
              <a:t>•  Privacyfunctionaris — AVG-naleving, concreet en uitvoerbaar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560320"/>
            <a:ext cx="103327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>
                <a:solidFill>
                  <a:srgbClr val="14213D"/>
                </a:solidFill>
                <a:latin typeface="DM Sans"/>
              </a:rPr>
              <a:t>Niet: is elke module perfect.</a:t>
            </a:r>
          </a:p>
          <a:p>
            <a:pPr algn="ctr"/>
            <a:r>
              <a:rPr sz="3400" b="1">
                <a:solidFill>
                  <a:srgbClr val="14213D"/>
                </a:solidFill>
                <a:latin typeface="DM Sans"/>
              </a:rPr>
              <a:t>Wél: hangt het landschap samen.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65760"/>
            <a:ext cx="10881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4213D"/>
                </a:solidFill>
                <a:latin typeface="DM Sans"/>
              </a:rPr>
              <a:t>Rubric — vijf criteria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640080" y="1097280"/>
          <a:ext cx="1088136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40680"/>
                <a:gridCol w="5440680"/>
              </a:tblGrid>
              <a:tr h="457200">
                <a:tc>
                  <a:txBody>
                    <a:bodyPr/>
                    <a:lstStyle/>
                    <a:p>
                      <a:r>
                        <a:rPr sz="1400" b="1"/>
                        <a:t>Criterium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1"/>
                        <a:t>Waar het om gaat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400"/>
                        <a:t>Architecturale samenhang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Vierlagenregel consequent toegepast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400"/>
                        <a:t>Coëxistentiestrategie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Heldere O11/ODC-verdeling, beargumenteerd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400"/>
                        <a:t>Beveiliging en AVG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Concreet, uitvoerbaar (bijv. inzageverzoek)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400"/>
                        <a:t>Omgaan met falen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Rollback mét complicaties benoemd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400"/>
                        <a:t>Zelfkritische blik op schuld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Prioritering op impact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4864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E9A13B"/>
                </a:solidFill>
                <a:latin typeface="DM Sans"/>
              </a:rPr>
              <a:t>Verdediging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645920"/>
            <a:ext cx="108813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14213D"/>
                </a:solidFill>
                <a:latin typeface="DM Sans"/>
              </a:rPr>
              <a:t>30 minuten: 15 toelichting, 15 vragen</a:t>
            </a:r>
          </a:p>
          <a:p>
            <a:pPr algn="l"/>
            <a:r>
              <a:rPr sz="2000" b="0">
                <a:solidFill>
                  <a:srgbClr val="14213D"/>
                </a:solidFill>
                <a:latin typeface="DM Sans"/>
              </a:rPr>
              <a:t>→ Werkboek, voorbereidingsvragen per rol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E9A13B"/>
                </a:solidFill>
                <a:latin typeface="DM Sans"/>
              </a:rPr>
              <a:t>Kernpunten niveau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737360"/>
            <a:ext cx="10515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14213D"/>
                </a:solidFill>
                <a:latin typeface="DM Sans"/>
              </a:rPr>
              <a:t>•  Van app naar landschap: eigenaarschap, lagen, gedeelde libraries</a:t>
            </a:r>
          </a:p>
          <a:p>
            <a:pPr algn="l"/>
            <a:r>
              <a:rPr sz="2000" b="0">
                <a:solidFill>
                  <a:srgbClr val="14213D"/>
                </a:solidFill>
                <a:latin typeface="DM Sans"/>
              </a:rPr>
              <a:t>•  Grootste platformverschil: BPT (alleen O11) vs zelfgebouwde statusmachine (ODC)</a:t>
            </a:r>
          </a:p>
          <a:p>
            <a:pPr algn="l"/>
            <a:r>
              <a:rPr sz="2000" b="0">
                <a:solidFill>
                  <a:srgbClr val="14213D"/>
                </a:solidFill>
                <a:latin typeface="DM Sans"/>
              </a:rPr>
              <a:t>•  Coëxistentie is casusrealiteit — geen tussenfase, maar een blijvend ontwerpvraagstuk</a:t>
            </a:r>
          </a:p>
          <a:p>
            <a:pPr algn="l"/>
            <a:r>
              <a:rPr sz="2000" b="0">
                <a:solidFill>
                  <a:srgbClr val="14213D"/>
                </a:solidFill>
                <a:latin typeface="DM Sans"/>
              </a:rPr>
              <a:t>•  Technische schuld: meetbaar maken en prioriteren op impact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563A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926080"/>
            <a:ext cx="103327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DM Sans"/>
              </a:rPr>
              <a:t>Niveau 3: Portfoliobesluiten, migratie, leiderschap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