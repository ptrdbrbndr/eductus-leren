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13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377440"/>
            <a:ext cx="103327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DM Sans"/>
              </a:rPr>
              <a:t>OutSystems: Vakbekwaam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749039"/>
            <a:ext cx="103327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E9A13B"/>
                </a:solidFill>
                <a:latin typeface="DM Sans"/>
              </a:rPr>
              <a:t>Deel 18 — Asynchroon: processen, batch, idempotentie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E9A13B"/>
                </a:solidFill>
                <a:latin typeface="DM Sans"/>
              </a:rPr>
              <a:t>Van statusveld naar volwassen patroon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737360"/>
            <a:ext cx="10515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14213D"/>
                </a:solidFill>
                <a:latin typeface="DM Sans"/>
              </a:rPr>
              <a:t>•  Deel 9: eenvoudig "nog te verwerken"</a:t>
            </a:r>
          </a:p>
          <a:p>
            <a:pPr algn="l"/>
            <a:r>
              <a:rPr sz="2000" b="0">
                <a:solidFill>
                  <a:srgbClr val="14213D"/>
                </a:solidFill>
                <a:latin typeface="DM Sans"/>
              </a:rPr>
              <a:t>•  Nu: mensen-in-de-lus processen, batch, retries</a:t>
            </a:r>
          </a:p>
          <a:p>
            <a:pPr algn="l"/>
            <a:r>
              <a:rPr sz="2000" b="0">
                <a:solidFill>
                  <a:srgbClr val="14213D"/>
                </a:solidFill>
                <a:latin typeface="DM Sans"/>
              </a:rPr>
              <a:t>•  Het meest wezenlijke platformverschil van niveau 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563A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926080"/>
            <a:ext cx="103327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DM Sans"/>
              </a:rPr>
              <a:t>Business Process Technology (BPT)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E9A13B"/>
                </a:solidFill>
                <a:latin typeface="DM Sans"/>
              </a:rPr>
              <a:t>O11: ingebouwd mechanisme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463040"/>
            <a:ext cx="50292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14213D"/>
                </a:solidFill>
                <a:latin typeface="DM Sans"/>
              </a:rPr>
              <a:t>•  Langlopende, mensen-in-de-lus processen</a:t>
            </a:r>
          </a:p>
          <a:p>
            <a:pPr algn="l"/>
            <a:r>
              <a:rPr sz="1700" b="0">
                <a:solidFill>
                  <a:srgbClr val="14213D"/>
                </a:solidFill>
                <a:latin typeface="DM Sans"/>
              </a:rPr>
              <a:t>•  Taaktoewijzing, wachttoestanden, escalaties</a:t>
            </a:r>
          </a:p>
          <a:p>
            <a:pPr algn="l"/>
            <a:r>
              <a:rPr sz="1700" b="0">
                <a:solidFill>
                  <a:srgbClr val="14213D"/>
                </a:solidFill>
                <a:latin typeface="DM Sans"/>
              </a:rPr>
              <a:t>•  Meerdere O11-satellieten gebouwd op BPT</a:t>
            </a:r>
          </a:p>
        </p:txBody>
      </p:sp>
      <p:pic>
        <p:nvPicPr>
          <p:cNvPr id="4" name="Picture 3" descr="figuur-18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52160" y="2519825"/>
            <a:ext cx="5669280" cy="2915629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560320"/>
            <a:ext cx="103327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>
                <a:solidFill>
                  <a:srgbClr val="14213D"/>
                </a:solidFill>
                <a:latin typeface="DM Sans"/>
              </a:rPr>
              <a:t>BPT bestaat niet in ODC.</a:t>
            </a:r>
          </a:p>
          <a:p>
            <a:pPr algn="ctr"/>
            <a:r>
              <a:rPr sz="3400" b="1">
                <a:solidFill>
                  <a:srgbClr val="14213D"/>
                </a:solidFill>
                <a:latin typeface="DM Sans"/>
              </a:rPr>
              <a:t>Geen tooling-verschil — een ander concept.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E9A13B"/>
                </a:solidFill>
                <a:latin typeface="DM Sans"/>
              </a:rPr>
              <a:t>ODC: zelfgebouwde statusmachine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463040"/>
            <a:ext cx="50292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14213D"/>
                </a:solidFill>
                <a:latin typeface="DM Sans"/>
              </a:rPr>
              <a:t>•  Statusveld + Timers + server actions</a:t>
            </a:r>
          </a:p>
          <a:p>
            <a:pPr algn="l"/>
            <a:r>
              <a:rPr sz="1700" b="0">
                <a:solidFill>
                  <a:srgbClr val="14213D"/>
                </a:solidFill>
                <a:latin typeface="DM Sans"/>
              </a:rPr>
              <a:t>•  Taken-overzicht: zelf te bouwen scherm</a:t>
            </a:r>
          </a:p>
          <a:p>
            <a:pPr algn="l"/>
            <a:r>
              <a:rPr sz="1700" b="0">
                <a:solidFill>
                  <a:srgbClr val="14213D"/>
                </a:solidFill>
                <a:latin typeface="DM Sans"/>
              </a:rPr>
              <a:t>•  Migratie: herontwerp, geen één-op-één overzet</a:t>
            </a:r>
          </a:p>
        </p:txBody>
      </p:sp>
      <p:pic>
        <p:nvPicPr>
          <p:cNvPr id="4" name="Picture 3" descr="figuur-18-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52160" y="2519825"/>
            <a:ext cx="5669280" cy="2915629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48640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E9A13B"/>
                </a:solidFill>
                <a:latin typeface="DM Sans"/>
              </a:rPr>
              <a:t>Opdracht 18.1 — BPT, statusmachine, of geen van beide?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645920"/>
            <a:ext cx="108813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14213D"/>
                </a:solidFill>
                <a:latin typeface="DM Sans"/>
              </a:rPr>
              <a:t>Drie situaties.</a:t>
            </a:r>
          </a:p>
          <a:p>
            <a:pPr algn="l"/>
            <a:r>
              <a:rPr sz="2000" b="0">
                <a:solidFill>
                  <a:srgbClr val="14213D"/>
                </a:solidFill>
                <a:latin typeface="DM Sans"/>
              </a:rPr>
              <a:t>→ Werkboek 18.1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48640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E9A13B"/>
                </a:solidFill>
                <a:latin typeface="DM Sans"/>
              </a:rPr>
              <a:t>Baan A / Baan B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645920"/>
            <a:ext cx="108813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14213D"/>
                </a:solidFill>
                <a:latin typeface="DM Sans"/>
              </a:rPr>
              <a:t>A — BPT-proces bouwen in Service Studio</a:t>
            </a:r>
          </a:p>
          <a:p>
            <a:pPr algn="l"/>
            <a:r>
              <a:rPr sz="2000" b="0">
                <a:solidFill>
                  <a:srgbClr val="14213D"/>
                </a:solidFill>
                <a:latin typeface="DM Sans"/>
              </a:rPr>
              <a:t>B — Statusmachine + taken-scherm bouwen in ODC Studio</a:t>
            </a:r>
          </a:p>
          <a:p>
            <a:pPr algn="l"/>
            <a:r>
              <a:rPr sz="2000" b="0">
                <a:solidFill>
                  <a:srgbClr val="14213D"/>
                </a:solidFill>
                <a:latin typeface="DM Sans"/>
              </a:rPr>
              <a:t>→ Werkboek, eigen baan — het contrast zelf is het leerdoel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563A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926080"/>
            <a:ext cx="103327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DM Sans"/>
              </a:rPr>
              <a:t>Batch-verwerking en idempotentie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E9A13B"/>
                </a:solidFill>
                <a:latin typeface="DM Sans"/>
              </a:rPr>
              <a:t>Idempotentie: veilig herhalen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737360"/>
            <a:ext cx="10515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14213D"/>
                </a:solidFill>
                <a:latin typeface="DM Sans"/>
              </a:rPr>
              <a:t>•  Meerdere keren uitvoeren ≠ ander of dubbel resultaat</a:t>
            </a:r>
          </a:p>
          <a:p>
            <a:pPr algn="l"/>
            <a:r>
              <a:rPr sz="2000" b="0">
                <a:solidFill>
                  <a:srgbClr val="14213D"/>
                </a:solidFill>
                <a:latin typeface="DM Sans"/>
              </a:rPr>
              <a:t>•  Unieke identifier per aanroep</a:t>
            </a:r>
          </a:p>
          <a:p>
            <a:pPr algn="l"/>
            <a:r>
              <a:rPr sz="2000" b="0">
                <a:solidFill>
                  <a:srgbClr val="14213D"/>
                </a:solidFill>
                <a:latin typeface="DM Sans"/>
              </a:rPr>
              <a:t>•  Ontvangende kant controleert al-verwerkt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48640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E9A13B"/>
                </a:solidFill>
                <a:latin typeface="DM Sans"/>
              </a:rPr>
              <a:t>Reflectieopdracht 18.2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645920"/>
            <a:ext cx="108813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14213D"/>
                </a:solidFill>
                <a:latin typeface="DM Sans"/>
              </a:rPr>
              <a:t>Waarom weegt dit zwaarder dan het gebruikersbeheer-verschil?</a:t>
            </a:r>
          </a:p>
          <a:p>
            <a:pPr algn="l"/>
            <a:r>
              <a:rPr sz="2000" b="0">
                <a:solidFill>
                  <a:srgbClr val="14213D"/>
                </a:solidFill>
                <a:latin typeface="DM Sans"/>
              </a:rPr>
              <a:t>→ Werkboek 18.2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E9A13B"/>
                </a:solidFill>
                <a:latin typeface="DM Sans"/>
              </a:rPr>
              <a:t>Kernpunten deel 18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737360"/>
            <a:ext cx="10515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14213D"/>
                </a:solidFill>
                <a:latin typeface="DM Sans"/>
              </a:rPr>
              <a:t>•  BPT: alleen O11, geen ODC-equivalent — fundamenteel verschil</a:t>
            </a:r>
          </a:p>
          <a:p>
            <a:pPr algn="l"/>
            <a:r>
              <a:rPr sz="2000" b="0">
                <a:solidFill>
                  <a:srgbClr val="14213D"/>
                </a:solidFill>
                <a:latin typeface="DM Sans"/>
              </a:rPr>
              <a:t>•  ODC: statusmachine zelf bouwen, taken-overzicht zelf ontwerpen</a:t>
            </a:r>
          </a:p>
          <a:p>
            <a:pPr algn="l"/>
            <a:r>
              <a:rPr sz="2000" b="0">
                <a:solidFill>
                  <a:srgbClr val="14213D"/>
                </a:solidFill>
                <a:latin typeface="DM Sans"/>
              </a:rPr>
              <a:t>•  Batch: dezelfde pagineringsdiscipline als reguliere queries</a:t>
            </a:r>
          </a:p>
          <a:p>
            <a:pPr algn="l"/>
            <a:r>
              <a:rPr sz="2000" b="0">
                <a:solidFill>
                  <a:srgbClr val="14213D"/>
                </a:solidFill>
                <a:latin typeface="DM Sans"/>
              </a:rPr>
              <a:t>•  Idempotentie: verplicht bij elke retry of batch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563A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926080"/>
            <a:ext cx="103327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DM Sans"/>
              </a:rPr>
              <a:t>Volgende deel: Lifecycle en DevOps (2 dagdelen)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