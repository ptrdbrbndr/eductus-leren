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13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377440"/>
            <a:ext cx="10332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DM Sans"/>
              </a:rPr>
              <a:t>OutSystems: Vakbekwaam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749039"/>
            <a:ext cx="103327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E9A13B"/>
                </a:solidFill>
                <a:latin typeface="DM Sans"/>
              </a:rPr>
              <a:t>Deel 16 — Integratie op schaal: externe systemen, foutafhandeling, retries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E9A13B"/>
                </a:solidFill>
                <a:latin typeface="DM Sans"/>
              </a:rPr>
              <a:t>Van één API naar een landschap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73736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14213D"/>
                </a:solidFill>
                <a:latin typeface="DM Sans"/>
              </a:rPr>
              <a:t>•  Deel 9: Verzuimmeldingen → Mutatie-API</a:t>
            </a:r>
          </a:p>
          <a:p>
            <a:pPr algn="l"/>
            <a:r>
              <a:rPr sz="2000" b="0">
                <a:solidFill>
                  <a:srgbClr val="14213D"/>
                </a:solidFill>
                <a:latin typeface="DM Sans"/>
              </a:rPr>
              <a:t>•  Nu: Mutatieplatform + extern HR-systeem + legacy on-premise</a:t>
            </a:r>
          </a:p>
          <a:p>
            <a:pPr algn="l"/>
            <a:r>
              <a:rPr sz="2000" b="0">
                <a:solidFill>
                  <a:srgbClr val="14213D"/>
                </a:solidFill>
                <a:latin typeface="DM Sans"/>
              </a:rPr>
              <a:t>•  Legacy zonder REST-interface: hét scheidingspunt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563A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926080"/>
            <a:ext cx="10332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DM Sans"/>
              </a:rPr>
              <a:t>Integration Studio (O11)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E9A13B"/>
                </a:solidFill>
                <a:latin typeface="DM Sans"/>
              </a:rPr>
              <a:t>Legacy ontsluiten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463040"/>
            <a:ext cx="50292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4213D"/>
                </a:solidFill>
                <a:latin typeface="DM Sans"/>
              </a:rPr>
              <a:t>•  Apart hulpmiddel binnen de O11-toolset</a:t>
            </a:r>
          </a:p>
          <a:p>
            <a:pPr algn="l"/>
            <a:r>
              <a:rPr sz="1700" b="0">
                <a:solidFill>
                  <a:srgbClr val="14213D"/>
                </a:solidFill>
                <a:latin typeface="DM Sans"/>
              </a:rPr>
              <a:t>•  Connector naar .NET-component, stored procedure, SOAP</a:t>
            </a:r>
          </a:p>
          <a:p>
            <a:pPr algn="l"/>
            <a:r>
              <a:rPr sz="1700" b="0">
                <a:solidFill>
                  <a:srgbClr val="14213D"/>
                </a:solidFill>
                <a:latin typeface="DM Sans"/>
              </a:rPr>
              <a:t>•  Genereert extension, bruikbaar als gewone actie</a:t>
            </a:r>
          </a:p>
        </p:txBody>
      </p:sp>
      <p:pic>
        <p:nvPicPr>
          <p:cNvPr id="4" name="Picture 3" descr="figuur-16-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2160" y="2519825"/>
            <a:ext cx="5669280" cy="2915629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563A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926080"/>
            <a:ext cx="10332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DM Sans"/>
              </a:rPr>
              <a:t>Connectors in ODC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560320"/>
            <a:ext cx="103327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14213D"/>
                </a:solidFill>
                <a:latin typeface="DM Sans"/>
              </a:rPr>
              <a:t>ODC kent geen Integration Studio.</a:t>
            </a:r>
          </a:p>
          <a:p>
            <a:pPr algn="ctr"/>
            <a:r>
              <a:rPr sz="3400" b="1">
                <a:solidFill>
                  <a:srgbClr val="14213D"/>
                </a:solidFill>
                <a:latin typeface="DM Sans"/>
              </a:rPr>
              <a:t>Dat is een keuze, geen gat.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E9A13B"/>
                </a:solidFill>
                <a:latin typeface="DM Sans"/>
              </a:rPr>
              <a:t>De tussenlaag-oplossing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463040"/>
            <a:ext cx="50292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4213D"/>
                </a:solidFill>
                <a:latin typeface="DM Sans"/>
              </a:rPr>
              <a:t>•  ODC: API-gebaseerde integratie als uitgangspunt</a:t>
            </a:r>
          </a:p>
          <a:p>
            <a:pPr algn="l"/>
            <a:r>
              <a:rPr sz="1700" b="0">
                <a:solidFill>
                  <a:srgbClr val="14213D"/>
                </a:solidFill>
                <a:latin typeface="DM Sans"/>
              </a:rPr>
              <a:t>•  Legacy zonder REST: wrapper nodig (vaak gebouwd in O11)</a:t>
            </a:r>
          </a:p>
          <a:p>
            <a:pPr algn="l"/>
            <a:r>
              <a:rPr sz="1700" b="0">
                <a:solidFill>
                  <a:srgbClr val="14213D"/>
                </a:solidFill>
                <a:latin typeface="DM Sans"/>
              </a:rPr>
              <a:t>•  O11 en ODC: complementair, niet concurrerend</a:t>
            </a:r>
          </a:p>
        </p:txBody>
      </p:sp>
      <p:pic>
        <p:nvPicPr>
          <p:cNvPr id="4" name="Picture 3" descr="figuur-16-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2160" y="2519825"/>
            <a:ext cx="5669280" cy="2915629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0"/>
            <a:ext cx="10881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E9A13B"/>
                </a:solidFill>
                <a:latin typeface="DM Sans"/>
              </a:rPr>
              <a:t>Opdracht 16.1 — Welk mechanisme past hier?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645920"/>
            <a:ext cx="108813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14213D"/>
                </a:solidFill>
                <a:latin typeface="DM Sans"/>
              </a:rPr>
              <a:t>Drie integratiesituaties.</a:t>
            </a:r>
          </a:p>
          <a:p>
            <a:pPr algn="l"/>
            <a:r>
              <a:rPr sz="2000" b="0">
                <a:solidFill>
                  <a:srgbClr val="14213D"/>
                </a:solidFill>
                <a:latin typeface="DM Sans"/>
              </a:rPr>
              <a:t>→ Werkboek 16.1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0"/>
            <a:ext cx="10881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E9A13B"/>
                </a:solidFill>
                <a:latin typeface="DM Sans"/>
              </a:rPr>
              <a:t>Baan A / Baan 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645920"/>
            <a:ext cx="108813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14213D"/>
                </a:solidFill>
                <a:latin typeface="DM Sans"/>
              </a:rPr>
              <a:t>A — Legacy ontsluiten met Integration Studio</a:t>
            </a:r>
          </a:p>
          <a:p>
            <a:pPr algn="l"/>
            <a:r>
              <a:rPr sz="2000" b="0">
                <a:solidFill>
                  <a:srgbClr val="14213D"/>
                </a:solidFill>
                <a:latin typeface="DM Sans"/>
              </a:rPr>
              <a:t>B — Tussenlaag ontwerpen richting ODC</a:t>
            </a:r>
          </a:p>
          <a:p>
            <a:pPr algn="l"/>
            <a:r>
              <a:rPr sz="2000" b="0">
                <a:solidFill>
                  <a:srgbClr val="14213D"/>
                </a:solidFill>
                <a:latin typeface="DM Sans"/>
              </a:rPr>
              <a:t>→ Werkboek, eigen baan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563A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926080"/>
            <a:ext cx="10332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DM Sans"/>
              </a:rPr>
              <a:t>Foutafhandeling en retries op schaal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E9A13B"/>
                </a:solidFill>
                <a:latin typeface="DM Sans"/>
              </a:rPr>
              <a:t>Consistent, niet ad-hoc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73736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14213D"/>
                </a:solidFill>
                <a:latin typeface="DM Sans"/>
              </a:rPr>
              <a:t>•  Vast aantal pogingen, oplopende wachttijd</a:t>
            </a:r>
          </a:p>
          <a:p>
            <a:pPr algn="l"/>
            <a:r>
              <a:rPr sz="2000" b="0">
                <a:solidFill>
                  <a:srgbClr val="14213D"/>
                </a:solidFill>
                <a:latin typeface="DM Sans"/>
              </a:rPr>
              <a:t>•  Gedeelde Timer-configuratie in de Core-laag</a:t>
            </a:r>
          </a:p>
          <a:p>
            <a:pPr algn="l"/>
            <a:r>
              <a:rPr sz="2000" b="0">
                <a:solidFill>
                  <a:srgbClr val="14213D"/>
                </a:solidFill>
                <a:latin typeface="DM Sans"/>
              </a:rPr>
              <a:t>•  Voorproefje van deel 18 (asynchroon)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0"/>
            <a:ext cx="10881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E9A13B"/>
                </a:solidFill>
                <a:latin typeface="DM Sans"/>
              </a:rPr>
              <a:t>Reflectieopdracht 16.2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645920"/>
            <a:ext cx="108813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14213D"/>
                </a:solidFill>
                <a:latin typeface="DM Sans"/>
              </a:rPr>
              <a:t>Waarom is dit geen tekortkoming van ODC?</a:t>
            </a:r>
          </a:p>
          <a:p>
            <a:pPr algn="l"/>
            <a:r>
              <a:rPr sz="2000" b="0">
                <a:solidFill>
                  <a:srgbClr val="14213D"/>
                </a:solidFill>
                <a:latin typeface="DM Sans"/>
              </a:rPr>
              <a:t>→ Werkboek 16.2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E9A13B"/>
                </a:solidFill>
                <a:latin typeface="DM Sans"/>
              </a:rPr>
              <a:t>Kernpunten deel 16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73736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14213D"/>
                </a:solidFill>
                <a:latin typeface="DM Sans"/>
              </a:rPr>
              <a:t>•  Landschapsschaal: meerdere integraties, niet één</a:t>
            </a:r>
          </a:p>
          <a:p>
            <a:pPr algn="l"/>
            <a:r>
              <a:rPr sz="2000" b="0">
                <a:solidFill>
                  <a:srgbClr val="14213D"/>
                </a:solidFill>
                <a:latin typeface="DM Sans"/>
              </a:rPr>
              <a:t>•  Integration Studio (O11) vs tussenlaag-noodzaak (ODC) — structureel verschil</a:t>
            </a:r>
          </a:p>
          <a:p>
            <a:pPr algn="l"/>
            <a:r>
              <a:rPr sz="2000" b="0">
                <a:solidFill>
                  <a:srgbClr val="14213D"/>
                </a:solidFill>
                <a:latin typeface="DM Sans"/>
              </a:rPr>
              <a:t>•  O11 en ODC kunnen complementair samenwerken in coëxistentie</a:t>
            </a:r>
          </a:p>
          <a:p>
            <a:pPr algn="l"/>
            <a:r>
              <a:rPr sz="2000" b="0">
                <a:solidFill>
                  <a:srgbClr val="14213D"/>
                </a:solidFill>
                <a:latin typeface="DM Sans"/>
              </a:rPr>
              <a:t>•  Retry-strategie: gedeeld en consistent, niet per module uitgevonden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563A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926080"/>
            <a:ext cx="10332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DM Sans"/>
              </a:rPr>
              <a:t>Volgende deel: Beveiliging serieus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