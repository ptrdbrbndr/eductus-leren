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A5F"/>
          </a:solidFill>
          <a:ln/>
        </p:spPr>
      </p:sp>
      <p:sp>
        <p:nvSpPr>
          <p:cNvPr id="3" name="Text 1"/>
          <p:cNvSpPr/>
          <p:nvPr/>
        </p:nvSpPr>
        <p:spPr>
          <a:xfrm>
            <a:off x="822960" y="2148840"/>
            <a:ext cx="10058400" cy="457200"/>
          </a:xfrm>
          <a:prstGeom prst="rect">
            <a:avLst/>
          </a:prstGeom>
          <a:noFill/>
          <a:ln/>
        </p:spPr>
        <p:txBody>
          <a:bodyPr wrap="square" rtlCol="0" anchor="ctr"/>
          <a:lstStyle/>
          <a:p>
            <a:pPr indent="0" marL="0">
              <a:buNone/>
            </a:pPr>
            <a:r>
              <a:rPr lang="en-US" sz="1500" b="1" spc="200" kern="0" dirty="0">
                <a:solidFill>
                  <a:srgbClr val="9FB3CC"/>
                </a:solidFill>
                <a:latin typeface="Calibri" pitchFamily="34" charset="0"/>
                <a:ea typeface="Calibri" pitchFamily="34" charset="-122"/>
                <a:cs typeface="Calibri" pitchFamily="34" charset="-120"/>
              </a:rPr>
              <a:t>NIVEAU 2 · DEEL 13</a:t>
            </a:r>
            <a:endParaRPr lang="en-US" sz="1500" dirty="0"/>
          </a:p>
        </p:txBody>
      </p:sp>
      <p:sp>
        <p:nvSpPr>
          <p:cNvPr id="4" name="Text 2"/>
          <p:cNvSpPr/>
          <p:nvPr/>
        </p:nvSpPr>
        <p:spPr>
          <a:xfrm>
            <a:off x="777240" y="2560320"/>
            <a:ext cx="10515600" cy="155448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Microservicesarchitectuur</a:t>
            </a:r>
            <a:endParaRPr lang="en-US" sz="4400" dirty="0"/>
          </a:p>
        </p:txBody>
      </p:sp>
      <p:sp>
        <p:nvSpPr>
          <p:cNvPr id="5" name="Text 3"/>
          <p:cNvSpPr/>
          <p:nvPr/>
        </p:nvSpPr>
        <p:spPr>
          <a:xfrm>
            <a:off x="822960" y="4160520"/>
            <a:ext cx="10058400" cy="457200"/>
          </a:xfrm>
          <a:prstGeom prst="rect">
            <a:avLst/>
          </a:prstGeom>
          <a:noFill/>
          <a:ln/>
        </p:spPr>
        <p:txBody>
          <a:bodyPr wrap="square" rtlCol="0" anchor="ctr"/>
          <a:lstStyle/>
          <a:p>
            <a:pPr indent="0" marL="0">
              <a:buNone/>
            </a:pPr>
            <a:r>
              <a:rPr lang="en-US" sz="1800" dirty="0">
                <a:solidFill>
                  <a:srgbClr val="C7D3E0"/>
                </a:solidFill>
                <a:latin typeface="Calibri" pitchFamily="34" charset="0"/>
                <a:ea typeface="Calibri" pitchFamily="34" charset="-122"/>
                <a:cs typeface="Calibri" pitchFamily="34" charset="-120"/>
              </a:rPr>
              <a:t>Splitsen: wanneer, waarlangs, en wat het kost · Competentiegebied: technologisch</a:t>
            </a:r>
            <a:endParaRPr lang="en-US" sz="1800" dirty="0"/>
          </a:p>
        </p:txBody>
      </p:sp>
      <p:sp>
        <p:nvSpPr>
          <p:cNvPr id="6" name="Text 4"/>
          <p:cNvSpPr/>
          <p:nvPr/>
        </p:nvSpPr>
        <p:spPr>
          <a:xfrm>
            <a:off x="822960" y="6263640"/>
            <a:ext cx="10058400" cy="365760"/>
          </a:xfrm>
          <a:prstGeom prst="rect">
            <a:avLst/>
          </a:prstGeom>
          <a:noFill/>
          <a:ln/>
        </p:spPr>
        <p:txBody>
          <a:bodyPr wrap="square" rtlCol="0" anchor="ctr"/>
          <a:lstStyle/>
          <a:p>
            <a:pPr indent="0" marL="0">
              <a:buNone/>
            </a:pPr>
            <a:r>
              <a:rPr lang="en-US" sz="1200" dirty="0">
                <a:solidFill>
                  <a:srgbClr val="7C93AE"/>
                </a:solidFill>
                <a:latin typeface="Calibri" pitchFamily="34" charset="0"/>
                <a:ea typeface="Calibri" pitchFamily="34" charset="-122"/>
                <a:cs typeface="Calibri" pitchFamily="34" charset="-120"/>
              </a:rPr>
              <a:t>Ductus B.V. · voorbereiding CPSA-Advanced</a:t>
            </a:r>
            <a:endParaRPr lang="en-US" sz="1200" dirty="0"/>
          </a:p>
        </p:txBody>
      </p:sp>
      <p:sp>
        <p:nvSpPr>
          <p:cNvPr id="7" name="Shape 5"/>
          <p:cNvSpPr/>
          <p:nvPr/>
        </p:nvSpPr>
        <p:spPr>
          <a:xfrm>
            <a:off x="9966960" y="548640"/>
            <a:ext cx="1828800" cy="1828800"/>
          </a:xfrm>
          <a:prstGeom prst="ellipse">
            <a:avLst/>
          </a:prstGeom>
          <a:ln w="19050">
            <a:solidFill>
              <a:srgbClr val="4A6789"/>
            </a:solidFill>
            <a:prstDash val="solid"/>
          </a:ln>
        </p:spPr>
      </p:sp>
      <p:sp>
        <p:nvSpPr>
          <p:cNvPr id="8" name="Shape 6"/>
          <p:cNvSpPr/>
          <p:nvPr/>
        </p:nvSpPr>
        <p:spPr>
          <a:xfrm>
            <a:off x="10515600" y="4572000"/>
            <a:ext cx="1005840" cy="1005840"/>
          </a:xfrm>
          <a:prstGeom prst="ellipse">
            <a:avLst/>
          </a:prstGeom>
          <a:ln w="19050">
            <a:solidFill>
              <a:srgbClr val="4A678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83F"/>
        </a:solidFill>
      </p:bgPr>
    </p:bg>
    <p:spTree>
      <p:nvGrpSpPr>
        <p:cNvPr id="1" name=""/>
        <p:cNvGrpSpPr/>
        <p:nvPr/>
      </p:nvGrpSpPr>
      <p:grpSpPr>
        <a:xfrm>
          <a:off x="0" y="0"/>
          <a:ext cx="0" cy="0"/>
          <a:chOff x="0" y="0"/>
          <a:chExt cx="0" cy="0"/>
        </a:xfrm>
      </p:grpSpPr>
      <p:sp>
        <p:nvSpPr>
          <p:cNvPr id="2" name="Text 0"/>
          <p:cNvSpPr/>
          <p:nvPr/>
        </p:nvSpPr>
        <p:spPr>
          <a:xfrm>
            <a:off x="822960" y="2788920"/>
            <a:ext cx="10058400" cy="457200"/>
          </a:xfrm>
          <a:prstGeom prst="rect">
            <a:avLst/>
          </a:prstGeom>
          <a:noFill/>
          <a:ln/>
        </p:spPr>
        <p:txBody>
          <a:bodyPr wrap="square" rtlCol="0" anchor="ctr"/>
          <a:lstStyle/>
          <a:p>
            <a:pPr indent="0" marL="0">
              <a:buNone/>
            </a:pPr>
            <a:r>
              <a:rPr lang="en-US" sz="1400" b="1" spc="200" kern="0" dirty="0">
                <a:solidFill>
                  <a:srgbClr val="8FA6C2"/>
                </a:solidFill>
                <a:latin typeface="Calibri" pitchFamily="34" charset="0"/>
                <a:ea typeface="Calibri" pitchFamily="34" charset="-122"/>
                <a:cs typeface="Calibri" pitchFamily="34" charset="-120"/>
              </a:rPr>
              <a:t>Deel 13</a:t>
            </a:r>
            <a:endParaRPr lang="en-US" sz="1400" dirty="0"/>
          </a:p>
        </p:txBody>
      </p:sp>
      <p:sp>
        <p:nvSpPr>
          <p:cNvPr id="3" name="Text 1"/>
          <p:cNvSpPr/>
          <p:nvPr/>
        </p:nvSpPr>
        <p:spPr>
          <a:xfrm>
            <a:off x="777240" y="3154680"/>
            <a:ext cx="10515600" cy="146304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Sprint 9</a:t>
            </a:r>
            <a:endParaRPr lang="en-US" sz="3800" dirty="0"/>
          </a:p>
        </p:txBody>
      </p:sp>
      <p:sp>
        <p:nvSpPr>
          <p:cNvPr id="4" name="Text 2"/>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rtlCol="0" anchor="ctr"/>
          <a:lstStyle/>
          <a:p>
            <a:pPr indent="0" marL="0">
              <a:buNone/>
            </a:pPr>
            <a:r>
              <a:rPr lang="en-US" sz="3000" b="1" dirty="0">
                <a:solidFill>
                  <a:srgbClr val="1F3A5F"/>
                </a:solidFill>
                <a:latin typeface="Calibri" pitchFamily="34" charset="0"/>
                <a:ea typeface="Calibri" pitchFamily="34" charset="-122"/>
                <a:cs typeface="Calibri" pitchFamily="34" charset="-120"/>
              </a:rPr>
              <a:t>Meridiaan neemt een fonds over</a:t>
            </a:r>
            <a:endParaRPr lang="en-US" sz="3000" dirty="0"/>
          </a:p>
        </p:txBody>
      </p:sp>
      <p:sp>
        <p:nvSpPr>
          <p:cNvPr id="3" name="Text 1"/>
          <p:cNvSpPr/>
          <p:nvPr/>
        </p:nvSpPr>
        <p:spPr>
          <a:xfrm>
            <a:off x="685800" y="1600200"/>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4" name="Text 2"/>
          <p:cNvSpPr/>
          <p:nvPr/>
        </p:nvSpPr>
        <p:spPr>
          <a:xfrm>
            <a:off x="1005840" y="1600200"/>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60.000 extra deelnemers</a:t>
            </a:r>
            <a:endParaRPr lang="en-US" sz="1800" dirty="0"/>
          </a:p>
        </p:txBody>
      </p:sp>
      <p:sp>
        <p:nvSpPr>
          <p:cNvPr id="5" name="Text 3"/>
          <p:cNvSpPr/>
          <p:nvPr/>
        </p:nvSpPr>
        <p:spPr>
          <a:xfrm>
            <a:off x="685800" y="2496312"/>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05840" y="2496312"/>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Een derde ontwikkelteam</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vanaf het volgende kwartaal</a:t>
            </a:r>
            <a:endParaRPr lang="en-US" sz="1800" dirty="0"/>
          </a:p>
        </p:txBody>
      </p:sp>
      <p:sp>
        <p:nvSpPr>
          <p:cNvPr id="7" name="Text 5"/>
          <p:cNvSpPr/>
          <p:nvPr/>
        </p:nvSpPr>
        <p:spPr>
          <a:xfrm>
            <a:off x="685800" y="3392424"/>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005840" y="3392424"/>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Werkgeversaanlevering tijdens de conversie:</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niet 4.000 maar 200.000 mutaties per nacht</a:t>
            </a:r>
            <a:endParaRPr lang="en-US" sz="1800" dirty="0"/>
          </a:p>
        </p:txBody>
      </p:sp>
      <p:sp>
        <p:nvSpPr>
          <p:cNvPr id="9" name="Text 7"/>
          <p:cNvSpPr/>
          <p:nvPr/>
        </p:nvSpPr>
        <p:spPr>
          <a:xfrm>
            <a:off x="685800" y="4288536"/>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005840" y="4288536"/>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De programmadirecteur:</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“moeten we nu splitsen?”</a:t>
            </a:r>
            <a:endParaRPr lang="en-US" sz="1800" dirty="0"/>
          </a:p>
        </p:txBody>
      </p:sp>
      <p:sp>
        <p:nvSpPr>
          <p:cNvPr id="11" name="Text 9"/>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12" name="Text 10"/>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548640"/>
            <a:ext cx="1463040" cy="1463040"/>
          </a:xfrm>
          <a:prstGeom prst="ellipse">
            <a:avLst/>
          </a:prstGeom>
          <a:solidFill>
            <a:srgbClr val="E5E7EB"/>
          </a:solidFill>
          <a:ln/>
        </p:spPr>
      </p:sp>
      <p:sp>
        <p:nvSpPr>
          <p:cNvPr id="3" name="Text 1"/>
          <p:cNvSpPr/>
          <p:nvPr/>
        </p:nvSpPr>
        <p:spPr>
          <a:xfrm>
            <a:off x="548640" y="320040"/>
            <a:ext cx="1097280" cy="1097280"/>
          </a:xfrm>
          <a:prstGeom prst="rect">
            <a:avLst/>
          </a:prstGeom>
          <a:noFill/>
          <a:ln/>
        </p:spPr>
        <p:txBody>
          <a:bodyPr wrap="square" rtlCol="0" anchor="ctr"/>
          <a:lstStyle/>
          <a:p>
            <a:pPr indent="0" marL="0">
              <a:buNone/>
            </a:pPr>
            <a:r>
              <a:rPr lang="en-US" sz="7200" b="1" dirty="0">
                <a:solidFill>
                  <a:srgbClr val="E5E7EB"/>
                </a:solidFill>
                <a:latin typeface="Georgia" pitchFamily="34" charset="0"/>
                <a:ea typeface="Georgia" pitchFamily="34" charset="-122"/>
                <a:cs typeface="Georgia" pitchFamily="34" charset="-120"/>
              </a:rPr>
              <a:t>“</a:t>
            </a:r>
            <a:endParaRPr lang="en-US" sz="7200" dirty="0"/>
          </a:p>
        </p:txBody>
      </p:sp>
      <p:sp>
        <p:nvSpPr>
          <p:cNvPr id="4" name="Text 2"/>
          <p:cNvSpPr/>
          <p:nvPr/>
        </p:nvSpPr>
        <p:spPr>
          <a:xfrm>
            <a:off x="914400" y="1828800"/>
            <a:ext cx="10058400" cy="1463040"/>
          </a:xfrm>
          <a:prstGeom prst="rect">
            <a:avLst/>
          </a:prstGeom>
          <a:noFill/>
          <a:ln/>
        </p:spPr>
        <p:txBody>
          <a:bodyPr wrap="square" rtlCol="0" anchor="ctr"/>
          <a:lstStyle/>
          <a:p>
            <a:pPr indent="0" marL="0">
              <a:buNone/>
            </a:pPr>
            <a:r>
              <a:rPr lang="en-US" sz="3000" b="1" dirty="0">
                <a:solidFill>
                  <a:srgbClr val="1F3A5F"/>
                </a:solidFill>
                <a:latin typeface="Calibri" pitchFamily="34" charset="0"/>
                <a:ea typeface="Calibri" pitchFamily="34" charset="-122"/>
                <a:cs typeface="Calibri" pitchFamily="34" charset="-120"/>
              </a:rPr>
              <a:t>“Deze keuze wordt heroverwogen zodra het aantal teams boven de vier komt, zodra een module meer dan tienvoudige capaciteit vraagt, of zodra een module een beschikbaarheidseis krijgt die de rest niet heeft.”</a:t>
            </a:r>
            <a:endParaRPr lang="en-US" sz="3000" dirty="0"/>
          </a:p>
        </p:txBody>
      </p:sp>
      <p:sp>
        <p:nvSpPr>
          <p:cNvPr id="5" name="Text 3"/>
          <p:cNvSpPr/>
          <p:nvPr/>
        </p:nvSpPr>
        <p:spPr>
          <a:xfrm>
            <a:off x="914400" y="3246120"/>
            <a:ext cx="10058400" cy="914400"/>
          </a:xfrm>
          <a:prstGeom prst="rect">
            <a:avLst/>
          </a:prstGeom>
          <a:noFill/>
          <a:ln/>
        </p:spPr>
        <p:txBody>
          <a:bodyPr wrap="square" rtlCol="0" anchor="ctr"/>
          <a:lstStyle/>
          <a:p>
            <a:pPr indent="0" marL="0">
              <a:buNone/>
            </a:pPr>
            <a:r>
              <a:rPr lang="en-US" sz="1700" dirty="0">
                <a:solidFill>
                  <a:srgbClr val="1F2937"/>
                </a:solidFill>
                <a:latin typeface="Calibri" pitchFamily="34" charset="0"/>
                <a:ea typeface="Calibri" pitchFamily="34" charset="-122"/>
                <a:cs typeface="Calibri" pitchFamily="34" charset="-120"/>
              </a:rPr>
              <a:t>Uw ADR uit niveau 1, deel 5.</a:t>
            </a:r>
            <a:endParaRPr lang="en-US" sz="1700" dirty="0"/>
          </a:p>
        </p:txBody>
      </p:sp>
      <p:sp>
        <p:nvSpPr>
          <p:cNvPr id="6" name="Text 4"/>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7" name="Text 5"/>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14400" y="233172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De herzieningsgrens werkt.</a:t>
            </a:r>
            <a:endParaRPr lang="en-US" sz="3000" dirty="0"/>
          </a:p>
        </p:txBody>
      </p:sp>
      <p:sp>
        <p:nvSpPr>
          <p:cNvPr id="3" name="Text 1"/>
          <p:cNvSpPr/>
          <p:nvPr/>
        </p:nvSpPr>
        <p:spPr>
          <a:xfrm>
            <a:off x="914400" y="32004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Er vindt een gestructureerd gesprek plaats in plaats van een reflex.</a:t>
            </a:r>
            <a:endParaRPr lang="en-US" sz="2000" dirty="0"/>
          </a:p>
        </p:txBody>
      </p:sp>
      <p:sp>
        <p:nvSpPr>
          <p:cNvPr id="4" name="Text 2"/>
          <p:cNvSpPr/>
          <p:nvPr/>
        </p:nvSpPr>
        <p:spPr>
          <a:xfrm>
            <a:off x="914400" y="38862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Dat kostte drie regels in een ADR.</a:t>
            </a:r>
            <a:endParaRPr lang="en-US" sz="2000" dirty="0"/>
          </a:p>
        </p:txBody>
      </p:sp>
      <p:sp>
        <p:nvSpPr>
          <p:cNvPr id="5" name="Text 3"/>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6" name="Text 4"/>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6"/>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B45309"/>
          </a:solidFill>
          <a:ln/>
        </p:spPr>
      </p:sp>
      <p:sp>
        <p:nvSpPr>
          <p:cNvPr id="3" name="Text 1"/>
          <p:cNvSpPr/>
          <p:nvPr/>
        </p:nvSpPr>
        <p:spPr>
          <a:xfrm>
            <a:off x="822960" y="685800"/>
            <a:ext cx="5486400" cy="457200"/>
          </a:xfrm>
          <a:prstGeom prst="rect">
            <a:avLst/>
          </a:prstGeom>
          <a:noFill/>
          <a:ln/>
        </p:spPr>
        <p:txBody>
          <a:bodyPr wrap="square" rtlCol="0" anchor="ctr"/>
          <a:lstStyle/>
          <a:p>
            <a:pPr indent="0" marL="0">
              <a:buNone/>
            </a:pPr>
            <a:r>
              <a:rPr lang="en-US" sz="1400" b="1" spc="150" kern="0" dirty="0">
                <a:solidFill>
                  <a:srgbClr val="B45309"/>
                </a:solidFill>
                <a:latin typeface="Calibri" pitchFamily="34" charset="0"/>
                <a:ea typeface="Calibri" pitchFamily="34" charset="-122"/>
                <a:cs typeface="Calibri" pitchFamily="34" charset="-120"/>
              </a:rPr>
              <a:t>OPDRACHT 13.1</a:t>
            </a:r>
            <a:endParaRPr lang="en-US" sz="1400" dirty="0"/>
          </a:p>
        </p:txBody>
      </p:sp>
      <p:sp>
        <p:nvSpPr>
          <p:cNvPr id="4" name="Text 2"/>
          <p:cNvSpPr/>
          <p:nvPr/>
        </p:nvSpPr>
        <p:spPr>
          <a:xfrm>
            <a:off x="822960" y="1143000"/>
            <a:ext cx="10332720" cy="914400"/>
          </a:xfrm>
          <a:prstGeom prst="rect">
            <a:avLst/>
          </a:prstGeom>
          <a:noFill/>
          <a:ln/>
        </p:spPr>
        <p:txBody>
          <a:bodyPr wrap="square"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Toets uw herzieningsgrens</a:t>
            </a:r>
            <a:endParaRPr lang="en-US" sz="2800" dirty="0"/>
          </a:p>
        </p:txBody>
      </p:sp>
      <p:sp>
        <p:nvSpPr>
          <p:cNvPr id="5" name="Text 3"/>
          <p:cNvSpPr/>
          <p:nvPr/>
        </p:nvSpPr>
        <p:spPr>
          <a:xfrm>
            <a:off x="822960" y="2331720"/>
            <a:ext cx="10332720" cy="777240"/>
          </a:xfrm>
          <a:prstGeom prst="rect">
            <a:avLst/>
          </a:prstGeom>
          <a:noFill/>
          <a:ln/>
        </p:spPr>
        <p:txBody>
          <a:bodyPr wrap="square" rtlCol="0" anchor="ctr"/>
          <a:lstStyle/>
          <a:p>
            <a:pPr indent="0" marL="0">
              <a:buNone/>
            </a:pPr>
            <a:r>
              <a:rPr lang="en-US" sz="1700" i="1" dirty="0">
                <a:solidFill>
                  <a:srgbClr val="6B7280"/>
                </a:solidFill>
                <a:latin typeface="Calibri" pitchFamily="34" charset="0"/>
                <a:ea typeface="Calibri" pitchFamily="34" charset="-122"/>
                <a:cs typeface="Calibri" pitchFamily="34" charset="-120"/>
              </a:rPr>
              <a:t>Individueel, 20 minuten.</a:t>
            </a:r>
            <a:endParaRPr lang="en-US" sz="1700" dirty="0"/>
          </a:p>
        </p:txBody>
      </p:sp>
      <p:sp>
        <p:nvSpPr>
          <p:cNvPr id="6" name="Text 4"/>
          <p:cNvSpPr/>
          <p:nvPr/>
        </p:nvSpPr>
        <p:spPr>
          <a:xfrm>
            <a:off x="822960" y="2990088"/>
            <a:ext cx="10332720" cy="777240"/>
          </a:xfrm>
          <a:prstGeom prst="rect">
            <a:avLst/>
          </a:prstGeom>
          <a:noFill/>
          <a:ln/>
        </p:spPr>
        <p:txBody>
          <a:bodyPr wrap="square"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d) Wat zou er in sprint 9 gebeurd zijn zónder die grens? Beschrijf het gesprek.</a:t>
            </a:r>
            <a:endParaRPr lang="en-US" sz="1900" dirty="0"/>
          </a:p>
        </p:txBody>
      </p:sp>
      <p:sp>
        <p:nvSpPr>
          <p:cNvPr id="7" name="Text 5"/>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8" name="Text 6"/>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83F"/>
        </a:solidFill>
      </p:bgPr>
    </p:bg>
    <p:spTree>
      <p:nvGrpSpPr>
        <p:cNvPr id="1" name=""/>
        <p:cNvGrpSpPr/>
        <p:nvPr/>
      </p:nvGrpSpPr>
      <p:grpSpPr>
        <a:xfrm>
          <a:off x="0" y="0"/>
          <a:ext cx="0" cy="0"/>
          <a:chOff x="0" y="0"/>
          <a:chExt cx="0" cy="0"/>
        </a:xfrm>
      </p:grpSpPr>
      <p:sp>
        <p:nvSpPr>
          <p:cNvPr id="2" name="Text 0"/>
          <p:cNvSpPr/>
          <p:nvPr/>
        </p:nvSpPr>
        <p:spPr>
          <a:xfrm>
            <a:off x="822960" y="2788920"/>
            <a:ext cx="10058400" cy="457200"/>
          </a:xfrm>
          <a:prstGeom prst="rect">
            <a:avLst/>
          </a:prstGeom>
          <a:noFill/>
          <a:ln/>
        </p:spPr>
        <p:txBody>
          <a:bodyPr wrap="square" rtlCol="0" anchor="ctr"/>
          <a:lstStyle/>
          <a:p>
            <a:pPr indent="0" marL="0">
              <a:buNone/>
            </a:pPr>
            <a:r>
              <a:rPr lang="en-US" sz="1400" b="1" spc="200" kern="0" dirty="0">
                <a:solidFill>
                  <a:srgbClr val="8FA6C2"/>
                </a:solidFill>
                <a:latin typeface="Calibri" pitchFamily="34" charset="0"/>
                <a:ea typeface="Calibri" pitchFamily="34" charset="-122"/>
                <a:cs typeface="Calibri" pitchFamily="34" charset="-120"/>
              </a:rPr>
              <a:t>Deel 13</a:t>
            </a:r>
            <a:endParaRPr lang="en-US" sz="1400" dirty="0"/>
          </a:p>
        </p:txBody>
      </p:sp>
      <p:sp>
        <p:nvSpPr>
          <p:cNvPr id="3" name="Text 1"/>
          <p:cNvSpPr/>
          <p:nvPr/>
        </p:nvSpPr>
        <p:spPr>
          <a:xfrm>
            <a:off x="777240" y="3154680"/>
            <a:ext cx="10515600" cy="146304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Het spectrum</a:t>
            </a:r>
            <a:endParaRPr lang="en-US" sz="3800" dirty="0"/>
          </a:p>
        </p:txBody>
      </p:sp>
      <p:sp>
        <p:nvSpPr>
          <p:cNvPr id="4" name="Text 2"/>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Distributie is geen schakelaar</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2377440"/>
                <a:gridCol w="2194560"/>
                <a:gridCol w="6309360"/>
              </a:tblGrid>
              <a:tr h="502920">
                <a:tc>
                  <a:txBody>
                    <a:bodyPr/>
                    <a:lstStyle/>
                    <a:p>
                      <a:pPr indent="0" marL="0">
                        <a:buNone/>
                      </a:pPr>
                      <a:r>
                        <a:rPr lang="en-US" sz="1400" b="1" dirty="0">
                          <a:solidFill>
                            <a:srgbClr val="FFFFFF"/>
                          </a:solidFill>
                        </a:rPr>
                        <a:t>Vorm</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rPr>
                        <a:t>Eenheden</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rPr>
                        <a:t>Wanneer</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3A5F"/>
                    </a:solidFill>
                  </a:tcPr>
                </a:tc>
              </a:tr>
              <a:tr h="502920">
                <a:tc>
                  <a:txBody>
                    <a:bodyPr/>
                    <a:lstStyle/>
                    <a:p>
                      <a:pPr indent="0" marL="0">
                        <a:buNone/>
                      </a:pPr>
                      <a:r>
                        <a:rPr lang="en-US" sz="1350" dirty="0">
                          <a:solidFill>
                            <a:srgbClr val="1F2937"/>
                          </a:solidFill>
                        </a:rPr>
                        <a:t>Modulith</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1</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tot ~4 teams, geen afwijkende profielen</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r>
              <a:tr h="502920">
                <a:tc>
                  <a:txBody>
                    <a:bodyPr/>
                    <a:lstStyle/>
                    <a:p>
                      <a:pPr indent="0" marL="0">
                        <a:buNone/>
                      </a:pPr>
                      <a:r>
                        <a:rPr lang="en-US" sz="1350" dirty="0">
                          <a:solidFill>
                            <a:srgbClr val="1F2937"/>
                          </a:solidFill>
                        </a:rPr>
                        <a:t>Service-based</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2–6 grover</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enkele teams, één of twee afwijkende profielen</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r>
              <a:tr h="502920">
                <a:tc>
                  <a:txBody>
                    <a:bodyPr/>
                    <a:lstStyle/>
                    <a:p>
                      <a:pPr indent="0" marL="0">
                        <a:buNone/>
                      </a:pPr>
                      <a:r>
                        <a:rPr lang="en-US" sz="1350" dirty="0">
                          <a:solidFill>
                            <a:srgbClr val="1F2937"/>
                          </a:solidFill>
                        </a:rPr>
                        <a:t>Microservices</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10+</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veel teams, volwassen operatie</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r>
            </a:tbl>
          </a:graphicData>
        </a:graphic>
      </p:graphicFrame>
      <p:sp>
        <p:nvSpPr>
          <p:cNvPr id="4" name="Text 1"/>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5" name="Text 2"/>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14400" y="233172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Service-based is de vergeten middenpositie.</a:t>
            </a:r>
            <a:endParaRPr lang="en-US" sz="3000" dirty="0"/>
          </a:p>
        </p:txBody>
      </p:sp>
      <p:sp>
        <p:nvSpPr>
          <p:cNvPr id="3" name="Text 1"/>
          <p:cNvSpPr/>
          <p:nvPr/>
        </p:nvSpPr>
        <p:spPr>
          <a:xfrm>
            <a:off x="914400" y="32004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Er is geen mode aan verbonden.</a:t>
            </a:r>
            <a:endParaRPr lang="en-US" sz="2000" dirty="0"/>
          </a:p>
        </p:txBody>
      </p:sp>
      <p:sp>
        <p:nvSpPr>
          <p:cNvPr id="4" name="Text 2"/>
          <p:cNvSpPr/>
          <p:nvPr/>
        </p:nvSpPr>
        <p:spPr>
          <a:xfrm>
            <a:off x="914400" y="38862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Voor Meridiaan is het vrijwel zeker de juiste plek.</a:t>
            </a:r>
            <a:endParaRPr lang="en-US" sz="2000" dirty="0"/>
          </a:p>
        </p:txBody>
      </p:sp>
      <p:sp>
        <p:nvSpPr>
          <p:cNvPr id="5" name="Text 3"/>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6" name="Text 4"/>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De drijvers, opnieuw getoetst</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2377440"/>
                <a:gridCol w="2194560"/>
                <a:gridCol w="6309360"/>
              </a:tblGrid>
              <a:tr h="502920">
                <a:tc>
                  <a:txBody>
                    <a:bodyPr/>
                    <a:lstStyle/>
                    <a:p>
                      <a:pPr indent="0" marL="0">
                        <a:buNone/>
                      </a:pPr>
                      <a:r>
                        <a:rPr lang="en-US" sz="1400" b="1" dirty="0">
                          <a:solidFill>
                            <a:srgbClr val="FFFFFF"/>
                          </a:solidFill>
                        </a:rPr>
                        <a:t>Drijver</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rPr>
                        <a:t>Vóór</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rPr>
                        <a:t>Na overname</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3A5F"/>
                    </a:solidFill>
                  </a:tcPr>
                </a:tc>
              </a:tr>
              <a:tr h="502920">
                <a:tc>
                  <a:txBody>
                    <a:bodyPr/>
                    <a:lstStyle/>
                    <a:p>
                      <a:pPr indent="0" marL="0">
                        <a:buNone/>
                      </a:pPr>
                      <a:r>
                        <a:rPr lang="en-US" sz="1350" dirty="0">
                          <a:solidFill>
                            <a:srgbClr val="1F2937"/>
                          </a:solidFill>
                        </a:rPr>
                        <a:t>Uitrollen</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afwezig</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mogelijk — maar wachten teams echt?</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r>
              <a:tr h="502920">
                <a:tc>
                  <a:txBody>
                    <a:bodyPr/>
                    <a:lstStyle/>
                    <a:p>
                      <a:pPr indent="0" marL="0">
                        <a:buNone/>
                      </a:pPr>
                      <a:r>
                        <a:rPr lang="en-US" sz="1350" dirty="0">
                          <a:solidFill>
                            <a:srgbClr val="1F2937"/>
                          </a:solidFill>
                        </a:rPr>
                        <a:t>Schalen</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afwezig</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aanwezig — tijdelijk</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r>
              <a:tr h="502920">
                <a:tc>
                  <a:txBody>
                    <a:bodyPr/>
                    <a:lstStyle/>
                    <a:p>
                      <a:pPr indent="0" marL="0">
                        <a:buNone/>
                      </a:pPr>
                      <a:r>
                        <a:rPr lang="en-US" sz="1350" dirty="0">
                          <a:solidFill>
                            <a:srgbClr val="1F2937"/>
                          </a:solidFill>
                        </a:rPr>
                        <a:t>Falen</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afwezig</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mogelijk — en hier zit het punt</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r>
              <a:tr h="502920">
                <a:tc>
                  <a:txBody>
                    <a:bodyPr/>
                    <a:lstStyle/>
                    <a:p>
                      <a:pPr indent="0" marL="0">
                        <a:buNone/>
                      </a:pPr>
                      <a:r>
                        <a:rPr lang="en-US" sz="1350" dirty="0">
                          <a:solidFill>
                            <a:srgbClr val="1F2937"/>
                          </a:solidFill>
                        </a:rPr>
                        <a:t>Technologie</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afwezig</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350" dirty="0">
                          <a:solidFill>
                            <a:srgbClr val="1F2937"/>
                          </a:solidFill>
                        </a:rPr>
                        <a:t>afwezig</a:t>
                      </a:r>
                      <a:endParaRPr lang="en-US" sz="135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r>
            </a:tbl>
          </a:graphicData>
        </a:graphic>
      </p:graphicFrame>
      <p:sp>
        <p:nvSpPr>
          <p:cNvPr id="4" name="Text 1"/>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5" name="Text 2"/>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14400" y="233172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Vier maanden piek is geen architectuurargument.</a:t>
            </a:r>
            <a:endParaRPr lang="en-US" sz="3000" dirty="0"/>
          </a:p>
        </p:txBody>
      </p:sp>
      <p:sp>
        <p:nvSpPr>
          <p:cNvPr id="3" name="Text 1"/>
          <p:cNvSpPr/>
          <p:nvPr/>
        </p:nvSpPr>
        <p:spPr>
          <a:xfrm>
            <a:off x="914400" y="32004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Eerst: tranches, tijdelijke capaciteit, ander venster.</a:t>
            </a:r>
            <a:endParaRPr lang="en-US" sz="2000" dirty="0"/>
          </a:p>
        </p:txBody>
      </p:sp>
      <p:sp>
        <p:nvSpPr>
          <p:cNvPr id="4" name="Text 2"/>
          <p:cNvSpPr/>
          <p:nvPr/>
        </p:nvSpPr>
        <p:spPr>
          <a:xfrm>
            <a:off x="914400" y="38862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Architectuur wijzigen voor iets tijdelijks is de klassieke overreactie.</a:t>
            </a:r>
            <a:endParaRPr lang="en-US" sz="2000" dirty="0"/>
          </a:p>
        </p:txBody>
      </p:sp>
      <p:sp>
        <p:nvSpPr>
          <p:cNvPr id="5" name="Text 3"/>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6" name="Text 4"/>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14400" y="233172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Dinsdagochtend. De conversiebatch zet de gedeelde database dicht.</a:t>
            </a:r>
            <a:endParaRPr lang="en-US" sz="3000" dirty="0"/>
          </a:p>
        </p:txBody>
      </p:sp>
      <p:sp>
        <p:nvSpPr>
          <p:cNvPr id="3" name="Text 1"/>
          <p:cNvSpPr/>
          <p:nvPr/>
        </p:nvSpPr>
        <p:spPr>
          <a:xfrm>
            <a:off x="914400" y="32004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Portaal traag, behandelaars geblokkeerd, elf andere werkgevers vertraagd.</a:t>
            </a:r>
            <a:endParaRPr lang="en-US" sz="2000" dirty="0"/>
          </a:p>
        </p:txBody>
      </p:sp>
      <p:sp>
        <p:nvSpPr>
          <p:cNvPr id="4" name="Text 2"/>
          <p:cNvSpPr/>
          <p:nvPr/>
        </p:nvSpPr>
        <p:spPr>
          <a:xfrm>
            <a:off x="914400" y="38862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340.000 deelnemers geraakt door een tijdelijk project.</a:t>
            </a:r>
            <a:endParaRPr lang="en-US" sz="2000" dirty="0"/>
          </a:p>
        </p:txBody>
      </p:sp>
      <p:sp>
        <p:nvSpPr>
          <p:cNvPr id="5" name="Text 3"/>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6" name="Text 4"/>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rtlCol="0" anchor="ctr"/>
          <a:lstStyle/>
          <a:p>
            <a:pPr indent="0" marL="0">
              <a:buNone/>
            </a:pPr>
            <a:r>
              <a:rPr lang="en-US" sz="3000" b="1" dirty="0">
                <a:solidFill>
                  <a:srgbClr val="1F3A5F"/>
                </a:solidFill>
                <a:latin typeface="Calibri" pitchFamily="34" charset="0"/>
                <a:ea typeface="Calibri" pitchFamily="34" charset="-122"/>
                <a:cs typeface="Calibri" pitchFamily="34" charset="-120"/>
              </a:rPr>
              <a:t>Drijver 1 is meetbaar — en het antwoord verrast</a:t>
            </a:r>
            <a:endParaRPr lang="en-US" sz="3000" dirty="0"/>
          </a:p>
        </p:txBody>
      </p:sp>
      <p:sp>
        <p:nvSpPr>
          <p:cNvPr id="3" name="Text 1"/>
          <p:cNvSpPr/>
          <p:nvPr/>
        </p:nvSpPr>
        <p:spPr>
          <a:xfrm>
            <a:off x="685800" y="1600200"/>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4" name="Text 2"/>
          <p:cNvSpPr/>
          <p:nvPr/>
        </p:nvSpPr>
        <p:spPr>
          <a:xfrm>
            <a:off x="1005840" y="1600200"/>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Laatste twintig sprints: vier keer uitgesteld</a:t>
            </a:r>
            <a:endParaRPr lang="en-US" sz="1800" dirty="0"/>
          </a:p>
        </p:txBody>
      </p:sp>
      <p:sp>
        <p:nvSpPr>
          <p:cNvPr id="5" name="Text 3"/>
          <p:cNvSpPr/>
          <p:nvPr/>
        </p:nvSpPr>
        <p:spPr>
          <a:xfrm>
            <a:off x="685800" y="2496312"/>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05840" y="2496312"/>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Drie keer om dezelfde reden:</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één koppelvlak was niet klaar</a:t>
            </a:r>
            <a:endParaRPr lang="en-US" sz="1800" dirty="0"/>
          </a:p>
        </p:txBody>
      </p:sp>
      <p:sp>
        <p:nvSpPr>
          <p:cNvPr id="7" name="Text 5"/>
          <p:cNvSpPr/>
          <p:nvPr/>
        </p:nvSpPr>
        <p:spPr>
          <a:xfrm>
            <a:off x="685800" y="3392424"/>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005840" y="3392424"/>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Dat lost u op door dat koppelvlak eerder klaar te hebben, niet door te splitsen</a:t>
            </a:r>
            <a:endParaRPr lang="en-US" sz="1800" dirty="0"/>
          </a:p>
        </p:txBody>
      </p:sp>
      <p:sp>
        <p:nvSpPr>
          <p:cNvPr id="9" name="Text 7"/>
          <p:cNvSpPr/>
          <p:nvPr/>
        </p:nvSpPr>
        <p:spPr>
          <a:xfrm>
            <a:off x="685800" y="4288536"/>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005840" y="4288536"/>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Een teamaantal is geen drijver; wachten op elkaar is dat wel</a:t>
            </a:r>
            <a:endParaRPr lang="en-US" sz="1800" dirty="0"/>
          </a:p>
        </p:txBody>
      </p:sp>
      <p:sp>
        <p:nvSpPr>
          <p:cNvPr id="11" name="Text 9"/>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12" name="Text 10"/>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rtlCol="0" anchor="ctr"/>
          <a:lstStyle/>
          <a:p>
            <a:pPr indent="0" marL="0">
              <a:buNone/>
            </a:pPr>
            <a:r>
              <a:rPr lang="en-US" sz="3000" b="1" dirty="0">
                <a:solidFill>
                  <a:srgbClr val="1F3A5F"/>
                </a:solidFill>
                <a:latin typeface="Calibri" pitchFamily="34" charset="0"/>
                <a:ea typeface="Calibri" pitchFamily="34" charset="-122"/>
                <a:cs typeface="Calibri" pitchFamily="34" charset="-120"/>
              </a:rPr>
              <a:t>De uitkomst</a:t>
            </a:r>
            <a:endParaRPr lang="en-US" sz="3000" dirty="0"/>
          </a:p>
        </p:txBody>
      </p:sp>
      <p:sp>
        <p:nvSpPr>
          <p:cNvPr id="3" name="Text 1"/>
          <p:cNvSpPr/>
          <p:nvPr/>
        </p:nvSpPr>
        <p:spPr>
          <a:xfrm>
            <a:off x="685800" y="1600200"/>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4" name="Text 2"/>
          <p:cNvSpPr/>
          <p:nvPr/>
        </p:nvSpPr>
        <p:spPr>
          <a:xfrm>
            <a:off x="1005840" y="1600200"/>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Splits de werkgeversaanlevering en conversie af</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als één dienst</a:t>
            </a:r>
            <a:endParaRPr lang="en-US" sz="1800" dirty="0"/>
          </a:p>
        </p:txBody>
      </p:sp>
      <p:sp>
        <p:nvSpPr>
          <p:cNvPr id="5" name="Text 3"/>
          <p:cNvSpPr/>
          <p:nvPr/>
        </p:nvSpPr>
        <p:spPr>
          <a:xfrm>
            <a:off x="685800" y="2496312"/>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05840" y="2496312"/>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Grond: drijver 3 (isolatie van falen), met drijver 2 als bijkomend argument</a:t>
            </a:r>
            <a:endParaRPr lang="en-US" sz="1800" dirty="0"/>
          </a:p>
        </p:txBody>
      </p:sp>
      <p:sp>
        <p:nvSpPr>
          <p:cNvPr id="7" name="Text 5"/>
          <p:cNvSpPr/>
          <p:nvPr/>
        </p:nvSpPr>
        <p:spPr>
          <a:xfrm>
            <a:off x="685800" y="3392424"/>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005840" y="3392424"/>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De rest blijft modulith</a:t>
            </a:r>
            <a:endParaRPr lang="en-US" sz="1800" dirty="0"/>
          </a:p>
        </p:txBody>
      </p:sp>
      <p:sp>
        <p:nvSpPr>
          <p:cNvPr id="9" name="Text 7"/>
          <p:cNvSpPr/>
          <p:nvPr/>
        </p:nvSpPr>
        <p:spPr>
          <a:xfrm>
            <a:off x="685800" y="4288536"/>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005840" y="4288536"/>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Dat is service-based</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niet microservices</a:t>
            </a:r>
            <a:endParaRPr lang="en-US" sz="1800" dirty="0"/>
          </a:p>
        </p:txBody>
      </p:sp>
      <p:sp>
        <p:nvSpPr>
          <p:cNvPr id="11" name="Text 9"/>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12" name="Text 10"/>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F6"/>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B45309"/>
          </a:solidFill>
          <a:ln/>
        </p:spPr>
      </p:sp>
      <p:sp>
        <p:nvSpPr>
          <p:cNvPr id="3" name="Text 1"/>
          <p:cNvSpPr/>
          <p:nvPr/>
        </p:nvSpPr>
        <p:spPr>
          <a:xfrm>
            <a:off x="822960" y="685800"/>
            <a:ext cx="5486400" cy="457200"/>
          </a:xfrm>
          <a:prstGeom prst="rect">
            <a:avLst/>
          </a:prstGeom>
          <a:noFill/>
          <a:ln/>
        </p:spPr>
        <p:txBody>
          <a:bodyPr wrap="square" rtlCol="0" anchor="ctr"/>
          <a:lstStyle/>
          <a:p>
            <a:pPr indent="0" marL="0">
              <a:buNone/>
            </a:pPr>
            <a:r>
              <a:rPr lang="en-US" sz="1400" b="1" spc="150" kern="0" dirty="0">
                <a:solidFill>
                  <a:srgbClr val="B45309"/>
                </a:solidFill>
                <a:latin typeface="Calibri" pitchFamily="34" charset="0"/>
                <a:ea typeface="Calibri" pitchFamily="34" charset="-122"/>
                <a:cs typeface="Calibri" pitchFamily="34" charset="-120"/>
              </a:rPr>
              <a:t>OPDRACHT 13.2</a:t>
            </a:r>
            <a:endParaRPr lang="en-US" sz="1400" dirty="0"/>
          </a:p>
        </p:txBody>
      </p:sp>
      <p:sp>
        <p:nvSpPr>
          <p:cNvPr id="4" name="Text 2"/>
          <p:cNvSpPr/>
          <p:nvPr/>
        </p:nvSpPr>
        <p:spPr>
          <a:xfrm>
            <a:off x="822960" y="1143000"/>
            <a:ext cx="10332720" cy="914400"/>
          </a:xfrm>
          <a:prstGeom prst="rect">
            <a:avLst/>
          </a:prstGeom>
          <a:noFill/>
          <a:ln/>
        </p:spPr>
        <p:txBody>
          <a:bodyPr wrap="square"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Toets de vier drijvers</a:t>
            </a:r>
            <a:endParaRPr lang="en-US" sz="2800" dirty="0"/>
          </a:p>
        </p:txBody>
      </p:sp>
      <p:sp>
        <p:nvSpPr>
          <p:cNvPr id="5" name="Text 3"/>
          <p:cNvSpPr/>
          <p:nvPr/>
        </p:nvSpPr>
        <p:spPr>
          <a:xfrm>
            <a:off x="822960" y="2331720"/>
            <a:ext cx="10332720" cy="777240"/>
          </a:xfrm>
          <a:prstGeom prst="rect">
            <a:avLst/>
          </a:prstGeom>
          <a:noFill/>
          <a:ln/>
        </p:spPr>
        <p:txBody>
          <a:bodyPr wrap="square" rtlCol="0" anchor="ctr"/>
          <a:lstStyle/>
          <a:p>
            <a:pPr indent="0" marL="0">
              <a:buNone/>
            </a:pPr>
            <a:r>
              <a:rPr lang="en-US" sz="1700" i="1" dirty="0">
                <a:solidFill>
                  <a:srgbClr val="6B7280"/>
                </a:solidFill>
                <a:latin typeface="Calibri" pitchFamily="34" charset="0"/>
                <a:ea typeface="Calibri" pitchFamily="34" charset="-122"/>
                <a:cs typeface="Calibri" pitchFamily="34" charset="-120"/>
              </a:rPr>
              <a:t>Duo's, 30 minuten.</a:t>
            </a:r>
            <a:endParaRPr lang="en-US" sz="1700" dirty="0"/>
          </a:p>
        </p:txBody>
      </p:sp>
      <p:sp>
        <p:nvSpPr>
          <p:cNvPr id="6" name="Text 4"/>
          <p:cNvSpPr/>
          <p:nvPr/>
        </p:nvSpPr>
        <p:spPr>
          <a:xfrm>
            <a:off x="822960" y="2990088"/>
            <a:ext cx="10332720" cy="777240"/>
          </a:xfrm>
          <a:prstGeom prst="rect">
            <a:avLst/>
          </a:prstGeom>
          <a:noFill/>
          <a:ln/>
        </p:spPr>
        <p:txBody>
          <a:bodyPr wrap="square"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c) Gebruik de uitrolstatistiek. Hoe vaak wachtte een team echt op een ander?</a:t>
            </a:r>
            <a:endParaRPr lang="en-US" sz="1900" dirty="0"/>
          </a:p>
        </p:txBody>
      </p:sp>
      <p:sp>
        <p:nvSpPr>
          <p:cNvPr id="7" name="Text 5"/>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8" name="Text 6"/>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83F"/>
        </a:solidFill>
      </p:bgPr>
    </p:bg>
    <p:spTree>
      <p:nvGrpSpPr>
        <p:cNvPr id="1" name=""/>
        <p:cNvGrpSpPr/>
        <p:nvPr/>
      </p:nvGrpSpPr>
      <p:grpSpPr>
        <a:xfrm>
          <a:off x="0" y="0"/>
          <a:ext cx="0" cy="0"/>
          <a:chOff x="0" y="0"/>
          <a:chExt cx="0" cy="0"/>
        </a:xfrm>
      </p:grpSpPr>
      <p:sp>
        <p:nvSpPr>
          <p:cNvPr id="2" name="Text 0"/>
          <p:cNvSpPr/>
          <p:nvPr/>
        </p:nvSpPr>
        <p:spPr>
          <a:xfrm>
            <a:off x="822960" y="2788920"/>
            <a:ext cx="10058400" cy="457200"/>
          </a:xfrm>
          <a:prstGeom prst="rect">
            <a:avLst/>
          </a:prstGeom>
          <a:noFill/>
          <a:ln/>
        </p:spPr>
        <p:txBody>
          <a:bodyPr wrap="square" rtlCol="0" anchor="ctr"/>
          <a:lstStyle/>
          <a:p>
            <a:pPr indent="0" marL="0">
              <a:buNone/>
            </a:pPr>
            <a:r>
              <a:rPr lang="en-US" sz="1400" b="1" spc="200" kern="0" dirty="0">
                <a:solidFill>
                  <a:srgbClr val="8FA6C2"/>
                </a:solidFill>
                <a:latin typeface="Calibri" pitchFamily="34" charset="0"/>
                <a:ea typeface="Calibri" pitchFamily="34" charset="-122"/>
                <a:cs typeface="Calibri" pitchFamily="34" charset="-120"/>
              </a:rPr>
              <a:t>Deel 13</a:t>
            </a:r>
            <a:endParaRPr lang="en-US" sz="1400" dirty="0"/>
          </a:p>
        </p:txBody>
      </p:sp>
      <p:sp>
        <p:nvSpPr>
          <p:cNvPr id="3" name="Text 1"/>
          <p:cNvSpPr/>
          <p:nvPr/>
        </p:nvSpPr>
        <p:spPr>
          <a:xfrm>
            <a:off x="777240" y="3154680"/>
            <a:ext cx="10515600" cy="146304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Waarlangs splitst u?</a:t>
            </a:r>
            <a:endParaRPr lang="en-US" sz="3800" dirty="0"/>
          </a:p>
        </p:txBody>
      </p:sp>
      <p:sp>
        <p:nvSpPr>
          <p:cNvPr id="4" name="Text 2"/>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rtlCol="0" anchor="ctr"/>
          <a:lstStyle/>
          <a:p>
            <a:pPr indent="0" marL="0">
              <a:buNone/>
            </a:pPr>
            <a:r>
              <a:rPr lang="en-US" sz="3000" b="1" dirty="0">
                <a:solidFill>
                  <a:srgbClr val="1F3A5F"/>
                </a:solidFill>
                <a:latin typeface="Calibri" pitchFamily="34" charset="0"/>
                <a:ea typeface="Calibri" pitchFamily="34" charset="-122"/>
                <a:cs typeface="Calibri" pitchFamily="34" charset="-120"/>
              </a:rPr>
              <a:t>De aggregaatgrens is leidend</a:t>
            </a:r>
            <a:endParaRPr lang="en-US" sz="3000" dirty="0"/>
          </a:p>
        </p:txBody>
      </p:sp>
      <p:sp>
        <p:nvSpPr>
          <p:cNvPr id="3" name="Text 1"/>
          <p:cNvSpPr/>
          <p:nvPr/>
        </p:nvSpPr>
        <p:spPr>
          <a:xfrm>
            <a:off x="685800" y="1600200"/>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4" name="Text 2"/>
          <p:cNvSpPr/>
          <p:nvPr/>
        </p:nvSpPr>
        <p:spPr>
          <a:xfrm>
            <a:off x="1005840" y="1600200"/>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Binnen een aggregaat: onmiddellijke consistentie</a:t>
            </a:r>
            <a:endParaRPr lang="en-US" sz="1800" dirty="0"/>
          </a:p>
        </p:txBody>
      </p:sp>
      <p:sp>
        <p:nvSpPr>
          <p:cNvPr id="5" name="Text 3"/>
          <p:cNvSpPr/>
          <p:nvPr/>
        </p:nvSpPr>
        <p:spPr>
          <a:xfrm>
            <a:off x="685800" y="2496312"/>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05840" y="2496312"/>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Een netwerkgrens dwingt uiteindelijke consistentie af</a:t>
            </a:r>
            <a:endParaRPr lang="en-US" sz="1800" dirty="0"/>
          </a:p>
        </p:txBody>
      </p:sp>
      <p:sp>
        <p:nvSpPr>
          <p:cNvPr id="7" name="Text 5"/>
          <p:cNvSpPr/>
          <p:nvPr/>
        </p:nvSpPr>
        <p:spPr>
          <a:xfrm>
            <a:off x="685800" y="3392424"/>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005840" y="3392424"/>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Dus loopt een dienstgrens nooit dwars door een aggregaat</a:t>
            </a:r>
            <a:endParaRPr lang="en-US" sz="1800" dirty="0"/>
          </a:p>
        </p:txBody>
      </p:sp>
      <p:sp>
        <p:nvSpPr>
          <p:cNvPr id="9" name="Text 7"/>
          <p:cNvSpPr/>
          <p:nvPr/>
        </p:nvSpPr>
        <p:spPr>
          <a:xfrm>
            <a:off x="685800" y="4288536"/>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005840" y="4288536"/>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Grofste geldige grens: de bounded context. Fijnste: het aggregaat</a:t>
            </a:r>
            <a:endParaRPr lang="en-US" sz="1800" dirty="0"/>
          </a:p>
        </p:txBody>
      </p:sp>
      <p:sp>
        <p:nvSpPr>
          <p:cNvPr id="11" name="Text 9"/>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12" name="Text 10"/>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233172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De grens loopt nergens door een aggregaat.</a:t>
            </a:r>
            <a:endParaRPr lang="en-US" sz="3000" dirty="0"/>
          </a:p>
        </p:txBody>
      </p:sp>
      <p:sp>
        <p:nvSpPr>
          <p:cNvPr id="3" name="Text 1"/>
          <p:cNvSpPr/>
          <p:nvPr/>
        </p:nvSpPr>
        <p:spPr>
          <a:xfrm>
            <a:off x="914400" y="32004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Dat is geen toeval — dat is de belofte van deel 5 en 12.</a:t>
            </a:r>
            <a:endParaRPr lang="en-US" sz="2000" dirty="0"/>
          </a:p>
        </p:txBody>
      </p:sp>
      <p:sp>
        <p:nvSpPr>
          <p:cNvPr id="4" name="Text 2"/>
          <p:cNvSpPr/>
          <p:nvPr/>
        </p:nvSpPr>
        <p:spPr>
          <a:xfrm>
            <a:off x="914400" y="38862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Splitsen is nu een verhuizing, geen verbouwing.</a:t>
            </a:r>
            <a:endParaRPr lang="en-US" sz="2000" dirty="0"/>
          </a:p>
        </p:txBody>
      </p:sp>
      <p:sp>
        <p:nvSpPr>
          <p:cNvPr id="5" name="Text 3"/>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6" name="Text 4"/>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83F"/>
        </a:solidFill>
      </p:bgPr>
    </p:bg>
    <p:spTree>
      <p:nvGrpSpPr>
        <p:cNvPr id="1" name=""/>
        <p:cNvGrpSpPr/>
        <p:nvPr/>
      </p:nvGrpSpPr>
      <p:grpSpPr>
        <a:xfrm>
          <a:off x="0" y="0"/>
          <a:ext cx="0" cy="0"/>
          <a:chOff x="0" y="0"/>
          <a:chExt cx="0" cy="0"/>
        </a:xfrm>
      </p:grpSpPr>
      <p:sp>
        <p:nvSpPr>
          <p:cNvPr id="2" name="Text 0"/>
          <p:cNvSpPr/>
          <p:nvPr/>
        </p:nvSpPr>
        <p:spPr>
          <a:xfrm>
            <a:off x="822960" y="2788920"/>
            <a:ext cx="10058400" cy="457200"/>
          </a:xfrm>
          <a:prstGeom prst="rect">
            <a:avLst/>
          </a:prstGeom>
          <a:noFill/>
          <a:ln/>
        </p:spPr>
        <p:txBody>
          <a:bodyPr wrap="square" rtlCol="0" anchor="ctr"/>
          <a:lstStyle/>
          <a:p>
            <a:pPr indent="0" marL="0">
              <a:buNone/>
            </a:pPr>
            <a:r>
              <a:rPr lang="en-US" sz="1400" b="1" spc="200" kern="0" dirty="0">
                <a:solidFill>
                  <a:srgbClr val="8FA6C2"/>
                </a:solidFill>
                <a:latin typeface="Calibri" pitchFamily="34" charset="0"/>
                <a:ea typeface="Calibri" pitchFamily="34" charset="-122"/>
                <a:cs typeface="Calibri" pitchFamily="34" charset="-120"/>
              </a:rPr>
              <a:t>Deel 13</a:t>
            </a:r>
            <a:endParaRPr lang="en-US" sz="1400" dirty="0"/>
          </a:p>
        </p:txBody>
      </p:sp>
      <p:sp>
        <p:nvSpPr>
          <p:cNvPr id="3" name="Text 1"/>
          <p:cNvSpPr/>
          <p:nvPr/>
        </p:nvSpPr>
        <p:spPr>
          <a:xfrm>
            <a:off x="777240" y="3154680"/>
            <a:ext cx="10515600" cy="146304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Wat een netwerkgrens verandert</a:t>
            </a:r>
            <a:endParaRPr lang="en-US" sz="3800" dirty="0"/>
          </a:p>
        </p:txBody>
      </p:sp>
      <p:sp>
        <p:nvSpPr>
          <p:cNvPr id="4" name="Text 2"/>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rtlCol="0" anchor="ctr"/>
          <a:lstStyle/>
          <a:p>
            <a:pPr indent="0" marL="0">
              <a:buNone/>
            </a:pPr>
            <a:r>
              <a:rPr lang="en-US" sz="3000" b="1" dirty="0">
                <a:solidFill>
                  <a:srgbClr val="1F3A5F"/>
                </a:solidFill>
                <a:latin typeface="Calibri" pitchFamily="34" charset="0"/>
                <a:ea typeface="Calibri" pitchFamily="34" charset="-122"/>
                <a:cs typeface="Calibri" pitchFamily="34" charset="-120"/>
              </a:rPr>
              <a:t>Saga: de verdwenen transactie</a:t>
            </a:r>
            <a:endParaRPr lang="en-US" sz="3000" dirty="0"/>
          </a:p>
        </p:txBody>
      </p:sp>
      <p:sp>
        <p:nvSpPr>
          <p:cNvPr id="3" name="Text 1"/>
          <p:cNvSpPr/>
          <p:nvPr/>
        </p:nvSpPr>
        <p:spPr>
          <a:xfrm>
            <a:off x="685800" y="1600200"/>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4" name="Text 2"/>
          <p:cNvSpPr/>
          <p:nvPr/>
        </p:nvSpPr>
        <p:spPr>
          <a:xfrm>
            <a:off x="1005840" y="1600200"/>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Reeks lokale transacties, elk met een compenserende actie</a:t>
            </a:r>
            <a:endParaRPr lang="en-US" sz="1800" dirty="0"/>
          </a:p>
        </p:txBody>
      </p:sp>
      <p:sp>
        <p:nvSpPr>
          <p:cNvPr id="5" name="Text 3"/>
          <p:cNvSpPr/>
          <p:nvPr/>
        </p:nvSpPr>
        <p:spPr>
          <a:xfrm>
            <a:off x="685800" y="2496312"/>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05840" y="2496312"/>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deelnemer aangemaakt → rechten overgenomen → historie geconverteerd → bevestigd</a:t>
            </a:r>
            <a:endParaRPr lang="en-US" sz="1800" dirty="0"/>
          </a:p>
        </p:txBody>
      </p:sp>
      <p:sp>
        <p:nvSpPr>
          <p:cNvPr id="7" name="Text 5"/>
          <p:cNvSpPr/>
          <p:nvPr/>
        </p:nvSpPr>
        <p:spPr>
          <a:xfrm>
            <a:off x="685800" y="3392424"/>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005840" y="3392424"/>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Faalt stap 3, dan moet stap 2 gecorrigeerd worden — niet teruggedraaid</a:t>
            </a:r>
            <a:endParaRPr lang="en-US" sz="1800" dirty="0"/>
          </a:p>
        </p:txBody>
      </p:sp>
      <p:sp>
        <p:nvSpPr>
          <p:cNvPr id="9" name="Text 7"/>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10" name="Text 8"/>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14400" y="233172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Wat betekent het om een overgenomen pensioenrecht ongedaan te maken?</a:t>
            </a:r>
            <a:endParaRPr lang="en-US" sz="3000" dirty="0"/>
          </a:p>
        </p:txBody>
      </p:sp>
      <p:sp>
        <p:nvSpPr>
          <p:cNvPr id="3" name="Text 1"/>
          <p:cNvSpPr/>
          <p:nvPr/>
        </p:nvSpPr>
        <p:spPr>
          <a:xfrm>
            <a:off x="914400" y="32004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Die vraag beantwoordt de actuaris, niet de architect.</a:t>
            </a:r>
            <a:endParaRPr lang="en-US" sz="2000" dirty="0"/>
          </a:p>
        </p:txBody>
      </p:sp>
      <p:sp>
        <p:nvSpPr>
          <p:cNvPr id="4" name="Text 2"/>
          <p:cNvSpPr/>
          <p:nvPr/>
        </p:nvSpPr>
        <p:spPr>
          <a:xfrm>
            <a:off x="914400" y="388620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Een saga verplaatst een technisch probleem naar het domein. Dat maakt hem duur.</a:t>
            </a:r>
            <a:endParaRPr lang="en-US" sz="3000" dirty="0"/>
          </a:p>
        </p:txBody>
      </p:sp>
      <p:sp>
        <p:nvSpPr>
          <p:cNvPr id="5" name="Text 3"/>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6" name="Text 4"/>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rtlCol="0" anchor="ctr"/>
          <a:lstStyle/>
          <a:p>
            <a:pPr indent="0" marL="0">
              <a:buNone/>
            </a:pPr>
            <a:r>
              <a:rPr lang="en-US" sz="3000" b="1" dirty="0">
                <a:solidFill>
                  <a:srgbClr val="1F3A5F"/>
                </a:solidFill>
                <a:latin typeface="Calibri" pitchFamily="34" charset="0"/>
                <a:ea typeface="Calibri" pitchFamily="34" charset="-122"/>
                <a:cs typeface="Calibri" pitchFamily="34" charset="-120"/>
              </a:rPr>
              <a:t>Outbox: betrouwbaar publiceren</a:t>
            </a:r>
            <a:endParaRPr lang="en-US" sz="3000" dirty="0"/>
          </a:p>
        </p:txBody>
      </p:sp>
      <p:sp>
        <p:nvSpPr>
          <p:cNvPr id="3" name="Text 1"/>
          <p:cNvSpPr/>
          <p:nvPr/>
        </p:nvSpPr>
        <p:spPr>
          <a:xfrm>
            <a:off x="685800" y="1600200"/>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4" name="Text 2"/>
          <p:cNvSpPr/>
          <p:nvPr/>
        </p:nvSpPr>
        <p:spPr>
          <a:xfrm>
            <a:off x="1005840" y="1600200"/>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Gebeurtenis in dezelfde transactie</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wegschrijven; apart proces publiceert</a:t>
            </a:r>
            <a:endParaRPr lang="en-US" sz="1800" dirty="0"/>
          </a:p>
        </p:txBody>
      </p:sp>
      <p:sp>
        <p:nvSpPr>
          <p:cNvPr id="5" name="Text 3"/>
          <p:cNvSpPr/>
          <p:nvPr/>
        </p:nvSpPr>
        <p:spPr>
          <a:xfrm>
            <a:off x="685800" y="2496312"/>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05840" y="2496312"/>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Faalt publiceren, dan blijft de regel staan en wordt het opnieuw geprobeerd</a:t>
            </a:r>
            <a:endParaRPr lang="en-US" sz="1800" dirty="0"/>
          </a:p>
        </p:txBody>
      </p:sp>
      <p:sp>
        <p:nvSpPr>
          <p:cNvPr id="7" name="Text 5"/>
          <p:cNvSpPr/>
          <p:nvPr/>
        </p:nvSpPr>
        <p:spPr>
          <a:xfrm>
            <a:off x="685800" y="3392424"/>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005840" y="3392424"/>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Prijs: een gebeurtenis kan meer dan één keer worden bezorgd</a:t>
            </a:r>
            <a:endParaRPr lang="en-US" sz="1800" dirty="0"/>
          </a:p>
        </p:txBody>
      </p:sp>
      <p:sp>
        <p:nvSpPr>
          <p:cNvPr id="9" name="Text 7"/>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10" name="Text 8"/>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14400" y="233172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“Precies één keer bezorgd” bestaat niet.</a:t>
            </a:r>
            <a:endParaRPr lang="en-US" sz="3000" dirty="0"/>
          </a:p>
        </p:txBody>
      </p:sp>
      <p:sp>
        <p:nvSpPr>
          <p:cNvPr id="3" name="Text 1"/>
          <p:cNvSpPr/>
          <p:nvPr/>
        </p:nvSpPr>
        <p:spPr>
          <a:xfrm>
            <a:off x="914400" y="320040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“Minstens één keer bezorgd, precies één keer verwerkt” wel —</a:t>
            </a:r>
            <a:endParaRPr lang="en-US" sz="3000" dirty="0"/>
          </a:p>
        </p:txBody>
      </p:sp>
      <p:sp>
        <p:nvSpPr>
          <p:cNvPr id="4" name="Text 2"/>
          <p:cNvSpPr/>
          <p:nvPr/>
        </p:nvSpPr>
        <p:spPr>
          <a:xfrm>
            <a:off x="914400" y="406908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en dat tweede is uw werk, in elke ontvanger.</a:t>
            </a:r>
            <a:endParaRPr lang="en-US" sz="2000" dirty="0"/>
          </a:p>
        </p:txBody>
      </p:sp>
      <p:sp>
        <p:nvSpPr>
          <p:cNvPr id="5" name="Text 3"/>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6" name="Text 4"/>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4F6"/>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B45309"/>
          </a:solidFill>
          <a:ln/>
        </p:spPr>
      </p:sp>
      <p:sp>
        <p:nvSpPr>
          <p:cNvPr id="3" name="Text 1"/>
          <p:cNvSpPr/>
          <p:nvPr/>
        </p:nvSpPr>
        <p:spPr>
          <a:xfrm>
            <a:off x="822960" y="685800"/>
            <a:ext cx="5486400" cy="457200"/>
          </a:xfrm>
          <a:prstGeom prst="rect">
            <a:avLst/>
          </a:prstGeom>
          <a:noFill/>
          <a:ln/>
        </p:spPr>
        <p:txBody>
          <a:bodyPr wrap="square" rtlCol="0" anchor="ctr"/>
          <a:lstStyle/>
          <a:p>
            <a:pPr indent="0" marL="0">
              <a:buNone/>
            </a:pPr>
            <a:r>
              <a:rPr lang="en-US" sz="1400" b="1" spc="150" kern="0" dirty="0">
                <a:solidFill>
                  <a:srgbClr val="B45309"/>
                </a:solidFill>
                <a:latin typeface="Calibri" pitchFamily="34" charset="0"/>
                <a:ea typeface="Calibri" pitchFamily="34" charset="-122"/>
                <a:cs typeface="Calibri" pitchFamily="34" charset="-120"/>
              </a:rPr>
              <a:t>OPDRACHT 13.4</a:t>
            </a:r>
            <a:endParaRPr lang="en-US" sz="1400" dirty="0"/>
          </a:p>
        </p:txBody>
      </p:sp>
      <p:sp>
        <p:nvSpPr>
          <p:cNvPr id="4" name="Text 2"/>
          <p:cNvSpPr/>
          <p:nvPr/>
        </p:nvSpPr>
        <p:spPr>
          <a:xfrm>
            <a:off x="822960" y="1143000"/>
            <a:ext cx="10332720" cy="914400"/>
          </a:xfrm>
          <a:prstGeom prst="rect">
            <a:avLst/>
          </a:prstGeom>
          <a:noFill/>
          <a:ln/>
        </p:spPr>
        <p:txBody>
          <a:bodyPr wrap="square"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Ontwerp de saga</a:t>
            </a:r>
            <a:endParaRPr lang="en-US" sz="2800" dirty="0"/>
          </a:p>
        </p:txBody>
      </p:sp>
      <p:sp>
        <p:nvSpPr>
          <p:cNvPr id="5" name="Text 3"/>
          <p:cNvSpPr/>
          <p:nvPr/>
        </p:nvSpPr>
        <p:spPr>
          <a:xfrm>
            <a:off x="822960" y="2331720"/>
            <a:ext cx="10332720" cy="777240"/>
          </a:xfrm>
          <a:prstGeom prst="rect">
            <a:avLst/>
          </a:prstGeom>
          <a:noFill/>
          <a:ln/>
        </p:spPr>
        <p:txBody>
          <a:bodyPr wrap="square" rtlCol="0" anchor="ctr"/>
          <a:lstStyle/>
          <a:p>
            <a:pPr indent="0" marL="0">
              <a:buNone/>
            </a:pPr>
            <a:r>
              <a:rPr lang="en-US" sz="1700" i="1" dirty="0">
                <a:solidFill>
                  <a:srgbClr val="6B7280"/>
                </a:solidFill>
                <a:latin typeface="Calibri" pitchFamily="34" charset="0"/>
                <a:ea typeface="Calibri" pitchFamily="34" charset="-122"/>
                <a:cs typeface="Calibri" pitchFamily="34" charset="-120"/>
              </a:rPr>
              <a:t>Stappen, compensaties, orkestratie of choreografie.</a:t>
            </a:r>
            <a:endParaRPr lang="en-US" sz="1700" dirty="0"/>
          </a:p>
        </p:txBody>
      </p:sp>
      <p:sp>
        <p:nvSpPr>
          <p:cNvPr id="6" name="Text 4"/>
          <p:cNvSpPr/>
          <p:nvPr/>
        </p:nvSpPr>
        <p:spPr>
          <a:xfrm>
            <a:off x="822960" y="2990088"/>
            <a:ext cx="10332720" cy="777240"/>
          </a:xfrm>
          <a:prstGeom prst="rect">
            <a:avLst/>
          </a:prstGeom>
          <a:noFill/>
          <a:ln/>
        </p:spPr>
        <p:txBody>
          <a:bodyPr wrap="square"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Duo's, 30 minuten.</a:t>
            </a:r>
            <a:endParaRPr lang="en-US" sz="1900" dirty="0"/>
          </a:p>
        </p:txBody>
      </p:sp>
      <p:sp>
        <p:nvSpPr>
          <p:cNvPr id="7" name="Text 5"/>
          <p:cNvSpPr/>
          <p:nvPr/>
        </p:nvSpPr>
        <p:spPr>
          <a:xfrm>
            <a:off x="822960" y="3648456"/>
            <a:ext cx="10332720" cy="777240"/>
          </a:xfrm>
          <a:prstGeom prst="rect">
            <a:avLst/>
          </a:prstGeom>
          <a:noFill/>
          <a:ln/>
        </p:spPr>
        <p:txBody>
          <a:bodyPr wrap="square" rtlCol="0" anchor="ctr"/>
          <a:lstStyle/>
          <a:p>
            <a:pPr indent="0" marL="0">
              <a:buNone/>
            </a:pPr>
            <a:r>
              <a:rPr lang="en-US" sz="1700" i="1" dirty="0">
                <a:solidFill>
                  <a:srgbClr val="6B7280"/>
                </a:solidFill>
                <a:latin typeface="Calibri" pitchFamily="34" charset="0"/>
                <a:ea typeface="Calibri" pitchFamily="34" charset="-122"/>
                <a:cs typeface="Calibri" pitchFamily="34" charset="-120"/>
              </a:rPr>
              <a:t>c) Stap 2 is de kern. e) Wat als de saga blijft hangen zonder te falen?</a:t>
            </a:r>
            <a:endParaRPr lang="en-US" sz="1700" dirty="0"/>
          </a:p>
        </p:txBody>
      </p:sp>
      <p:sp>
        <p:nvSpPr>
          <p:cNvPr id="8" name="Text 6"/>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9" name="Text 7"/>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rtlCol="0" anchor="ctr"/>
          <a:lstStyle/>
          <a:p>
            <a:pPr indent="0" marL="0">
              <a:buNone/>
            </a:pPr>
            <a:r>
              <a:rPr lang="en-US" sz="3000" b="1" dirty="0">
                <a:solidFill>
                  <a:srgbClr val="1F3A5F"/>
                </a:solidFill>
                <a:latin typeface="Calibri" pitchFamily="34" charset="0"/>
                <a:ea typeface="Calibri" pitchFamily="34" charset="-122"/>
                <a:cs typeface="Calibri" pitchFamily="34" charset="-120"/>
              </a:rPr>
              <a:t>Koppelvlakversiebeheer</a:t>
            </a:r>
            <a:endParaRPr lang="en-US" sz="3000" dirty="0"/>
          </a:p>
        </p:txBody>
      </p:sp>
      <p:sp>
        <p:nvSpPr>
          <p:cNvPr id="3" name="Text 1"/>
          <p:cNvSpPr/>
          <p:nvPr/>
        </p:nvSpPr>
        <p:spPr>
          <a:xfrm>
            <a:off x="685800" y="1600200"/>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4" name="Text 2"/>
          <p:cNvSpPr/>
          <p:nvPr/>
        </p:nvSpPr>
        <p:spPr>
          <a:xfrm>
            <a:off x="1005840" y="1600200"/>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Toevoegen mag; verwijderen en hernoemen niet</a:t>
            </a:r>
            <a:endParaRPr lang="en-US" sz="1800" dirty="0"/>
          </a:p>
        </p:txBody>
      </p:sp>
      <p:sp>
        <p:nvSpPr>
          <p:cNvPr id="5" name="Text 3"/>
          <p:cNvSpPr/>
          <p:nvPr/>
        </p:nvSpPr>
        <p:spPr>
          <a:xfrm>
            <a:off x="685800" y="2496312"/>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05840" y="2496312"/>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Breken vereist twee versies naast elkaar, met een afgesproken vervaldatum</a:t>
            </a:r>
            <a:endParaRPr lang="en-US" sz="1800" dirty="0"/>
          </a:p>
        </p:txBody>
      </p:sp>
      <p:sp>
        <p:nvSpPr>
          <p:cNvPr id="7" name="Text 5"/>
          <p:cNvSpPr/>
          <p:nvPr/>
        </p:nvSpPr>
        <p:spPr>
          <a:xfrm>
            <a:off x="685800" y="3392424"/>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005840" y="3392424"/>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De ontvanger negeert wat hij niet kent</a:t>
            </a:r>
            <a:endParaRPr lang="en-US" sz="1800" dirty="0"/>
          </a:p>
        </p:txBody>
      </p:sp>
      <p:sp>
        <p:nvSpPr>
          <p:cNvPr id="9" name="Text 7"/>
          <p:cNvSpPr/>
          <p:nvPr/>
        </p:nvSpPr>
        <p:spPr>
          <a:xfrm>
            <a:off x="685800" y="4288536"/>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005840" y="4288536"/>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Elf werkgeverssystemen hebben zich aangepast. Twee daarvan al vier jaar niet</a:t>
            </a:r>
            <a:endParaRPr lang="en-US" sz="1800" dirty="0"/>
          </a:p>
        </p:txBody>
      </p:sp>
      <p:sp>
        <p:nvSpPr>
          <p:cNvPr id="11" name="Text 9"/>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12" name="Text 10"/>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14400" y="233172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Uw migratietermijn wordt bepaald door de traagste afnemer.</a:t>
            </a:r>
            <a:endParaRPr lang="en-US" sz="3000" dirty="0"/>
          </a:p>
        </p:txBody>
      </p:sp>
      <p:sp>
        <p:nvSpPr>
          <p:cNvPr id="3" name="Text 1"/>
          <p:cNvSpPr/>
          <p:nvPr/>
        </p:nvSpPr>
        <p:spPr>
          <a:xfrm>
            <a:off x="914400" y="32004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Niet door uw planning.</a:t>
            </a:r>
            <a:endParaRPr lang="en-US" sz="2000" dirty="0"/>
          </a:p>
        </p:txBody>
      </p:sp>
      <p:sp>
        <p:nvSpPr>
          <p:cNvPr id="4" name="Text 2"/>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283F"/>
        </a:solidFill>
      </p:bgPr>
    </p:bg>
    <p:spTree>
      <p:nvGrpSpPr>
        <p:cNvPr id="1" name=""/>
        <p:cNvGrpSpPr/>
        <p:nvPr/>
      </p:nvGrpSpPr>
      <p:grpSpPr>
        <a:xfrm>
          <a:off x="0" y="0"/>
          <a:ext cx="0" cy="0"/>
          <a:chOff x="0" y="0"/>
          <a:chExt cx="0" cy="0"/>
        </a:xfrm>
      </p:grpSpPr>
      <p:sp>
        <p:nvSpPr>
          <p:cNvPr id="2" name="Text 0"/>
          <p:cNvSpPr/>
          <p:nvPr/>
        </p:nvSpPr>
        <p:spPr>
          <a:xfrm>
            <a:off x="822960" y="2788920"/>
            <a:ext cx="10058400" cy="457200"/>
          </a:xfrm>
          <a:prstGeom prst="rect">
            <a:avLst/>
          </a:prstGeom>
          <a:noFill/>
          <a:ln/>
        </p:spPr>
        <p:txBody>
          <a:bodyPr wrap="square" rtlCol="0" anchor="ctr"/>
          <a:lstStyle/>
          <a:p>
            <a:pPr indent="0" marL="0">
              <a:buNone/>
            </a:pPr>
            <a:r>
              <a:rPr lang="en-US" sz="1400" b="1" spc="200" kern="0" dirty="0">
                <a:solidFill>
                  <a:srgbClr val="8FA6C2"/>
                </a:solidFill>
                <a:latin typeface="Calibri" pitchFamily="34" charset="0"/>
                <a:ea typeface="Calibri" pitchFamily="34" charset="-122"/>
                <a:cs typeface="Calibri" pitchFamily="34" charset="-120"/>
              </a:rPr>
              <a:t>Deel 13</a:t>
            </a:r>
            <a:endParaRPr lang="en-US" sz="1400" dirty="0"/>
          </a:p>
        </p:txBody>
      </p:sp>
      <p:sp>
        <p:nvSpPr>
          <p:cNvPr id="3" name="Text 1"/>
          <p:cNvSpPr/>
          <p:nvPr/>
        </p:nvSpPr>
        <p:spPr>
          <a:xfrm>
            <a:off x="777240" y="3154680"/>
            <a:ext cx="10515600" cy="146304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Hoe u splitst</a:t>
            </a:r>
            <a:endParaRPr lang="en-US" sz="3800" dirty="0"/>
          </a:p>
        </p:txBody>
      </p:sp>
      <p:sp>
        <p:nvSpPr>
          <p:cNvPr id="4" name="Text 2"/>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rtlCol="0" anchor="ctr"/>
          <a:lstStyle/>
          <a:p>
            <a:pPr indent="0" marL="0">
              <a:buNone/>
            </a:pPr>
            <a:r>
              <a:rPr lang="en-US" sz="3000" b="1" dirty="0">
                <a:solidFill>
                  <a:srgbClr val="1F3A5F"/>
                </a:solidFill>
                <a:latin typeface="Calibri" pitchFamily="34" charset="0"/>
                <a:ea typeface="Calibri" pitchFamily="34" charset="-122"/>
                <a:cs typeface="Calibri" pitchFamily="34" charset="-120"/>
              </a:rPr>
              <a:t>Strangler, in vijf stappen</a:t>
            </a:r>
            <a:endParaRPr lang="en-US" sz="3000" dirty="0"/>
          </a:p>
        </p:txBody>
      </p:sp>
      <p:sp>
        <p:nvSpPr>
          <p:cNvPr id="3" name="Text 1"/>
          <p:cNvSpPr/>
          <p:nvPr/>
        </p:nvSpPr>
        <p:spPr>
          <a:xfrm>
            <a:off x="685800" y="1600200"/>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4" name="Text 2"/>
          <p:cNvSpPr/>
          <p:nvPr/>
        </p:nvSpPr>
        <p:spPr>
          <a:xfrm>
            <a:off x="1005840" y="1600200"/>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1. Doorgeefpunt plaatsen</a:t>
            </a:r>
            <a:endParaRPr lang="en-US" sz="1800" dirty="0"/>
          </a:p>
        </p:txBody>
      </p:sp>
      <p:sp>
        <p:nvSpPr>
          <p:cNvPr id="5" name="Text 3"/>
          <p:cNvSpPr/>
          <p:nvPr/>
        </p:nvSpPr>
        <p:spPr>
          <a:xfrm>
            <a:off x="685800" y="2496312"/>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05840" y="2496312"/>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2. Nieuwe dienst ernaast bouwen</a:t>
            </a:r>
            <a:endParaRPr lang="en-US" sz="1800" dirty="0"/>
          </a:p>
        </p:txBody>
      </p:sp>
      <p:sp>
        <p:nvSpPr>
          <p:cNvPr id="7" name="Text 5"/>
          <p:cNvSpPr/>
          <p:nvPr/>
        </p:nvSpPr>
        <p:spPr>
          <a:xfrm>
            <a:off x="685800" y="3392424"/>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005840" y="3392424"/>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3. Verkeer geleidelijk verleggen</a:t>
            </a:r>
            <a:endParaRPr lang="en-US" sz="1800" dirty="0"/>
          </a:p>
        </p:txBody>
      </p:sp>
      <p:sp>
        <p:nvSpPr>
          <p:cNvPr id="9" name="Text 7"/>
          <p:cNvSpPr/>
          <p:nvPr/>
        </p:nvSpPr>
        <p:spPr>
          <a:xfrm>
            <a:off x="685800" y="4288536"/>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005840" y="4288536"/>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4. Meten</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 wordt de drijver aantoonbaar beter?</a:t>
            </a:r>
            <a:endParaRPr lang="en-US" sz="1800" dirty="0"/>
          </a:p>
        </p:txBody>
      </p:sp>
      <p:sp>
        <p:nvSpPr>
          <p:cNvPr id="11" name="Text 9"/>
          <p:cNvSpPr/>
          <p:nvPr/>
        </p:nvSpPr>
        <p:spPr>
          <a:xfrm>
            <a:off x="685800" y="5184648"/>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005840" y="5184648"/>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5. Oude module verwijderen</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 stap 4 en 5 worden overgeslagen; beide krijgen een eigenaar en een termijn</a:t>
            </a:r>
            <a:endParaRPr lang="en-US" sz="1800" dirty="0"/>
          </a:p>
        </p:txBody>
      </p:sp>
      <p:sp>
        <p:nvSpPr>
          <p:cNvPr id="13" name="Text 11"/>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14" name="Text 12"/>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14400" y="2331720"/>
            <a:ext cx="10332720" cy="1005840"/>
          </a:xfrm>
          <a:prstGeom prst="rect">
            <a:avLst/>
          </a:prstGeom>
          <a:noFill/>
          <a:ln/>
        </p:spPr>
        <p:txBody>
          <a:bodyPr wrap="square" rtlCol="0" anchor="ctr"/>
          <a:lstStyle/>
          <a:p>
            <a:pPr algn="l" indent="0" marL="0">
              <a:buNone/>
            </a:pPr>
            <a:r>
              <a:rPr lang="en-US" sz="3000" b="1" dirty="0">
                <a:solidFill>
                  <a:srgbClr val="1F3A5F"/>
                </a:solidFill>
                <a:latin typeface="Calibri" pitchFamily="34" charset="0"/>
                <a:ea typeface="Calibri" pitchFamily="34" charset="-122"/>
                <a:cs typeface="Calibri" pitchFamily="34" charset="-120"/>
              </a:rPr>
              <a:t>Valt de meting tegen, dan draait u terug.</a:t>
            </a:r>
            <a:endParaRPr lang="en-US" sz="3000" dirty="0"/>
          </a:p>
        </p:txBody>
      </p:sp>
      <p:sp>
        <p:nvSpPr>
          <p:cNvPr id="3" name="Text 1"/>
          <p:cNvSpPr/>
          <p:nvPr/>
        </p:nvSpPr>
        <p:spPr>
          <a:xfrm>
            <a:off x="914400" y="32004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Samenvoegen is goedkoper dan splitsen —</a:t>
            </a:r>
            <a:endParaRPr lang="en-US" sz="2000" dirty="0"/>
          </a:p>
        </p:txBody>
      </p:sp>
      <p:sp>
        <p:nvSpPr>
          <p:cNvPr id="4" name="Text 2"/>
          <p:cNvSpPr/>
          <p:nvPr/>
        </p:nvSpPr>
        <p:spPr>
          <a:xfrm>
            <a:off x="914400" y="3886200"/>
            <a:ext cx="10332720" cy="1005840"/>
          </a:xfrm>
          <a:prstGeom prst="rect">
            <a:avLst/>
          </a:prstGeom>
          <a:noFill/>
          <a:ln/>
        </p:spPr>
        <p:txBody>
          <a:bodyPr wrap="square" rtlCol="0" anchor="ctr"/>
          <a:lstStyle/>
          <a:p>
            <a:pPr algn="l" indent="0" marL="0">
              <a:buNone/>
            </a:pPr>
            <a:r>
              <a:rPr lang="en-US" sz="2000" dirty="0">
                <a:solidFill>
                  <a:srgbClr val="6B7280"/>
                </a:solidFill>
                <a:latin typeface="Calibri" pitchFamily="34" charset="0"/>
                <a:ea typeface="Calibri" pitchFamily="34" charset="-122"/>
                <a:cs typeface="Calibri" pitchFamily="34" charset="-120"/>
              </a:rPr>
              <a:t>en dat argument werkt beide kanten op.</a:t>
            </a:r>
            <a:endParaRPr lang="en-US" sz="2000" dirty="0"/>
          </a:p>
        </p:txBody>
      </p:sp>
      <p:sp>
        <p:nvSpPr>
          <p:cNvPr id="5" name="Text 3"/>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6" name="Text 4"/>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rtlCol="0" anchor="ctr"/>
          <a:lstStyle/>
          <a:p>
            <a:pPr indent="0" marL="0">
              <a:buNone/>
            </a:pPr>
            <a:r>
              <a:rPr lang="en-US" sz="3000" b="1" dirty="0">
                <a:solidFill>
                  <a:srgbClr val="1F3A5F"/>
                </a:solidFill>
                <a:latin typeface="Calibri" pitchFamily="34" charset="0"/>
                <a:ea typeface="Calibri" pitchFamily="34" charset="-122"/>
                <a:cs typeface="Calibri" pitchFamily="34" charset="-120"/>
              </a:rPr>
              <a:t>Wanneer u níét splitst · huiswerk</a:t>
            </a:r>
            <a:endParaRPr lang="en-US" sz="3000" dirty="0"/>
          </a:p>
        </p:txBody>
      </p:sp>
      <p:sp>
        <p:nvSpPr>
          <p:cNvPr id="3" name="Text 1"/>
          <p:cNvSpPr/>
          <p:nvPr/>
        </p:nvSpPr>
        <p:spPr>
          <a:xfrm>
            <a:off x="685800" y="1600200"/>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4" name="Text 2"/>
          <p:cNvSpPr/>
          <p:nvPr/>
        </p:nvSpPr>
        <p:spPr>
          <a:xfrm>
            <a:off x="1005840" y="1600200"/>
            <a:ext cx="10195560" cy="822960"/>
          </a:xfrm>
          <a:prstGeom prst="rect">
            <a:avLst/>
          </a:prstGeom>
          <a:noFill/>
          <a:ln/>
        </p:spPr>
        <p:txBody>
          <a:bodyPr wrap="square" rtlCol="0" anchor="t"/>
          <a:lstStyle/>
          <a:p>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Drijver tijdelijk · operatie kan het niet aan · grens loopt door een aggregaat · teams bewegen niet mee</a:t>
            </a:r>
            <a:endParaRPr lang="en-US" sz="1800" dirty="0"/>
          </a:p>
        </p:txBody>
      </p:sp>
      <p:sp>
        <p:nvSpPr>
          <p:cNvPr id="5" name="Text 3"/>
          <p:cNvSpPr/>
          <p:nvPr/>
        </p:nvSpPr>
        <p:spPr>
          <a:xfrm>
            <a:off x="685800" y="2496312"/>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05840" y="2496312"/>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13.8</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 hoeveel drijvers zijn er in úw systeem aanwezig, en hoeveel diensten hebt u?</a:t>
            </a:r>
            <a:endParaRPr lang="en-US" sz="1800" dirty="0"/>
          </a:p>
        </p:txBody>
      </p:sp>
      <p:sp>
        <p:nvSpPr>
          <p:cNvPr id="7" name="Text 5"/>
          <p:cNvSpPr/>
          <p:nvPr/>
        </p:nvSpPr>
        <p:spPr>
          <a:xfrm>
            <a:off x="685800" y="3392424"/>
            <a:ext cx="274320" cy="502920"/>
          </a:xfrm>
          <a:prstGeom prst="rect">
            <a:avLst/>
          </a:prstGeom>
          <a:noFill/>
          <a:ln/>
        </p:spPr>
        <p:txBody>
          <a:bodyPr wrap="square" rtlCol="0" anchor="t"/>
          <a:lstStyle/>
          <a:p>
            <a:pPr indent="0" marL="0">
              <a:buNone/>
            </a:pPr>
            <a:r>
              <a:rPr lang="en-US" sz="1800" dirty="0">
                <a:solidFill>
                  <a:srgbClr val="4A6789"/>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005840" y="3392424"/>
            <a:ext cx="10195560" cy="822960"/>
          </a:xfrm>
          <a:prstGeom prst="rect">
            <a:avLst/>
          </a:prstGeom>
          <a:noFill/>
          <a:ln/>
        </p:spPr>
        <p:txBody>
          <a:bodyPr wrap="square" rtlCol="0" anchor="t"/>
          <a:lstStyle/>
          <a:p>
            <a:pPr indent="0" marL="0">
              <a:spcAft>
                <a:spcPts val="1400"/>
              </a:spcAft>
              <a:buNone/>
            </a:pPr>
            <a:r>
              <a:rPr lang="en-US" sz="1800" b="1" dirty="0">
                <a:solidFill>
                  <a:srgbClr val="1F2937"/>
                </a:solidFill>
                <a:latin typeface="Calibri" pitchFamily="34" charset="0"/>
                <a:ea typeface="Calibri" pitchFamily="34" charset="-122"/>
                <a:cs typeface="Calibri" pitchFamily="34" charset="-120"/>
              </a:rPr>
              <a:t>Deel 14:</a:t>
            </a:r>
            <a:pPr indent="0" marL="0">
              <a:spcAft>
                <a:spcPts val="1400"/>
              </a:spcAft>
              <a:buNone/>
            </a:pPr>
            <a:r>
              <a:rPr lang="en-US" sz="1800" dirty="0">
                <a:solidFill>
                  <a:srgbClr val="1F2937"/>
                </a:solidFill>
                <a:latin typeface="Calibri" pitchFamily="34" charset="0"/>
                <a:ea typeface="Calibri" pitchFamily="34" charset="-122"/>
                <a:cs typeface="Calibri" pitchFamily="34" charset="-120"/>
              </a:rPr>
              <a:t> event-driven architectuur, event sourcing en CQRS</a:t>
            </a:r>
            <a:endParaRPr lang="en-US" sz="1800" dirty="0"/>
          </a:p>
        </p:txBody>
      </p:sp>
      <p:sp>
        <p:nvSpPr>
          <p:cNvPr id="9" name="Text 7"/>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Ductus B.V.  ·  Softwarearchitectuur  ·  Niveau 2, deel 13</a:t>
            </a:r>
            <a:endParaRPr lang="en-US" sz="900" dirty="0"/>
          </a:p>
        </p:txBody>
      </p:sp>
      <p:sp>
        <p:nvSpPr>
          <p:cNvPr id="10" name="Text 8"/>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2026-08-17T14:53:36Z</dcterms:created>
  <dcterms:modified xsi:type="dcterms:W3CDTF">2026-08-17T14:53:36Z</dcterms:modified>
</cp:coreProperties>
</file>